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4"/>
  </p:notesMasterIdLst>
  <p:sldIdLst>
    <p:sldId id="256" r:id="rId2"/>
    <p:sldId id="275" r:id="rId3"/>
    <p:sldId id="378" r:id="rId4"/>
    <p:sldId id="274" r:id="rId5"/>
    <p:sldId id="372" r:id="rId6"/>
    <p:sldId id="375" r:id="rId7"/>
    <p:sldId id="374" r:id="rId8"/>
    <p:sldId id="381" r:id="rId9"/>
    <p:sldId id="379" r:id="rId10"/>
    <p:sldId id="258" r:id="rId11"/>
    <p:sldId id="365" r:id="rId12"/>
    <p:sldId id="257" r:id="rId13"/>
    <p:sldId id="309" r:id="rId14"/>
    <p:sldId id="310" r:id="rId15"/>
    <p:sldId id="259" r:id="rId16"/>
    <p:sldId id="312" r:id="rId17"/>
    <p:sldId id="311" r:id="rId18"/>
    <p:sldId id="266" r:id="rId19"/>
    <p:sldId id="313" r:id="rId20"/>
    <p:sldId id="265" r:id="rId21"/>
    <p:sldId id="314" r:id="rId22"/>
    <p:sldId id="260" r:id="rId23"/>
    <p:sldId id="380" r:id="rId24"/>
    <p:sldId id="368" r:id="rId25"/>
    <p:sldId id="369" r:id="rId26"/>
    <p:sldId id="267" r:id="rId27"/>
    <p:sldId id="268" r:id="rId28"/>
    <p:sldId id="308" r:id="rId29"/>
    <p:sldId id="270" r:id="rId30"/>
    <p:sldId id="354" r:id="rId31"/>
    <p:sldId id="262" r:id="rId32"/>
    <p:sldId id="277" r:id="rId33"/>
    <p:sldId id="263" r:id="rId34"/>
    <p:sldId id="264" r:id="rId35"/>
    <p:sldId id="307" r:id="rId36"/>
    <p:sldId id="385" r:id="rId37"/>
    <p:sldId id="276" r:id="rId38"/>
    <p:sldId id="315" r:id="rId39"/>
    <p:sldId id="298" r:id="rId40"/>
    <p:sldId id="317" r:id="rId41"/>
    <p:sldId id="271" r:id="rId42"/>
    <p:sldId id="355" r:id="rId43"/>
    <p:sldId id="320" r:id="rId44"/>
    <p:sldId id="319" r:id="rId45"/>
    <p:sldId id="273" r:id="rId46"/>
    <p:sldId id="382" r:id="rId47"/>
    <p:sldId id="278" r:id="rId48"/>
    <p:sldId id="280" r:id="rId49"/>
    <p:sldId id="282" r:id="rId50"/>
    <p:sldId id="283" r:id="rId51"/>
    <p:sldId id="350" r:id="rId52"/>
    <p:sldId id="284" r:id="rId53"/>
    <p:sldId id="351" r:id="rId54"/>
    <p:sldId id="371" r:id="rId55"/>
    <p:sldId id="386" r:id="rId56"/>
    <p:sldId id="383" r:id="rId57"/>
    <p:sldId id="288" r:id="rId58"/>
    <p:sldId id="331" r:id="rId59"/>
    <p:sldId id="333" r:id="rId60"/>
    <p:sldId id="334" r:id="rId61"/>
    <p:sldId id="336" r:id="rId62"/>
    <p:sldId id="337" r:id="rId63"/>
    <p:sldId id="338" r:id="rId64"/>
    <p:sldId id="328" r:id="rId65"/>
    <p:sldId id="335" r:id="rId66"/>
    <p:sldId id="359" r:id="rId67"/>
    <p:sldId id="384" r:id="rId68"/>
    <p:sldId id="293" r:id="rId69"/>
    <p:sldId id="339" r:id="rId70"/>
    <p:sldId id="329" r:id="rId71"/>
    <p:sldId id="340" r:id="rId72"/>
    <p:sldId id="348" r:id="rId73"/>
    <p:sldId id="341" r:id="rId74"/>
    <p:sldId id="349" r:id="rId75"/>
    <p:sldId id="342" r:id="rId76"/>
    <p:sldId id="343" r:id="rId77"/>
    <p:sldId id="323" r:id="rId78"/>
    <p:sldId id="344" r:id="rId79"/>
    <p:sldId id="345" r:id="rId80"/>
    <p:sldId id="346" r:id="rId81"/>
    <p:sldId id="361" r:id="rId82"/>
    <p:sldId id="360" r:id="rId8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93425"/>
  </p:normalViewPr>
  <p:slideViewPr>
    <p:cSldViewPr snapToGrid="0">
      <p:cViewPr varScale="1">
        <p:scale>
          <a:sx n="109" d="100"/>
          <a:sy n="109" d="100"/>
        </p:scale>
        <p:origin x="224" y="392"/>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AEDDD5-F691-1643-86ED-D60FE9249DFF}" type="datetimeFigureOut">
              <a:rPr lang="en-US" smtClean="0"/>
              <a:t>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C554C5-355F-8B41-88A8-1E9BA38ADCFF}" type="slidenum">
              <a:rPr lang="en-US" smtClean="0"/>
              <a:t>‹#›</a:t>
            </a:fld>
            <a:endParaRPr lang="en-US"/>
          </a:p>
        </p:txBody>
      </p:sp>
    </p:spTree>
    <p:extLst>
      <p:ext uri="{BB962C8B-B14F-4D97-AF65-F5344CB8AC3E}">
        <p14:creationId xmlns:p14="http://schemas.microsoft.com/office/powerpoint/2010/main" val="27885513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1</a:t>
            </a:fld>
            <a:endParaRPr lang="en-US"/>
          </a:p>
        </p:txBody>
      </p:sp>
    </p:spTree>
    <p:extLst>
      <p:ext uri="{BB962C8B-B14F-4D97-AF65-F5344CB8AC3E}">
        <p14:creationId xmlns:p14="http://schemas.microsoft.com/office/powerpoint/2010/main" val="2543484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2</a:t>
            </a:fld>
            <a:endParaRPr lang="en-US"/>
          </a:p>
        </p:txBody>
      </p:sp>
    </p:spTree>
    <p:extLst>
      <p:ext uri="{BB962C8B-B14F-4D97-AF65-F5344CB8AC3E}">
        <p14:creationId xmlns:p14="http://schemas.microsoft.com/office/powerpoint/2010/main" val="2888122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4</a:t>
            </a:fld>
            <a:endParaRPr lang="en-US"/>
          </a:p>
        </p:txBody>
      </p:sp>
    </p:spTree>
    <p:extLst>
      <p:ext uri="{BB962C8B-B14F-4D97-AF65-F5344CB8AC3E}">
        <p14:creationId xmlns:p14="http://schemas.microsoft.com/office/powerpoint/2010/main" val="6300052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76B92-4AE8-7681-BD89-A97ED26A37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7D1F58-94D9-1014-138A-B10BA41FAA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6315B7-4F5C-E7E1-FAB4-720C12C9709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7BD661A8-DD41-A1C9-88F5-B433E8E610A6}"/>
              </a:ext>
            </a:extLst>
          </p:cNvPr>
          <p:cNvSpPr>
            <a:spLocks noGrp="1"/>
          </p:cNvSpPr>
          <p:nvPr>
            <p:ph type="sldNum" sz="quarter" idx="5"/>
          </p:nvPr>
        </p:nvSpPr>
        <p:spPr/>
        <p:txBody>
          <a:bodyPr/>
          <a:lstStyle/>
          <a:p>
            <a:fld id="{EAC554C5-355F-8B41-88A8-1E9BA38ADCFF}" type="slidenum">
              <a:rPr lang="en-US" smtClean="0"/>
              <a:t>8</a:t>
            </a:fld>
            <a:endParaRPr lang="en-US"/>
          </a:p>
        </p:txBody>
      </p:sp>
    </p:spTree>
    <p:extLst>
      <p:ext uri="{BB962C8B-B14F-4D97-AF65-F5344CB8AC3E}">
        <p14:creationId xmlns:p14="http://schemas.microsoft.com/office/powerpoint/2010/main" val="24523392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10</a:t>
            </a:fld>
            <a:endParaRPr lang="en-US"/>
          </a:p>
        </p:txBody>
      </p:sp>
    </p:spTree>
    <p:extLst>
      <p:ext uri="{BB962C8B-B14F-4D97-AF65-F5344CB8AC3E}">
        <p14:creationId xmlns:p14="http://schemas.microsoft.com/office/powerpoint/2010/main" val="39345780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11</a:t>
            </a:fld>
            <a:endParaRPr lang="en-US"/>
          </a:p>
        </p:txBody>
      </p:sp>
    </p:spTree>
    <p:extLst>
      <p:ext uri="{BB962C8B-B14F-4D97-AF65-F5344CB8AC3E}">
        <p14:creationId xmlns:p14="http://schemas.microsoft.com/office/powerpoint/2010/main" val="38226971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12</a:t>
            </a:fld>
            <a:endParaRPr lang="en-US"/>
          </a:p>
        </p:txBody>
      </p:sp>
    </p:spTree>
    <p:extLst>
      <p:ext uri="{BB962C8B-B14F-4D97-AF65-F5344CB8AC3E}">
        <p14:creationId xmlns:p14="http://schemas.microsoft.com/office/powerpoint/2010/main" val="26892034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13</a:t>
            </a:fld>
            <a:endParaRPr lang="en-US"/>
          </a:p>
        </p:txBody>
      </p:sp>
    </p:spTree>
    <p:extLst>
      <p:ext uri="{BB962C8B-B14F-4D97-AF65-F5344CB8AC3E}">
        <p14:creationId xmlns:p14="http://schemas.microsoft.com/office/powerpoint/2010/main" val="14673393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14</a:t>
            </a:fld>
            <a:endParaRPr lang="en-US"/>
          </a:p>
        </p:txBody>
      </p:sp>
    </p:spTree>
    <p:extLst>
      <p:ext uri="{BB962C8B-B14F-4D97-AF65-F5344CB8AC3E}">
        <p14:creationId xmlns:p14="http://schemas.microsoft.com/office/powerpoint/2010/main" val="3732966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15</a:t>
            </a:fld>
            <a:endParaRPr lang="en-US"/>
          </a:p>
        </p:txBody>
      </p:sp>
    </p:spTree>
    <p:extLst>
      <p:ext uri="{BB962C8B-B14F-4D97-AF65-F5344CB8AC3E}">
        <p14:creationId xmlns:p14="http://schemas.microsoft.com/office/powerpoint/2010/main" val="29570478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16</a:t>
            </a:fld>
            <a:endParaRPr lang="en-US"/>
          </a:p>
        </p:txBody>
      </p:sp>
    </p:spTree>
    <p:extLst>
      <p:ext uri="{BB962C8B-B14F-4D97-AF65-F5344CB8AC3E}">
        <p14:creationId xmlns:p14="http://schemas.microsoft.com/office/powerpoint/2010/main" val="36073699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17</a:t>
            </a:fld>
            <a:endParaRPr lang="en-US"/>
          </a:p>
        </p:txBody>
      </p:sp>
    </p:spTree>
    <p:extLst>
      <p:ext uri="{BB962C8B-B14F-4D97-AF65-F5344CB8AC3E}">
        <p14:creationId xmlns:p14="http://schemas.microsoft.com/office/powerpoint/2010/main" val="14339084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18</a:t>
            </a:fld>
            <a:endParaRPr lang="en-US"/>
          </a:p>
        </p:txBody>
      </p:sp>
    </p:spTree>
    <p:extLst>
      <p:ext uri="{BB962C8B-B14F-4D97-AF65-F5344CB8AC3E}">
        <p14:creationId xmlns:p14="http://schemas.microsoft.com/office/powerpoint/2010/main" val="9225775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19</a:t>
            </a:fld>
            <a:endParaRPr lang="en-US"/>
          </a:p>
        </p:txBody>
      </p:sp>
    </p:spTree>
    <p:extLst>
      <p:ext uri="{BB962C8B-B14F-4D97-AF65-F5344CB8AC3E}">
        <p14:creationId xmlns:p14="http://schemas.microsoft.com/office/powerpoint/2010/main" val="24131885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20</a:t>
            </a:fld>
            <a:endParaRPr lang="en-US"/>
          </a:p>
        </p:txBody>
      </p:sp>
    </p:spTree>
    <p:extLst>
      <p:ext uri="{BB962C8B-B14F-4D97-AF65-F5344CB8AC3E}">
        <p14:creationId xmlns:p14="http://schemas.microsoft.com/office/powerpoint/2010/main" val="25239718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21</a:t>
            </a:fld>
            <a:endParaRPr lang="en-US"/>
          </a:p>
        </p:txBody>
      </p:sp>
    </p:spTree>
    <p:extLst>
      <p:ext uri="{BB962C8B-B14F-4D97-AF65-F5344CB8AC3E}">
        <p14:creationId xmlns:p14="http://schemas.microsoft.com/office/powerpoint/2010/main" val="6633371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22</a:t>
            </a:fld>
            <a:endParaRPr lang="en-US"/>
          </a:p>
        </p:txBody>
      </p:sp>
    </p:spTree>
    <p:extLst>
      <p:ext uri="{BB962C8B-B14F-4D97-AF65-F5344CB8AC3E}">
        <p14:creationId xmlns:p14="http://schemas.microsoft.com/office/powerpoint/2010/main" val="13900244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24</a:t>
            </a:fld>
            <a:endParaRPr lang="en-US"/>
          </a:p>
        </p:txBody>
      </p:sp>
    </p:spTree>
    <p:extLst>
      <p:ext uri="{BB962C8B-B14F-4D97-AF65-F5344CB8AC3E}">
        <p14:creationId xmlns:p14="http://schemas.microsoft.com/office/powerpoint/2010/main" val="8486711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25</a:t>
            </a:fld>
            <a:endParaRPr lang="en-US"/>
          </a:p>
        </p:txBody>
      </p:sp>
    </p:spTree>
    <p:extLst>
      <p:ext uri="{BB962C8B-B14F-4D97-AF65-F5344CB8AC3E}">
        <p14:creationId xmlns:p14="http://schemas.microsoft.com/office/powerpoint/2010/main" val="12350097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26</a:t>
            </a:fld>
            <a:endParaRPr lang="en-US"/>
          </a:p>
        </p:txBody>
      </p:sp>
    </p:spTree>
    <p:extLst>
      <p:ext uri="{BB962C8B-B14F-4D97-AF65-F5344CB8AC3E}">
        <p14:creationId xmlns:p14="http://schemas.microsoft.com/office/powerpoint/2010/main" val="22400684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27</a:t>
            </a:fld>
            <a:endParaRPr lang="en-US"/>
          </a:p>
        </p:txBody>
      </p:sp>
    </p:spTree>
    <p:extLst>
      <p:ext uri="{BB962C8B-B14F-4D97-AF65-F5344CB8AC3E}">
        <p14:creationId xmlns:p14="http://schemas.microsoft.com/office/powerpoint/2010/main" val="4456748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28</a:t>
            </a:fld>
            <a:endParaRPr lang="en-US"/>
          </a:p>
        </p:txBody>
      </p:sp>
    </p:spTree>
    <p:extLst>
      <p:ext uri="{BB962C8B-B14F-4D97-AF65-F5344CB8AC3E}">
        <p14:creationId xmlns:p14="http://schemas.microsoft.com/office/powerpoint/2010/main" val="20991795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29</a:t>
            </a:fld>
            <a:endParaRPr lang="en-US"/>
          </a:p>
        </p:txBody>
      </p:sp>
    </p:spTree>
    <p:extLst>
      <p:ext uri="{BB962C8B-B14F-4D97-AF65-F5344CB8AC3E}">
        <p14:creationId xmlns:p14="http://schemas.microsoft.com/office/powerpoint/2010/main" val="36673343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30</a:t>
            </a:fld>
            <a:endParaRPr lang="en-US"/>
          </a:p>
        </p:txBody>
      </p:sp>
    </p:spTree>
    <p:extLst>
      <p:ext uri="{BB962C8B-B14F-4D97-AF65-F5344CB8AC3E}">
        <p14:creationId xmlns:p14="http://schemas.microsoft.com/office/powerpoint/2010/main" val="21408881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31</a:t>
            </a:fld>
            <a:endParaRPr lang="en-US"/>
          </a:p>
        </p:txBody>
      </p:sp>
    </p:spTree>
    <p:extLst>
      <p:ext uri="{BB962C8B-B14F-4D97-AF65-F5344CB8AC3E}">
        <p14:creationId xmlns:p14="http://schemas.microsoft.com/office/powerpoint/2010/main" val="26403169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32</a:t>
            </a:fld>
            <a:endParaRPr lang="en-US"/>
          </a:p>
        </p:txBody>
      </p:sp>
    </p:spTree>
    <p:extLst>
      <p:ext uri="{BB962C8B-B14F-4D97-AF65-F5344CB8AC3E}">
        <p14:creationId xmlns:p14="http://schemas.microsoft.com/office/powerpoint/2010/main" val="284876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33</a:t>
            </a:fld>
            <a:endParaRPr lang="en-US"/>
          </a:p>
        </p:txBody>
      </p:sp>
    </p:spTree>
    <p:extLst>
      <p:ext uri="{BB962C8B-B14F-4D97-AF65-F5344CB8AC3E}">
        <p14:creationId xmlns:p14="http://schemas.microsoft.com/office/powerpoint/2010/main" val="11152706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34</a:t>
            </a:fld>
            <a:endParaRPr lang="en-US"/>
          </a:p>
        </p:txBody>
      </p:sp>
    </p:spTree>
    <p:extLst>
      <p:ext uri="{BB962C8B-B14F-4D97-AF65-F5344CB8AC3E}">
        <p14:creationId xmlns:p14="http://schemas.microsoft.com/office/powerpoint/2010/main" val="242597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35</a:t>
            </a:fld>
            <a:endParaRPr lang="en-US"/>
          </a:p>
        </p:txBody>
      </p:sp>
    </p:spTree>
    <p:extLst>
      <p:ext uri="{BB962C8B-B14F-4D97-AF65-F5344CB8AC3E}">
        <p14:creationId xmlns:p14="http://schemas.microsoft.com/office/powerpoint/2010/main" val="36620819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37</a:t>
            </a:fld>
            <a:endParaRPr lang="en-US"/>
          </a:p>
        </p:txBody>
      </p:sp>
    </p:spTree>
    <p:extLst>
      <p:ext uri="{BB962C8B-B14F-4D97-AF65-F5344CB8AC3E}">
        <p14:creationId xmlns:p14="http://schemas.microsoft.com/office/powerpoint/2010/main" val="40245436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38</a:t>
            </a:fld>
            <a:endParaRPr lang="en-US"/>
          </a:p>
        </p:txBody>
      </p:sp>
    </p:spTree>
    <p:extLst>
      <p:ext uri="{BB962C8B-B14F-4D97-AF65-F5344CB8AC3E}">
        <p14:creationId xmlns:p14="http://schemas.microsoft.com/office/powerpoint/2010/main" val="18436379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39</a:t>
            </a:fld>
            <a:endParaRPr lang="en-US"/>
          </a:p>
        </p:txBody>
      </p:sp>
    </p:spTree>
    <p:extLst>
      <p:ext uri="{BB962C8B-B14F-4D97-AF65-F5344CB8AC3E}">
        <p14:creationId xmlns:p14="http://schemas.microsoft.com/office/powerpoint/2010/main" val="40398576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40</a:t>
            </a:fld>
            <a:endParaRPr lang="en-US"/>
          </a:p>
        </p:txBody>
      </p:sp>
    </p:spTree>
    <p:extLst>
      <p:ext uri="{BB962C8B-B14F-4D97-AF65-F5344CB8AC3E}">
        <p14:creationId xmlns:p14="http://schemas.microsoft.com/office/powerpoint/2010/main" val="402021866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41</a:t>
            </a:fld>
            <a:endParaRPr lang="en-US"/>
          </a:p>
        </p:txBody>
      </p:sp>
    </p:spTree>
    <p:extLst>
      <p:ext uri="{BB962C8B-B14F-4D97-AF65-F5344CB8AC3E}">
        <p14:creationId xmlns:p14="http://schemas.microsoft.com/office/powerpoint/2010/main" val="341251333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42</a:t>
            </a:fld>
            <a:endParaRPr lang="en-US"/>
          </a:p>
        </p:txBody>
      </p:sp>
    </p:spTree>
    <p:extLst>
      <p:ext uri="{BB962C8B-B14F-4D97-AF65-F5344CB8AC3E}">
        <p14:creationId xmlns:p14="http://schemas.microsoft.com/office/powerpoint/2010/main" val="160170253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43</a:t>
            </a:fld>
            <a:endParaRPr lang="en-US"/>
          </a:p>
        </p:txBody>
      </p:sp>
    </p:spTree>
    <p:extLst>
      <p:ext uri="{BB962C8B-B14F-4D97-AF65-F5344CB8AC3E}">
        <p14:creationId xmlns:p14="http://schemas.microsoft.com/office/powerpoint/2010/main" val="413553436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44</a:t>
            </a:fld>
            <a:endParaRPr lang="en-US"/>
          </a:p>
        </p:txBody>
      </p:sp>
    </p:spTree>
    <p:extLst>
      <p:ext uri="{BB962C8B-B14F-4D97-AF65-F5344CB8AC3E}">
        <p14:creationId xmlns:p14="http://schemas.microsoft.com/office/powerpoint/2010/main" val="225270921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45</a:t>
            </a:fld>
            <a:endParaRPr lang="en-US"/>
          </a:p>
        </p:txBody>
      </p:sp>
    </p:spTree>
    <p:extLst>
      <p:ext uri="{BB962C8B-B14F-4D97-AF65-F5344CB8AC3E}">
        <p14:creationId xmlns:p14="http://schemas.microsoft.com/office/powerpoint/2010/main" val="419627611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47</a:t>
            </a:fld>
            <a:endParaRPr lang="en-US"/>
          </a:p>
        </p:txBody>
      </p:sp>
    </p:spTree>
    <p:extLst>
      <p:ext uri="{BB962C8B-B14F-4D97-AF65-F5344CB8AC3E}">
        <p14:creationId xmlns:p14="http://schemas.microsoft.com/office/powerpoint/2010/main" val="120272586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48</a:t>
            </a:fld>
            <a:endParaRPr lang="en-US"/>
          </a:p>
        </p:txBody>
      </p:sp>
    </p:spTree>
    <p:extLst>
      <p:ext uri="{BB962C8B-B14F-4D97-AF65-F5344CB8AC3E}">
        <p14:creationId xmlns:p14="http://schemas.microsoft.com/office/powerpoint/2010/main" val="122608977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49</a:t>
            </a:fld>
            <a:endParaRPr lang="en-US"/>
          </a:p>
        </p:txBody>
      </p:sp>
    </p:spTree>
    <p:extLst>
      <p:ext uri="{BB962C8B-B14F-4D97-AF65-F5344CB8AC3E}">
        <p14:creationId xmlns:p14="http://schemas.microsoft.com/office/powerpoint/2010/main" val="269102374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50</a:t>
            </a:fld>
            <a:endParaRPr lang="en-US"/>
          </a:p>
        </p:txBody>
      </p:sp>
    </p:spTree>
    <p:extLst>
      <p:ext uri="{BB962C8B-B14F-4D97-AF65-F5344CB8AC3E}">
        <p14:creationId xmlns:p14="http://schemas.microsoft.com/office/powerpoint/2010/main" val="171104436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51</a:t>
            </a:fld>
            <a:endParaRPr lang="en-US"/>
          </a:p>
        </p:txBody>
      </p:sp>
    </p:spTree>
    <p:extLst>
      <p:ext uri="{BB962C8B-B14F-4D97-AF65-F5344CB8AC3E}">
        <p14:creationId xmlns:p14="http://schemas.microsoft.com/office/powerpoint/2010/main" val="14535946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52</a:t>
            </a:fld>
            <a:endParaRPr lang="en-US"/>
          </a:p>
        </p:txBody>
      </p:sp>
    </p:spTree>
    <p:extLst>
      <p:ext uri="{BB962C8B-B14F-4D97-AF65-F5344CB8AC3E}">
        <p14:creationId xmlns:p14="http://schemas.microsoft.com/office/powerpoint/2010/main" val="312149439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53</a:t>
            </a:fld>
            <a:endParaRPr lang="en-US"/>
          </a:p>
        </p:txBody>
      </p:sp>
    </p:spTree>
    <p:extLst>
      <p:ext uri="{BB962C8B-B14F-4D97-AF65-F5344CB8AC3E}">
        <p14:creationId xmlns:p14="http://schemas.microsoft.com/office/powerpoint/2010/main" val="170772489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54</a:t>
            </a:fld>
            <a:endParaRPr lang="en-US"/>
          </a:p>
        </p:txBody>
      </p:sp>
    </p:spTree>
    <p:extLst>
      <p:ext uri="{BB962C8B-B14F-4D97-AF65-F5344CB8AC3E}">
        <p14:creationId xmlns:p14="http://schemas.microsoft.com/office/powerpoint/2010/main" val="343534990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C193F-F9D3-2EA1-C77F-9561B0A353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A2B683-DD19-902F-E984-6AC2C9C37F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34E6F1-FA0F-3CFA-8C86-C82D09DEF60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3FAB33F0-419E-9DE1-A1ED-CC7C21FC713D}"/>
              </a:ext>
            </a:extLst>
          </p:cNvPr>
          <p:cNvSpPr>
            <a:spLocks noGrp="1"/>
          </p:cNvSpPr>
          <p:nvPr>
            <p:ph type="sldNum" sz="quarter" idx="5"/>
          </p:nvPr>
        </p:nvSpPr>
        <p:spPr/>
        <p:txBody>
          <a:bodyPr/>
          <a:lstStyle/>
          <a:p>
            <a:fld id="{EAC554C5-355F-8B41-88A8-1E9BA38ADCFF}" type="slidenum">
              <a:rPr lang="en-US" smtClean="0"/>
              <a:t>55</a:t>
            </a:fld>
            <a:endParaRPr lang="en-US"/>
          </a:p>
        </p:txBody>
      </p:sp>
    </p:spTree>
    <p:extLst>
      <p:ext uri="{BB962C8B-B14F-4D97-AF65-F5344CB8AC3E}">
        <p14:creationId xmlns:p14="http://schemas.microsoft.com/office/powerpoint/2010/main" val="256856656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64</a:t>
            </a:fld>
            <a:endParaRPr lang="en-US"/>
          </a:p>
        </p:txBody>
      </p:sp>
    </p:spTree>
    <p:extLst>
      <p:ext uri="{BB962C8B-B14F-4D97-AF65-F5344CB8AC3E}">
        <p14:creationId xmlns:p14="http://schemas.microsoft.com/office/powerpoint/2010/main" val="52335167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65</a:t>
            </a:fld>
            <a:endParaRPr lang="en-US"/>
          </a:p>
        </p:txBody>
      </p:sp>
    </p:spTree>
    <p:extLst>
      <p:ext uri="{BB962C8B-B14F-4D97-AF65-F5344CB8AC3E}">
        <p14:creationId xmlns:p14="http://schemas.microsoft.com/office/powerpoint/2010/main" val="166746781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70</a:t>
            </a:fld>
            <a:endParaRPr lang="en-US"/>
          </a:p>
        </p:txBody>
      </p:sp>
    </p:spTree>
    <p:extLst>
      <p:ext uri="{BB962C8B-B14F-4D97-AF65-F5344CB8AC3E}">
        <p14:creationId xmlns:p14="http://schemas.microsoft.com/office/powerpoint/2010/main" val="305912756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71</a:t>
            </a:fld>
            <a:endParaRPr lang="en-US"/>
          </a:p>
        </p:txBody>
      </p:sp>
    </p:spTree>
    <p:extLst>
      <p:ext uri="{BB962C8B-B14F-4D97-AF65-F5344CB8AC3E}">
        <p14:creationId xmlns:p14="http://schemas.microsoft.com/office/powerpoint/2010/main" val="413000379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72</a:t>
            </a:fld>
            <a:endParaRPr lang="en-US"/>
          </a:p>
        </p:txBody>
      </p:sp>
    </p:spTree>
    <p:extLst>
      <p:ext uri="{BB962C8B-B14F-4D97-AF65-F5344CB8AC3E}">
        <p14:creationId xmlns:p14="http://schemas.microsoft.com/office/powerpoint/2010/main" val="22092956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77</a:t>
            </a:fld>
            <a:endParaRPr lang="en-US"/>
          </a:p>
        </p:txBody>
      </p:sp>
    </p:spTree>
    <p:extLst>
      <p:ext uri="{BB962C8B-B14F-4D97-AF65-F5344CB8AC3E}">
        <p14:creationId xmlns:p14="http://schemas.microsoft.com/office/powerpoint/2010/main" val="95995127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78</a:t>
            </a:fld>
            <a:endParaRPr lang="en-US"/>
          </a:p>
        </p:txBody>
      </p:sp>
    </p:spTree>
    <p:extLst>
      <p:ext uri="{BB962C8B-B14F-4D97-AF65-F5344CB8AC3E}">
        <p14:creationId xmlns:p14="http://schemas.microsoft.com/office/powerpoint/2010/main" val="121987358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79</a:t>
            </a:fld>
            <a:endParaRPr lang="en-US"/>
          </a:p>
        </p:txBody>
      </p:sp>
    </p:spTree>
    <p:extLst>
      <p:ext uri="{BB962C8B-B14F-4D97-AF65-F5344CB8AC3E}">
        <p14:creationId xmlns:p14="http://schemas.microsoft.com/office/powerpoint/2010/main" val="108928531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80</a:t>
            </a:fld>
            <a:endParaRPr lang="en-US"/>
          </a:p>
        </p:txBody>
      </p:sp>
    </p:spTree>
    <p:extLst>
      <p:ext uri="{BB962C8B-B14F-4D97-AF65-F5344CB8AC3E}">
        <p14:creationId xmlns:p14="http://schemas.microsoft.com/office/powerpoint/2010/main" val="213217241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81</a:t>
            </a:fld>
            <a:endParaRPr lang="en-US"/>
          </a:p>
        </p:txBody>
      </p:sp>
    </p:spTree>
    <p:extLst>
      <p:ext uri="{BB962C8B-B14F-4D97-AF65-F5344CB8AC3E}">
        <p14:creationId xmlns:p14="http://schemas.microsoft.com/office/powerpoint/2010/main" val="57895994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C554C5-355F-8B41-88A8-1E9BA38ADCFF}" type="slidenum">
              <a:rPr lang="en-US" smtClean="0"/>
              <a:t>82</a:t>
            </a:fld>
            <a:endParaRPr lang="en-US"/>
          </a:p>
        </p:txBody>
      </p:sp>
    </p:spTree>
    <p:extLst>
      <p:ext uri="{BB962C8B-B14F-4D97-AF65-F5344CB8AC3E}">
        <p14:creationId xmlns:p14="http://schemas.microsoft.com/office/powerpoint/2010/main" val="12593052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jp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6599B-2560-F046-C6CC-EFCE1041948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759A34D0-868C-926B-AF13-716F1A4612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CE2918B4-283B-D671-3DA5-43346212178F}"/>
              </a:ext>
            </a:extLst>
          </p:cNvPr>
          <p:cNvSpPr>
            <a:spLocks noGrp="1"/>
          </p:cNvSpPr>
          <p:nvPr>
            <p:ph type="dt" sz="half" idx="10"/>
          </p:nvPr>
        </p:nvSpPr>
        <p:spPr/>
        <p:txBody>
          <a:bodyPr/>
          <a:lstStyle/>
          <a:p>
            <a:fld id="{DA4B255C-113F-9541-B7E4-3B487542E3D4}" type="datetimeFigureOut">
              <a:rPr lang="en-US" smtClean="0"/>
              <a:t>10/20/25</a:t>
            </a:fld>
            <a:endParaRPr lang="en-US"/>
          </a:p>
        </p:txBody>
      </p:sp>
      <p:sp>
        <p:nvSpPr>
          <p:cNvPr id="5" name="Footer Placeholder 4">
            <a:extLst>
              <a:ext uri="{FF2B5EF4-FFF2-40B4-BE49-F238E27FC236}">
                <a16:creationId xmlns:a16="http://schemas.microsoft.com/office/drawing/2014/main" id="{7DF110FC-D468-1509-3F17-45678607E8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9972A0-6789-8520-0C36-5DB4A6AB25F6}"/>
              </a:ext>
            </a:extLst>
          </p:cNvPr>
          <p:cNvSpPr>
            <a:spLocks noGrp="1"/>
          </p:cNvSpPr>
          <p:nvPr>
            <p:ph type="sldNum" sz="quarter" idx="12"/>
          </p:nvPr>
        </p:nvSpPr>
        <p:spPr/>
        <p:txBody>
          <a:bodyPr/>
          <a:lstStyle/>
          <a:p>
            <a:fld id="{DA1F770A-D1F2-C44A-870C-01382E69E672}" type="slidenum">
              <a:rPr lang="en-US" smtClean="0"/>
              <a:t>‹#›</a:t>
            </a:fld>
            <a:endParaRPr lang="en-US"/>
          </a:p>
        </p:txBody>
      </p:sp>
    </p:spTree>
    <p:extLst>
      <p:ext uri="{BB962C8B-B14F-4D97-AF65-F5344CB8AC3E}">
        <p14:creationId xmlns:p14="http://schemas.microsoft.com/office/powerpoint/2010/main" val="32712461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9C137-8A20-1D77-7598-87806702813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B86C386-2577-A7F4-52A4-3F564FF296AD}"/>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D8D8F17-357A-E746-01C7-07D8ED51E763}"/>
              </a:ext>
            </a:extLst>
          </p:cNvPr>
          <p:cNvSpPr>
            <a:spLocks noGrp="1"/>
          </p:cNvSpPr>
          <p:nvPr>
            <p:ph type="dt" sz="half" idx="10"/>
          </p:nvPr>
        </p:nvSpPr>
        <p:spPr/>
        <p:txBody>
          <a:bodyPr/>
          <a:lstStyle/>
          <a:p>
            <a:fld id="{DA4B255C-113F-9541-B7E4-3B487542E3D4}" type="datetimeFigureOut">
              <a:rPr lang="en-US" smtClean="0"/>
              <a:t>10/20/25</a:t>
            </a:fld>
            <a:endParaRPr lang="en-US"/>
          </a:p>
        </p:txBody>
      </p:sp>
      <p:sp>
        <p:nvSpPr>
          <p:cNvPr id="5" name="Footer Placeholder 4">
            <a:extLst>
              <a:ext uri="{FF2B5EF4-FFF2-40B4-BE49-F238E27FC236}">
                <a16:creationId xmlns:a16="http://schemas.microsoft.com/office/drawing/2014/main" id="{38E4DF45-01F9-2A2B-B707-67465CDF0C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093715-7649-1F97-4858-B36398E7A47F}"/>
              </a:ext>
            </a:extLst>
          </p:cNvPr>
          <p:cNvSpPr>
            <a:spLocks noGrp="1"/>
          </p:cNvSpPr>
          <p:nvPr>
            <p:ph type="sldNum" sz="quarter" idx="12"/>
          </p:nvPr>
        </p:nvSpPr>
        <p:spPr/>
        <p:txBody>
          <a:bodyPr/>
          <a:lstStyle/>
          <a:p>
            <a:fld id="{DA1F770A-D1F2-C44A-870C-01382E69E672}" type="slidenum">
              <a:rPr lang="en-US" smtClean="0"/>
              <a:t>‹#›</a:t>
            </a:fld>
            <a:endParaRPr lang="en-US"/>
          </a:p>
        </p:txBody>
      </p:sp>
    </p:spTree>
    <p:extLst>
      <p:ext uri="{BB962C8B-B14F-4D97-AF65-F5344CB8AC3E}">
        <p14:creationId xmlns:p14="http://schemas.microsoft.com/office/powerpoint/2010/main" val="667649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81CE4-0F51-9EC0-172F-27B7317812D6}"/>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95B4FE6-5A9F-21B0-D684-0C55BE62E06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0C8E143-E4A9-1DDD-7102-A7E1F1EBA290}"/>
              </a:ext>
            </a:extLst>
          </p:cNvPr>
          <p:cNvSpPr>
            <a:spLocks noGrp="1"/>
          </p:cNvSpPr>
          <p:nvPr>
            <p:ph type="dt" sz="half" idx="10"/>
          </p:nvPr>
        </p:nvSpPr>
        <p:spPr/>
        <p:txBody>
          <a:bodyPr/>
          <a:lstStyle/>
          <a:p>
            <a:fld id="{DA4B255C-113F-9541-B7E4-3B487542E3D4}" type="datetimeFigureOut">
              <a:rPr lang="en-US" smtClean="0"/>
              <a:t>10/20/25</a:t>
            </a:fld>
            <a:endParaRPr lang="en-US"/>
          </a:p>
        </p:txBody>
      </p:sp>
      <p:sp>
        <p:nvSpPr>
          <p:cNvPr id="5" name="Footer Placeholder 4">
            <a:extLst>
              <a:ext uri="{FF2B5EF4-FFF2-40B4-BE49-F238E27FC236}">
                <a16:creationId xmlns:a16="http://schemas.microsoft.com/office/drawing/2014/main" id="{25104B04-7B3B-20E9-EF4C-7325E3DACE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13BA73-92E2-22AE-2D28-28D132B9CCDA}"/>
              </a:ext>
            </a:extLst>
          </p:cNvPr>
          <p:cNvSpPr>
            <a:spLocks noGrp="1"/>
          </p:cNvSpPr>
          <p:nvPr>
            <p:ph type="sldNum" sz="quarter" idx="12"/>
          </p:nvPr>
        </p:nvSpPr>
        <p:spPr/>
        <p:txBody>
          <a:bodyPr/>
          <a:lstStyle/>
          <a:p>
            <a:fld id="{DA1F770A-D1F2-C44A-870C-01382E69E672}" type="slidenum">
              <a:rPr lang="en-US" smtClean="0"/>
              <a:t>‹#›</a:t>
            </a:fld>
            <a:endParaRPr lang="en-US"/>
          </a:p>
        </p:txBody>
      </p:sp>
    </p:spTree>
    <p:extLst>
      <p:ext uri="{BB962C8B-B14F-4D97-AF65-F5344CB8AC3E}">
        <p14:creationId xmlns:p14="http://schemas.microsoft.com/office/powerpoint/2010/main" val="34399456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44574-926F-9910-1EE4-82C8647F386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7FA83FCB-15E5-C7EA-5C63-4E5DD899BF84}"/>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0DAC4F5E-2EA2-4043-8F50-13EBF97CCEE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4599FC00-B9C9-4479-FA21-67B0852AC176}"/>
              </a:ext>
            </a:extLst>
          </p:cNvPr>
          <p:cNvSpPr>
            <a:spLocks noGrp="1"/>
          </p:cNvSpPr>
          <p:nvPr>
            <p:ph type="dt" sz="half" idx="10"/>
          </p:nvPr>
        </p:nvSpPr>
        <p:spPr/>
        <p:txBody>
          <a:bodyPr/>
          <a:lstStyle/>
          <a:p>
            <a:fld id="{DA4B255C-113F-9541-B7E4-3B487542E3D4}" type="datetimeFigureOut">
              <a:rPr lang="en-US" smtClean="0"/>
              <a:t>10/20/25</a:t>
            </a:fld>
            <a:endParaRPr lang="en-US"/>
          </a:p>
        </p:txBody>
      </p:sp>
      <p:sp>
        <p:nvSpPr>
          <p:cNvPr id="6" name="Footer Placeholder 5">
            <a:extLst>
              <a:ext uri="{FF2B5EF4-FFF2-40B4-BE49-F238E27FC236}">
                <a16:creationId xmlns:a16="http://schemas.microsoft.com/office/drawing/2014/main" id="{5107DA44-BB8B-59C4-4E2D-347EACFFF3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CA77F0-8663-C4B2-E6B5-9A52D5A8FF64}"/>
              </a:ext>
            </a:extLst>
          </p:cNvPr>
          <p:cNvSpPr>
            <a:spLocks noGrp="1"/>
          </p:cNvSpPr>
          <p:nvPr>
            <p:ph type="sldNum" sz="quarter" idx="12"/>
          </p:nvPr>
        </p:nvSpPr>
        <p:spPr/>
        <p:txBody>
          <a:bodyPr/>
          <a:lstStyle/>
          <a:p>
            <a:fld id="{DA1F770A-D1F2-C44A-870C-01382E69E672}" type="slidenum">
              <a:rPr lang="en-US" smtClean="0"/>
              <a:t>‹#›</a:t>
            </a:fld>
            <a:endParaRPr lang="en-US"/>
          </a:p>
        </p:txBody>
      </p:sp>
    </p:spTree>
    <p:extLst>
      <p:ext uri="{BB962C8B-B14F-4D97-AF65-F5344CB8AC3E}">
        <p14:creationId xmlns:p14="http://schemas.microsoft.com/office/powerpoint/2010/main" val="788668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07EC6-CBBE-5D61-F7E0-75A35F39300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9C0314A-116E-9523-3D88-6B16E832D05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1EEBB72-B160-0B9A-1F5E-F91D8ADEB8DB}"/>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278A31B8-C751-41B7-F6C7-CD95037AA5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735E3F5-7E5E-7716-79EF-F09E2DBC2D2B}"/>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1545E990-3353-206F-BF0E-44F57513B37C}"/>
              </a:ext>
            </a:extLst>
          </p:cNvPr>
          <p:cNvSpPr>
            <a:spLocks noGrp="1"/>
          </p:cNvSpPr>
          <p:nvPr>
            <p:ph type="dt" sz="half" idx="10"/>
          </p:nvPr>
        </p:nvSpPr>
        <p:spPr/>
        <p:txBody>
          <a:bodyPr/>
          <a:lstStyle/>
          <a:p>
            <a:fld id="{DA4B255C-113F-9541-B7E4-3B487542E3D4}" type="datetimeFigureOut">
              <a:rPr lang="en-US" smtClean="0"/>
              <a:t>10/20/25</a:t>
            </a:fld>
            <a:endParaRPr lang="en-US"/>
          </a:p>
        </p:txBody>
      </p:sp>
      <p:sp>
        <p:nvSpPr>
          <p:cNvPr id="8" name="Footer Placeholder 7">
            <a:extLst>
              <a:ext uri="{FF2B5EF4-FFF2-40B4-BE49-F238E27FC236}">
                <a16:creationId xmlns:a16="http://schemas.microsoft.com/office/drawing/2014/main" id="{E85EF83F-FDDD-DBFA-06B7-EC37D0B362E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70165C-DE34-E66D-5E36-A559C5520C03}"/>
              </a:ext>
            </a:extLst>
          </p:cNvPr>
          <p:cNvSpPr>
            <a:spLocks noGrp="1"/>
          </p:cNvSpPr>
          <p:nvPr>
            <p:ph type="sldNum" sz="quarter" idx="12"/>
          </p:nvPr>
        </p:nvSpPr>
        <p:spPr/>
        <p:txBody>
          <a:bodyPr/>
          <a:lstStyle/>
          <a:p>
            <a:fld id="{DA1F770A-D1F2-C44A-870C-01382E69E672}" type="slidenum">
              <a:rPr lang="en-US" smtClean="0"/>
              <a:t>‹#›</a:t>
            </a:fld>
            <a:endParaRPr lang="en-US"/>
          </a:p>
        </p:txBody>
      </p:sp>
    </p:spTree>
    <p:extLst>
      <p:ext uri="{BB962C8B-B14F-4D97-AF65-F5344CB8AC3E}">
        <p14:creationId xmlns:p14="http://schemas.microsoft.com/office/powerpoint/2010/main" val="42400425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AC86C-926C-3798-EF7D-4658CE4C4964}"/>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C4EDCD1-FEAA-B6D4-AB61-FEF40FCCCC14}"/>
              </a:ext>
            </a:extLst>
          </p:cNvPr>
          <p:cNvSpPr>
            <a:spLocks noGrp="1"/>
          </p:cNvSpPr>
          <p:nvPr>
            <p:ph type="dt" sz="half" idx="10"/>
          </p:nvPr>
        </p:nvSpPr>
        <p:spPr/>
        <p:txBody>
          <a:bodyPr/>
          <a:lstStyle/>
          <a:p>
            <a:fld id="{DA4B255C-113F-9541-B7E4-3B487542E3D4}" type="datetimeFigureOut">
              <a:rPr lang="en-US" smtClean="0"/>
              <a:t>10/20/25</a:t>
            </a:fld>
            <a:endParaRPr lang="en-US"/>
          </a:p>
        </p:txBody>
      </p:sp>
      <p:sp>
        <p:nvSpPr>
          <p:cNvPr id="4" name="Footer Placeholder 3">
            <a:extLst>
              <a:ext uri="{FF2B5EF4-FFF2-40B4-BE49-F238E27FC236}">
                <a16:creationId xmlns:a16="http://schemas.microsoft.com/office/drawing/2014/main" id="{D8AA9E4F-EFA4-1094-17A4-EA90475AFD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77D8B0D-C695-A5D8-9B3E-783F5CF21A2F}"/>
              </a:ext>
            </a:extLst>
          </p:cNvPr>
          <p:cNvSpPr>
            <a:spLocks noGrp="1"/>
          </p:cNvSpPr>
          <p:nvPr>
            <p:ph type="sldNum" sz="quarter" idx="12"/>
          </p:nvPr>
        </p:nvSpPr>
        <p:spPr/>
        <p:txBody>
          <a:bodyPr/>
          <a:lstStyle/>
          <a:p>
            <a:fld id="{DA1F770A-D1F2-C44A-870C-01382E69E672}" type="slidenum">
              <a:rPr lang="en-US" smtClean="0"/>
              <a:t>‹#›</a:t>
            </a:fld>
            <a:endParaRPr lang="en-US"/>
          </a:p>
        </p:txBody>
      </p:sp>
    </p:spTree>
    <p:extLst>
      <p:ext uri="{BB962C8B-B14F-4D97-AF65-F5344CB8AC3E}">
        <p14:creationId xmlns:p14="http://schemas.microsoft.com/office/powerpoint/2010/main" val="37064725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438A8D-64F9-3CA5-8756-6A45260134D9}"/>
              </a:ext>
            </a:extLst>
          </p:cNvPr>
          <p:cNvSpPr>
            <a:spLocks noGrp="1"/>
          </p:cNvSpPr>
          <p:nvPr>
            <p:ph type="dt" sz="half" idx="10"/>
          </p:nvPr>
        </p:nvSpPr>
        <p:spPr/>
        <p:txBody>
          <a:bodyPr/>
          <a:lstStyle/>
          <a:p>
            <a:fld id="{DA4B255C-113F-9541-B7E4-3B487542E3D4}" type="datetimeFigureOut">
              <a:rPr lang="en-US" smtClean="0"/>
              <a:t>10/20/25</a:t>
            </a:fld>
            <a:endParaRPr lang="en-US"/>
          </a:p>
        </p:txBody>
      </p:sp>
      <p:sp>
        <p:nvSpPr>
          <p:cNvPr id="3" name="Footer Placeholder 2">
            <a:extLst>
              <a:ext uri="{FF2B5EF4-FFF2-40B4-BE49-F238E27FC236}">
                <a16:creationId xmlns:a16="http://schemas.microsoft.com/office/drawing/2014/main" id="{5F0FE0C6-E263-2D0C-FC39-10AD6001C09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5CD3E09-558C-1063-D220-EA2CB5856B2F}"/>
              </a:ext>
            </a:extLst>
          </p:cNvPr>
          <p:cNvSpPr>
            <a:spLocks noGrp="1"/>
          </p:cNvSpPr>
          <p:nvPr>
            <p:ph type="sldNum" sz="quarter" idx="12"/>
          </p:nvPr>
        </p:nvSpPr>
        <p:spPr/>
        <p:txBody>
          <a:bodyPr/>
          <a:lstStyle/>
          <a:p>
            <a:fld id="{DA1F770A-D1F2-C44A-870C-01382E69E672}" type="slidenum">
              <a:rPr lang="en-US" smtClean="0"/>
              <a:t>‹#›</a:t>
            </a:fld>
            <a:endParaRPr lang="en-US"/>
          </a:p>
        </p:txBody>
      </p:sp>
    </p:spTree>
    <p:extLst>
      <p:ext uri="{BB962C8B-B14F-4D97-AF65-F5344CB8AC3E}">
        <p14:creationId xmlns:p14="http://schemas.microsoft.com/office/powerpoint/2010/main" val="14201254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E38C8-324E-F972-7963-D25BC5942A2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01ACF6B1-E7E6-1635-211F-F08A90099E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92424E9F-E0CC-BDC5-53D5-C3D6F511A6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FC585DD-89D1-A3F6-35D4-89AF46E25E96}"/>
              </a:ext>
            </a:extLst>
          </p:cNvPr>
          <p:cNvSpPr>
            <a:spLocks noGrp="1"/>
          </p:cNvSpPr>
          <p:nvPr>
            <p:ph type="dt" sz="half" idx="10"/>
          </p:nvPr>
        </p:nvSpPr>
        <p:spPr/>
        <p:txBody>
          <a:bodyPr/>
          <a:lstStyle/>
          <a:p>
            <a:fld id="{DA4B255C-113F-9541-B7E4-3B487542E3D4}" type="datetimeFigureOut">
              <a:rPr lang="en-US" smtClean="0"/>
              <a:t>10/20/25</a:t>
            </a:fld>
            <a:endParaRPr lang="en-US"/>
          </a:p>
        </p:txBody>
      </p:sp>
      <p:sp>
        <p:nvSpPr>
          <p:cNvPr id="6" name="Footer Placeholder 5">
            <a:extLst>
              <a:ext uri="{FF2B5EF4-FFF2-40B4-BE49-F238E27FC236}">
                <a16:creationId xmlns:a16="http://schemas.microsoft.com/office/drawing/2014/main" id="{ADA6B6AA-79D0-5D8C-46E2-6B9E037CA1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F1ED19-E897-C55A-EBF4-6E2CCF4BE95C}"/>
              </a:ext>
            </a:extLst>
          </p:cNvPr>
          <p:cNvSpPr>
            <a:spLocks noGrp="1"/>
          </p:cNvSpPr>
          <p:nvPr>
            <p:ph type="sldNum" sz="quarter" idx="12"/>
          </p:nvPr>
        </p:nvSpPr>
        <p:spPr/>
        <p:txBody>
          <a:bodyPr/>
          <a:lstStyle/>
          <a:p>
            <a:fld id="{DA1F770A-D1F2-C44A-870C-01382E69E672}" type="slidenum">
              <a:rPr lang="en-US" smtClean="0"/>
              <a:t>‹#›</a:t>
            </a:fld>
            <a:endParaRPr lang="en-US"/>
          </a:p>
        </p:txBody>
      </p:sp>
    </p:spTree>
    <p:extLst>
      <p:ext uri="{BB962C8B-B14F-4D97-AF65-F5344CB8AC3E}">
        <p14:creationId xmlns:p14="http://schemas.microsoft.com/office/powerpoint/2010/main" val="23844640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589C9-4D17-ADA3-B633-FD79B92E145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D9F63573-424E-75C6-2B14-68D168140E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EA8FB24-55C1-DD9B-E606-8BA7B0E567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A8876D9-AAC2-7805-208D-A0766864A151}"/>
              </a:ext>
            </a:extLst>
          </p:cNvPr>
          <p:cNvSpPr>
            <a:spLocks noGrp="1"/>
          </p:cNvSpPr>
          <p:nvPr>
            <p:ph type="dt" sz="half" idx="10"/>
          </p:nvPr>
        </p:nvSpPr>
        <p:spPr/>
        <p:txBody>
          <a:bodyPr/>
          <a:lstStyle/>
          <a:p>
            <a:fld id="{DA4B255C-113F-9541-B7E4-3B487542E3D4}" type="datetimeFigureOut">
              <a:rPr lang="en-US" smtClean="0"/>
              <a:t>10/20/25</a:t>
            </a:fld>
            <a:endParaRPr lang="en-US"/>
          </a:p>
        </p:txBody>
      </p:sp>
      <p:sp>
        <p:nvSpPr>
          <p:cNvPr id="6" name="Footer Placeholder 5">
            <a:extLst>
              <a:ext uri="{FF2B5EF4-FFF2-40B4-BE49-F238E27FC236}">
                <a16:creationId xmlns:a16="http://schemas.microsoft.com/office/drawing/2014/main" id="{AFA9C28D-05D1-134F-B0A3-8839E37026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E7DF0A-E4CC-159F-F161-44073710F214}"/>
              </a:ext>
            </a:extLst>
          </p:cNvPr>
          <p:cNvSpPr>
            <a:spLocks noGrp="1"/>
          </p:cNvSpPr>
          <p:nvPr>
            <p:ph type="sldNum" sz="quarter" idx="12"/>
          </p:nvPr>
        </p:nvSpPr>
        <p:spPr/>
        <p:txBody>
          <a:bodyPr/>
          <a:lstStyle/>
          <a:p>
            <a:fld id="{DA1F770A-D1F2-C44A-870C-01382E69E672}" type="slidenum">
              <a:rPr lang="en-US" smtClean="0"/>
              <a:t>‹#›</a:t>
            </a:fld>
            <a:endParaRPr lang="en-US"/>
          </a:p>
        </p:txBody>
      </p:sp>
    </p:spTree>
    <p:extLst>
      <p:ext uri="{BB962C8B-B14F-4D97-AF65-F5344CB8AC3E}">
        <p14:creationId xmlns:p14="http://schemas.microsoft.com/office/powerpoint/2010/main" val="1852085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00358-8AC7-9D9F-1F91-BFE24B08D318}"/>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2FE9614-3C45-748E-19D5-60A53ED862E8}"/>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38A18F9-86A9-3A6B-7A75-4C80F12B4B2B}"/>
              </a:ext>
            </a:extLst>
          </p:cNvPr>
          <p:cNvSpPr>
            <a:spLocks noGrp="1"/>
          </p:cNvSpPr>
          <p:nvPr>
            <p:ph type="dt" sz="half" idx="10"/>
          </p:nvPr>
        </p:nvSpPr>
        <p:spPr/>
        <p:txBody>
          <a:bodyPr/>
          <a:lstStyle/>
          <a:p>
            <a:fld id="{DA4B255C-113F-9541-B7E4-3B487542E3D4}" type="datetimeFigureOut">
              <a:rPr lang="en-US" smtClean="0"/>
              <a:t>10/20/25</a:t>
            </a:fld>
            <a:endParaRPr lang="en-US"/>
          </a:p>
        </p:txBody>
      </p:sp>
      <p:sp>
        <p:nvSpPr>
          <p:cNvPr id="5" name="Footer Placeholder 4">
            <a:extLst>
              <a:ext uri="{FF2B5EF4-FFF2-40B4-BE49-F238E27FC236}">
                <a16:creationId xmlns:a16="http://schemas.microsoft.com/office/drawing/2014/main" id="{C46B49C8-7118-6277-EFDB-C5CDCE3AAF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D9B2F4-0664-7B11-FE1B-9B25EE918314}"/>
              </a:ext>
            </a:extLst>
          </p:cNvPr>
          <p:cNvSpPr>
            <a:spLocks noGrp="1"/>
          </p:cNvSpPr>
          <p:nvPr>
            <p:ph type="sldNum" sz="quarter" idx="12"/>
          </p:nvPr>
        </p:nvSpPr>
        <p:spPr/>
        <p:txBody>
          <a:bodyPr/>
          <a:lstStyle/>
          <a:p>
            <a:fld id="{DA1F770A-D1F2-C44A-870C-01382E69E672}" type="slidenum">
              <a:rPr lang="en-US" smtClean="0"/>
              <a:t>‹#›</a:t>
            </a:fld>
            <a:endParaRPr lang="en-US"/>
          </a:p>
        </p:txBody>
      </p:sp>
    </p:spTree>
    <p:extLst>
      <p:ext uri="{BB962C8B-B14F-4D97-AF65-F5344CB8AC3E}">
        <p14:creationId xmlns:p14="http://schemas.microsoft.com/office/powerpoint/2010/main" val="21498029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43C597-0D16-52FE-CF2C-BC214A3290F9}"/>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398E084-1D4C-0369-4FCF-D1F93A3DEAF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66ED256-CAF0-2836-0FFE-3DAE5DDFE087}"/>
              </a:ext>
            </a:extLst>
          </p:cNvPr>
          <p:cNvSpPr>
            <a:spLocks noGrp="1"/>
          </p:cNvSpPr>
          <p:nvPr>
            <p:ph type="dt" sz="half" idx="10"/>
          </p:nvPr>
        </p:nvSpPr>
        <p:spPr/>
        <p:txBody>
          <a:bodyPr/>
          <a:lstStyle/>
          <a:p>
            <a:fld id="{DA4B255C-113F-9541-B7E4-3B487542E3D4}" type="datetimeFigureOut">
              <a:rPr lang="en-US" smtClean="0"/>
              <a:t>10/20/25</a:t>
            </a:fld>
            <a:endParaRPr lang="en-US"/>
          </a:p>
        </p:txBody>
      </p:sp>
      <p:sp>
        <p:nvSpPr>
          <p:cNvPr id="5" name="Footer Placeholder 4">
            <a:extLst>
              <a:ext uri="{FF2B5EF4-FFF2-40B4-BE49-F238E27FC236}">
                <a16:creationId xmlns:a16="http://schemas.microsoft.com/office/drawing/2014/main" id="{29836041-C024-501A-24D4-0CC1B80FF0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1788FF-4DF4-5407-187F-5B2B78DF63F0}"/>
              </a:ext>
            </a:extLst>
          </p:cNvPr>
          <p:cNvSpPr>
            <a:spLocks noGrp="1"/>
          </p:cNvSpPr>
          <p:nvPr>
            <p:ph type="sldNum" sz="quarter" idx="12"/>
          </p:nvPr>
        </p:nvSpPr>
        <p:spPr/>
        <p:txBody>
          <a:bodyPr/>
          <a:lstStyle/>
          <a:p>
            <a:fld id="{DA1F770A-D1F2-C44A-870C-01382E69E672}" type="slidenum">
              <a:rPr lang="en-US" smtClean="0"/>
              <a:t>‹#›</a:t>
            </a:fld>
            <a:endParaRPr lang="en-US"/>
          </a:p>
        </p:txBody>
      </p:sp>
    </p:spTree>
    <p:extLst>
      <p:ext uri="{BB962C8B-B14F-4D97-AF65-F5344CB8AC3E}">
        <p14:creationId xmlns:p14="http://schemas.microsoft.com/office/powerpoint/2010/main" val="26373329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 moment">
    <p:spTree>
      <p:nvGrpSpPr>
        <p:cNvPr id="1" name=""/>
        <p:cNvGrpSpPr/>
        <p:nvPr/>
      </p:nvGrpSpPr>
      <p:grpSpPr>
        <a:xfrm>
          <a:off x="0" y="0"/>
          <a:ext cx="0" cy="0"/>
          <a:chOff x="0" y="0"/>
          <a:chExt cx="0" cy="0"/>
        </a:xfrm>
      </p:grpSpPr>
      <p:sp>
        <p:nvSpPr>
          <p:cNvPr id="8" name="Oval 7">
            <a:extLst>
              <a:ext uri="{FF2B5EF4-FFF2-40B4-BE49-F238E27FC236}">
                <a16:creationId xmlns:a16="http://schemas.microsoft.com/office/drawing/2014/main" id="{1D36BC33-DF16-0678-6165-C8D0790837C6}"/>
              </a:ext>
            </a:extLst>
          </p:cNvPr>
          <p:cNvSpPr/>
          <p:nvPr userDrawn="1"/>
        </p:nvSpPr>
        <p:spPr>
          <a:xfrm>
            <a:off x="7026436" y="1213371"/>
            <a:ext cx="3208033" cy="3208033"/>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icture Placeholder 6">
            <a:extLst>
              <a:ext uri="{FF2B5EF4-FFF2-40B4-BE49-F238E27FC236}">
                <a16:creationId xmlns:a16="http://schemas.microsoft.com/office/drawing/2014/main" id="{78893D76-3983-A367-9AD8-022C0FC346BC}"/>
              </a:ext>
            </a:extLst>
          </p:cNvPr>
          <p:cNvSpPr>
            <a:spLocks noGrp="1"/>
          </p:cNvSpPr>
          <p:nvPr>
            <p:ph type="pic" sz="quarter" idx="15"/>
          </p:nvPr>
        </p:nvSpPr>
        <p:spPr>
          <a:xfrm>
            <a:off x="273051" y="273049"/>
            <a:ext cx="7227679" cy="6307133"/>
          </a:xfrm>
          <a:custGeom>
            <a:avLst/>
            <a:gdLst>
              <a:gd name="connsiteX0" fmla="*/ 0 w 7227679"/>
              <a:gd name="connsiteY0" fmla="*/ 0 h 6307133"/>
              <a:gd name="connsiteX1" fmla="*/ 7227679 w 7227679"/>
              <a:gd name="connsiteY1" fmla="*/ 0 h 6307133"/>
              <a:gd name="connsiteX2" fmla="*/ 7227679 w 7227679"/>
              <a:gd name="connsiteY2" fmla="*/ 1406049 h 6307133"/>
              <a:gd name="connsiteX3" fmla="*/ 7223191 w 7227679"/>
              <a:gd name="connsiteY3" fmla="*/ 1410128 h 6307133"/>
              <a:gd name="connsiteX4" fmla="*/ 6753385 w 7227679"/>
              <a:gd name="connsiteY4" fmla="*/ 2544339 h 6307133"/>
              <a:gd name="connsiteX5" fmla="*/ 7223191 w 7227679"/>
              <a:gd name="connsiteY5" fmla="*/ 3678550 h 6307133"/>
              <a:gd name="connsiteX6" fmla="*/ 7227679 w 7227679"/>
              <a:gd name="connsiteY6" fmla="*/ 3682630 h 6307133"/>
              <a:gd name="connsiteX7" fmla="*/ 7227679 w 7227679"/>
              <a:gd name="connsiteY7" fmla="*/ 6307133 h 6307133"/>
              <a:gd name="connsiteX8" fmla="*/ 0 w 7227679"/>
              <a:gd name="connsiteY8" fmla="*/ 6307133 h 6307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27679" h="6307133">
                <a:moveTo>
                  <a:pt x="0" y="0"/>
                </a:moveTo>
                <a:lnTo>
                  <a:pt x="7227679" y="0"/>
                </a:lnTo>
                <a:lnTo>
                  <a:pt x="7227679" y="1406049"/>
                </a:lnTo>
                <a:lnTo>
                  <a:pt x="7223191" y="1410128"/>
                </a:lnTo>
                <a:cubicBezTo>
                  <a:pt x="6932921" y="1700398"/>
                  <a:pt x="6753385" y="2101402"/>
                  <a:pt x="6753385" y="2544339"/>
                </a:cubicBezTo>
                <a:cubicBezTo>
                  <a:pt x="6753385" y="2987276"/>
                  <a:pt x="6932921" y="3388280"/>
                  <a:pt x="7223191" y="3678550"/>
                </a:cubicBezTo>
                <a:lnTo>
                  <a:pt x="7227679" y="3682630"/>
                </a:lnTo>
                <a:lnTo>
                  <a:pt x="7227679" y="6307133"/>
                </a:lnTo>
                <a:lnTo>
                  <a:pt x="0" y="6307133"/>
                </a:lnTo>
                <a:close/>
              </a:path>
            </a:pathLst>
          </a:custGeom>
          <a:blipFill dpi="0" rotWithShape="1">
            <a:blip r:embed="rId2">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atin typeface="Arial" panose="020B0604020202020204" pitchFamily="34" charset="0"/>
                <a:cs typeface="Arial" panose="020B0604020202020204" pitchFamily="34" charset="0"/>
              </a:defRPr>
            </a:lvl1pPr>
          </a:lstStyle>
          <a:p>
            <a:r>
              <a:rPr lang="en-GB"/>
              <a:t>Click icon to add picture</a:t>
            </a:r>
            <a:endParaRPr lang="en-US"/>
          </a:p>
        </p:txBody>
      </p:sp>
      <p:sp>
        <p:nvSpPr>
          <p:cNvPr id="4" name="Text Placeholder 2">
            <a:extLst>
              <a:ext uri="{FF2B5EF4-FFF2-40B4-BE49-F238E27FC236}">
                <a16:creationId xmlns:a16="http://schemas.microsoft.com/office/drawing/2014/main" id="{6BB12226-8D38-44E6-70E0-2ED9128BE789}"/>
              </a:ext>
            </a:extLst>
          </p:cNvPr>
          <p:cNvSpPr>
            <a:spLocks noGrp="1"/>
          </p:cNvSpPr>
          <p:nvPr>
            <p:ph type="body" sz="quarter" idx="11" hasCustomPrompt="1"/>
          </p:nvPr>
        </p:nvSpPr>
        <p:spPr>
          <a:xfrm>
            <a:off x="7894648" y="4604222"/>
            <a:ext cx="3170913" cy="307009"/>
          </a:xfrm>
          <a:prstGeom prst="rect">
            <a:avLst/>
          </a:prstGeom>
        </p:spPr>
        <p:txBody>
          <a:bodyPr/>
          <a:lstStyle>
            <a:lvl1pPr marL="0" indent="0">
              <a:lnSpc>
                <a:spcPct val="113000"/>
              </a:lnSpc>
              <a:spcBef>
                <a:spcPts val="0"/>
              </a:spcBef>
              <a:buNone/>
              <a:defRPr sz="1800" b="0" i="0" spc="10" baseline="0">
                <a:solidFill>
                  <a:schemeClr val="tx1"/>
                </a:solidFill>
                <a:latin typeface="Arial" panose="020B0604020202020204" pitchFamily="34" charset="0"/>
                <a:cs typeface="Arial" panose="020B0604020202020204" pitchFamily="34" charset="0"/>
              </a:defRPr>
            </a:lvl1pPr>
          </a:lstStyle>
          <a:p>
            <a:pPr lvl="0"/>
            <a:r>
              <a:rPr lang="en-GB"/>
              <a:t>Descriptive subheading</a:t>
            </a:r>
          </a:p>
        </p:txBody>
      </p:sp>
      <p:sp>
        <p:nvSpPr>
          <p:cNvPr id="14" name="Title 13">
            <a:extLst>
              <a:ext uri="{FF2B5EF4-FFF2-40B4-BE49-F238E27FC236}">
                <a16:creationId xmlns:a16="http://schemas.microsoft.com/office/drawing/2014/main" id="{AC02E6A8-2F97-0602-2AD3-97C8EC019D49}"/>
              </a:ext>
            </a:extLst>
          </p:cNvPr>
          <p:cNvSpPr>
            <a:spLocks noGrp="1"/>
          </p:cNvSpPr>
          <p:nvPr>
            <p:ph type="title" hasCustomPrompt="1"/>
          </p:nvPr>
        </p:nvSpPr>
        <p:spPr>
          <a:xfrm>
            <a:off x="7819921" y="2055636"/>
            <a:ext cx="2397873" cy="1563238"/>
          </a:xfrm>
          <a:prstGeom prst="rect">
            <a:avLst/>
          </a:prstGeom>
        </p:spPr>
        <p:txBody>
          <a:bodyPr/>
          <a:lstStyle>
            <a:lvl1pPr>
              <a:lnSpc>
                <a:spcPct val="113000"/>
              </a:lnSpc>
              <a:defRPr sz="2800" b="1" i="0" spc="20" baseline="0">
                <a:solidFill>
                  <a:schemeClr val="bg1"/>
                </a:solidFill>
                <a:latin typeface="Arial" panose="020B0604020202020204" pitchFamily="34" charset="0"/>
                <a:cs typeface="Arial" panose="020B0604020202020204" pitchFamily="34" charset="0"/>
              </a:defRPr>
            </a:lvl1pPr>
          </a:lstStyle>
          <a:p>
            <a:r>
              <a:rPr lang="en-GB"/>
              <a:t>Impactful moment/ statement</a:t>
            </a:r>
            <a:endParaRPr lang="en-US"/>
          </a:p>
        </p:txBody>
      </p:sp>
      <p:sp>
        <p:nvSpPr>
          <p:cNvPr id="3" name="Text Placeholder 2">
            <a:extLst>
              <a:ext uri="{FF2B5EF4-FFF2-40B4-BE49-F238E27FC236}">
                <a16:creationId xmlns:a16="http://schemas.microsoft.com/office/drawing/2014/main" id="{9CAD96F7-AF72-6B6C-FE4A-0922E622D59D}"/>
              </a:ext>
            </a:extLst>
          </p:cNvPr>
          <p:cNvSpPr>
            <a:spLocks noGrp="1"/>
          </p:cNvSpPr>
          <p:nvPr>
            <p:ph type="body" sz="quarter" idx="22" hasCustomPrompt="1"/>
          </p:nvPr>
        </p:nvSpPr>
        <p:spPr>
          <a:xfrm>
            <a:off x="7894648" y="5023891"/>
            <a:ext cx="1855402" cy="569080"/>
          </a:xfrm>
          <a:prstGeom prst="rect">
            <a:avLst/>
          </a:prstGeom>
        </p:spPr>
        <p:txBody>
          <a:bodyPr/>
          <a:lstStyle>
            <a:lvl1pPr marL="0" indent="0">
              <a:lnSpc>
                <a:spcPct val="113000"/>
              </a:lnSpc>
              <a:spcBef>
                <a:spcPts val="0"/>
              </a:spcBef>
              <a:buNone/>
              <a:defRPr sz="1400" b="0" i="0" spc="10" baseline="0">
                <a:solidFill>
                  <a:schemeClr val="tx1"/>
                </a:solidFill>
                <a:latin typeface="Arial" panose="020B0604020202020204" pitchFamily="34" charset="0"/>
                <a:cs typeface="Arial" panose="020B0604020202020204" pitchFamily="34" charset="0"/>
              </a:defRPr>
            </a:lvl1pPr>
          </a:lstStyle>
          <a:p>
            <a:pPr lvl="0"/>
            <a:r>
              <a:rPr lang="en-GB"/>
              <a:t>00 Month 0000</a:t>
            </a:r>
            <a:br>
              <a:rPr lang="en-GB"/>
            </a:br>
            <a:r>
              <a:rPr lang="en-GB"/>
              <a:t>Team/name</a:t>
            </a:r>
          </a:p>
        </p:txBody>
      </p:sp>
      <p:cxnSp>
        <p:nvCxnSpPr>
          <p:cNvPr id="5" name="Straight Connector 4">
            <a:extLst>
              <a:ext uri="{FF2B5EF4-FFF2-40B4-BE49-F238E27FC236}">
                <a16:creationId xmlns:a16="http://schemas.microsoft.com/office/drawing/2014/main" id="{C3115A32-A13F-969B-2F42-AEC7BE2F6B94}"/>
              </a:ext>
            </a:extLst>
          </p:cNvPr>
          <p:cNvCxnSpPr>
            <a:cxnSpLocks/>
          </p:cNvCxnSpPr>
          <p:nvPr userDrawn="1"/>
        </p:nvCxnSpPr>
        <p:spPr>
          <a:xfrm flipH="1">
            <a:off x="7974106" y="5885057"/>
            <a:ext cx="4217894"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Picture 9" descr="A black background with a black square&#10;&#10;Description automatically generated">
            <a:extLst>
              <a:ext uri="{FF2B5EF4-FFF2-40B4-BE49-F238E27FC236}">
                <a16:creationId xmlns:a16="http://schemas.microsoft.com/office/drawing/2014/main" id="{3D8BC94E-59F9-4092-F8B7-18D14554D147}"/>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7866624" y="5892073"/>
            <a:ext cx="2122298" cy="694800"/>
          </a:xfrm>
          <a:prstGeom prst="rect">
            <a:avLst/>
          </a:prstGeom>
        </p:spPr>
      </p:pic>
      <p:pic>
        <p:nvPicPr>
          <p:cNvPr id="12" name="Picture 11" descr="A black text on a white background&#10;&#10;Description automatically generated">
            <a:extLst>
              <a:ext uri="{FF2B5EF4-FFF2-40B4-BE49-F238E27FC236}">
                <a16:creationId xmlns:a16="http://schemas.microsoft.com/office/drawing/2014/main" id="{522E8C9E-8A04-01F6-7F7C-2BBF0C56AF51}"/>
              </a:ext>
            </a:extLst>
          </p:cNvPr>
          <p:cNvPicPr>
            <a:picLocks noChangeAspect="1"/>
          </p:cNvPicPr>
          <p:nvPr userDrawn="1"/>
        </p:nvPicPr>
        <p:blipFill>
          <a:blip r:embed="rId4"/>
          <a:stretch>
            <a:fillRect/>
          </a:stretch>
        </p:blipFill>
        <p:spPr>
          <a:xfrm>
            <a:off x="8748036" y="167601"/>
            <a:ext cx="3170913" cy="931743"/>
          </a:xfrm>
          <a:prstGeom prst="rect">
            <a:avLst/>
          </a:prstGeom>
        </p:spPr>
      </p:pic>
    </p:spTree>
    <p:extLst>
      <p:ext uri="{BB962C8B-B14F-4D97-AF65-F5344CB8AC3E}">
        <p14:creationId xmlns:p14="http://schemas.microsoft.com/office/powerpoint/2010/main" val="8683990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B89FC9-1B76-5D83-51E1-C9A63759FE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283DDCD-975A-1E40-317A-4767F3D4D1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4CC5844-19E0-F84C-B949-77B91C0380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4B255C-113F-9541-B7E4-3B487542E3D4}" type="datetimeFigureOut">
              <a:rPr lang="en-US" smtClean="0"/>
              <a:t>10/20/25</a:t>
            </a:fld>
            <a:endParaRPr lang="en-US"/>
          </a:p>
        </p:txBody>
      </p:sp>
      <p:sp>
        <p:nvSpPr>
          <p:cNvPr id="5" name="Footer Placeholder 4">
            <a:extLst>
              <a:ext uri="{FF2B5EF4-FFF2-40B4-BE49-F238E27FC236}">
                <a16:creationId xmlns:a16="http://schemas.microsoft.com/office/drawing/2014/main" id="{22B88D58-7751-DF81-AA4E-C594711D8E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7F358F8-DDF3-B143-B912-FFE5494F15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1F770A-D1F2-C44A-870C-01382E69E672}" type="slidenum">
              <a:rPr lang="en-US" smtClean="0"/>
              <a:t>‹#›</a:t>
            </a:fld>
            <a:endParaRPr lang="en-US"/>
          </a:p>
        </p:txBody>
      </p:sp>
    </p:spTree>
    <p:extLst>
      <p:ext uri="{BB962C8B-B14F-4D97-AF65-F5344CB8AC3E}">
        <p14:creationId xmlns:p14="http://schemas.microsoft.com/office/powerpoint/2010/main" val="3327481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e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tiff"/><Relationship Id="rId1" Type="http://schemas.openxmlformats.org/officeDocument/2006/relationships/slideLayout" Target="../slideLayouts/slideLayout12.xml"/><Relationship Id="rId5" Type="http://schemas.openxmlformats.org/officeDocument/2006/relationships/image" Target="../media/image14.png"/><Relationship Id="rId4" Type="http://schemas.openxmlformats.org/officeDocument/2006/relationships/image" Target="../media/image13.jpe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7.jpeg"/></Relationships>
</file>

<file path=ppt/slides/_rels/slide12.xml.rels><?xml version="1.0" encoding="UTF-8" standalone="yes"?>
<Relationships xmlns="http://schemas.openxmlformats.org/package/2006/relationships"><Relationship Id="rId3" Type="http://schemas.openxmlformats.org/officeDocument/2006/relationships/image" Target="../media/image18.jpeg"/><Relationship Id="rId7" Type="http://schemas.openxmlformats.org/officeDocument/2006/relationships/image" Target="../media/image21.jpe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0.jpeg"/><Relationship Id="rId5" Type="http://schemas.openxmlformats.org/officeDocument/2006/relationships/image" Target="../media/image13.jpe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1.jpeg"/><Relationship Id="rId5" Type="http://schemas.openxmlformats.org/officeDocument/2006/relationships/image" Target="../media/image13.jpe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tif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tif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tif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tif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1.tif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tif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1.tif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8.jpeg"/></Relationships>
</file>

<file path=ppt/slides/_rels/slide32.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39.jpeg"/></Relationships>
</file>

<file path=ppt/slides/_rels/slide33.xml.rels><?xml version="1.0" encoding="UTF-8" standalone="yes"?>
<Relationships xmlns="http://schemas.openxmlformats.org/package/2006/relationships"><Relationship Id="rId3" Type="http://schemas.openxmlformats.org/officeDocument/2006/relationships/image" Target="../media/image40.gif"/><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8" Type="http://schemas.openxmlformats.org/officeDocument/2006/relationships/image" Target="../media/image60.gif"/><Relationship Id="rId3" Type="http://schemas.openxmlformats.org/officeDocument/2006/relationships/image" Target="../media/image55.gif"/><Relationship Id="rId7" Type="http://schemas.openxmlformats.org/officeDocument/2006/relationships/image" Target="../media/image59.gif"/><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image" Target="../media/image58.gif"/><Relationship Id="rId5" Type="http://schemas.openxmlformats.org/officeDocument/2006/relationships/image" Target="../media/image57.gif"/><Relationship Id="rId4" Type="http://schemas.openxmlformats.org/officeDocument/2006/relationships/image" Target="../media/image56.gif"/></Relationships>
</file>

<file path=ppt/slides/_rels/slide79.xml.rels><?xml version="1.0" encoding="UTF-8" standalone="yes"?>
<Relationships xmlns="http://schemas.openxmlformats.org/package/2006/relationships"><Relationship Id="rId3" Type="http://schemas.openxmlformats.org/officeDocument/2006/relationships/image" Target="../media/image61.gif"/><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369267E-BE8A-49FB-1D6E-707DEC040EBC}"/>
              </a:ext>
            </a:extLst>
          </p:cNvPr>
          <p:cNvSpPr txBox="1"/>
          <p:nvPr/>
        </p:nvSpPr>
        <p:spPr>
          <a:xfrm>
            <a:off x="70672" y="1336089"/>
            <a:ext cx="11727789" cy="1077218"/>
          </a:xfrm>
          <a:prstGeom prst="rect">
            <a:avLst/>
          </a:prstGeom>
          <a:noFill/>
        </p:spPr>
        <p:txBody>
          <a:bodyPr wrap="square">
            <a:spAutoFit/>
          </a:bodyPr>
          <a:lstStyle/>
          <a:p>
            <a:r>
              <a:rPr lang="en-GB" sz="6400" b="1" dirty="0">
                <a:latin typeface="+mj-lt"/>
                <a:ea typeface="+mj-ea"/>
                <a:cs typeface="+mj-cs"/>
              </a:rPr>
              <a:t>Introduction to Statistical Analysis </a:t>
            </a:r>
          </a:p>
        </p:txBody>
      </p:sp>
      <p:sp>
        <p:nvSpPr>
          <p:cNvPr id="10" name="TextBox 9">
            <a:extLst>
              <a:ext uri="{FF2B5EF4-FFF2-40B4-BE49-F238E27FC236}">
                <a16:creationId xmlns:a16="http://schemas.microsoft.com/office/drawing/2014/main" id="{A3220DB1-EA39-4793-67F2-72F5D5F18CD5}"/>
              </a:ext>
            </a:extLst>
          </p:cNvPr>
          <p:cNvSpPr txBox="1"/>
          <p:nvPr/>
        </p:nvSpPr>
        <p:spPr>
          <a:xfrm>
            <a:off x="136849" y="4019960"/>
            <a:ext cx="9005644" cy="830997"/>
          </a:xfrm>
          <a:prstGeom prst="rect">
            <a:avLst/>
          </a:prstGeom>
          <a:noFill/>
        </p:spPr>
        <p:txBody>
          <a:bodyPr wrap="square">
            <a:spAutoFit/>
          </a:bodyPr>
          <a:lstStyle/>
          <a:p>
            <a:r>
              <a:rPr lang="en-GB" sz="2400" dirty="0">
                <a:solidFill>
                  <a:srgbClr val="EA058C"/>
                </a:solidFill>
                <a:effectLst/>
              </a:rPr>
              <a:t>Cancer Research UK Cambridge Institute – October 24</a:t>
            </a:r>
            <a:r>
              <a:rPr lang="en-GB" sz="2400" baseline="30000" dirty="0">
                <a:solidFill>
                  <a:srgbClr val="EA058C"/>
                </a:solidFill>
                <a:effectLst/>
              </a:rPr>
              <a:t>th</a:t>
            </a:r>
            <a:r>
              <a:rPr lang="en-GB" sz="2400" dirty="0">
                <a:solidFill>
                  <a:srgbClr val="EA058C"/>
                </a:solidFill>
                <a:effectLst/>
              </a:rPr>
              <a:t>, 2025</a:t>
            </a:r>
            <a:br>
              <a:rPr lang="en-GB" sz="2400" dirty="0">
                <a:solidFill>
                  <a:srgbClr val="EA058C"/>
                </a:solidFill>
                <a:effectLst/>
              </a:rPr>
            </a:br>
            <a:r>
              <a:rPr lang="en-GB" sz="2400" dirty="0">
                <a:solidFill>
                  <a:srgbClr val="212121"/>
                </a:solidFill>
              </a:rPr>
              <a:t>Luca Porcu &amp; </a:t>
            </a:r>
            <a:r>
              <a:rPr lang="en-GB" sz="2400" i="0" u="none" strike="noStrike" dirty="0">
                <a:solidFill>
                  <a:srgbClr val="212121"/>
                </a:solidFill>
                <a:effectLst/>
              </a:rPr>
              <a:t>Chandra </a:t>
            </a:r>
            <a:r>
              <a:rPr lang="en-GB" sz="2400" i="0" u="none" strike="noStrike" dirty="0" err="1">
                <a:solidFill>
                  <a:srgbClr val="212121"/>
                </a:solidFill>
                <a:effectLst/>
              </a:rPr>
              <a:t>Chilamakuri</a:t>
            </a:r>
            <a:r>
              <a:rPr lang="en-GB" sz="2400" i="0" u="none" strike="noStrike" dirty="0">
                <a:solidFill>
                  <a:srgbClr val="212121"/>
                </a:solidFill>
                <a:effectLst/>
              </a:rPr>
              <a:t> </a:t>
            </a:r>
            <a:r>
              <a:rPr lang="en-GB" sz="2400" dirty="0">
                <a:solidFill>
                  <a:srgbClr val="7F7F7F"/>
                </a:solidFill>
                <a:effectLst/>
              </a:rPr>
              <a:t>(Bioinformatics core) </a:t>
            </a:r>
            <a:endParaRPr lang="en-GB" sz="2400" dirty="0">
              <a:effectLst/>
            </a:endParaRPr>
          </a:p>
        </p:txBody>
      </p:sp>
      <p:pic>
        <p:nvPicPr>
          <p:cNvPr id="2" name="Picture 1">
            <a:extLst>
              <a:ext uri="{FF2B5EF4-FFF2-40B4-BE49-F238E27FC236}">
                <a16:creationId xmlns:a16="http://schemas.microsoft.com/office/drawing/2014/main" id="{DAC09909-B797-CC23-5811-CAF89AAC3813}"/>
              </a:ext>
            </a:extLst>
          </p:cNvPr>
          <p:cNvPicPr>
            <a:picLocks noChangeAspect="1"/>
          </p:cNvPicPr>
          <p:nvPr/>
        </p:nvPicPr>
        <p:blipFill>
          <a:blip r:embed="rId3"/>
          <a:stretch>
            <a:fillRect/>
          </a:stretch>
        </p:blipFill>
        <p:spPr>
          <a:xfrm>
            <a:off x="2246" y="5513664"/>
            <a:ext cx="4612616" cy="1346915"/>
          </a:xfrm>
          <a:prstGeom prst="rect">
            <a:avLst/>
          </a:prstGeom>
        </p:spPr>
      </p:pic>
      <p:pic>
        <p:nvPicPr>
          <p:cNvPr id="3" name="Picture 2">
            <a:extLst>
              <a:ext uri="{FF2B5EF4-FFF2-40B4-BE49-F238E27FC236}">
                <a16:creationId xmlns:a16="http://schemas.microsoft.com/office/drawing/2014/main" id="{ADF1F0CF-54B0-3A41-7907-B5C7003F84C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26282" y="5709655"/>
            <a:ext cx="5043398" cy="1053845"/>
          </a:xfrm>
          <a:prstGeom prst="rect">
            <a:avLst/>
          </a:prstGeom>
        </p:spPr>
      </p:pic>
    </p:spTree>
    <p:extLst>
      <p:ext uri="{BB962C8B-B14F-4D97-AF65-F5344CB8AC3E}">
        <p14:creationId xmlns:p14="http://schemas.microsoft.com/office/powerpoint/2010/main" val="13887281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369267E-BE8A-49FB-1D6E-707DEC040EBC}"/>
              </a:ext>
            </a:extLst>
          </p:cNvPr>
          <p:cNvSpPr txBox="1"/>
          <p:nvPr/>
        </p:nvSpPr>
        <p:spPr>
          <a:xfrm>
            <a:off x="6010" y="9270"/>
            <a:ext cx="2499684" cy="861774"/>
          </a:xfrm>
          <a:prstGeom prst="rect">
            <a:avLst/>
          </a:prstGeom>
          <a:noFill/>
        </p:spPr>
        <p:txBody>
          <a:bodyPr wrap="square">
            <a:spAutoFit/>
          </a:bodyPr>
          <a:lstStyle/>
          <a:p>
            <a:r>
              <a:rPr lang="en-GB" sz="5000" b="1" dirty="0">
                <a:latin typeface="+mj-lt"/>
                <a:ea typeface="+mj-ea"/>
                <a:cs typeface="+mj-cs"/>
              </a:rPr>
              <a:t>Timeline</a:t>
            </a:r>
          </a:p>
        </p:txBody>
      </p:sp>
      <p:sp>
        <p:nvSpPr>
          <p:cNvPr id="2" name="Rounded Rectangle 1">
            <a:extLst>
              <a:ext uri="{FF2B5EF4-FFF2-40B4-BE49-F238E27FC236}">
                <a16:creationId xmlns:a16="http://schemas.microsoft.com/office/drawing/2014/main" id="{BCCD07C0-8F00-9227-A191-23CC5B37DACF}"/>
              </a:ext>
            </a:extLst>
          </p:cNvPr>
          <p:cNvSpPr/>
          <p:nvPr/>
        </p:nvSpPr>
        <p:spPr>
          <a:xfrm>
            <a:off x="390704" y="2136834"/>
            <a:ext cx="305303" cy="29324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2200" dirty="0"/>
          </a:p>
        </p:txBody>
      </p:sp>
      <p:sp>
        <p:nvSpPr>
          <p:cNvPr id="4" name="TextBox 3">
            <a:extLst>
              <a:ext uri="{FF2B5EF4-FFF2-40B4-BE49-F238E27FC236}">
                <a16:creationId xmlns:a16="http://schemas.microsoft.com/office/drawing/2014/main" id="{B056823A-63FE-73B2-83CA-F602F83DAB38}"/>
              </a:ext>
            </a:extLst>
          </p:cNvPr>
          <p:cNvSpPr txBox="1"/>
          <p:nvPr/>
        </p:nvSpPr>
        <p:spPr>
          <a:xfrm>
            <a:off x="832408" y="2050597"/>
            <a:ext cx="8962949" cy="430887"/>
          </a:xfrm>
          <a:prstGeom prst="rect">
            <a:avLst/>
          </a:prstGeom>
          <a:noFill/>
        </p:spPr>
        <p:txBody>
          <a:bodyPr wrap="square" rtlCol="0">
            <a:spAutoFit/>
          </a:bodyPr>
          <a:lstStyle/>
          <a:p>
            <a:r>
              <a:rPr lang="en-US" sz="2200" dirty="0"/>
              <a:t>Data types and descriptive statistics</a:t>
            </a:r>
          </a:p>
        </p:txBody>
      </p:sp>
      <p:sp>
        <p:nvSpPr>
          <p:cNvPr id="5" name="TextBox 4">
            <a:extLst>
              <a:ext uri="{FF2B5EF4-FFF2-40B4-BE49-F238E27FC236}">
                <a16:creationId xmlns:a16="http://schemas.microsoft.com/office/drawing/2014/main" id="{627C381B-4F17-A846-DDF9-A62DE881A6C3}"/>
              </a:ext>
            </a:extLst>
          </p:cNvPr>
          <p:cNvSpPr txBox="1"/>
          <p:nvPr/>
        </p:nvSpPr>
        <p:spPr>
          <a:xfrm>
            <a:off x="840427" y="2582515"/>
            <a:ext cx="8344907" cy="430887"/>
          </a:xfrm>
          <a:prstGeom prst="rect">
            <a:avLst/>
          </a:prstGeom>
          <a:noFill/>
        </p:spPr>
        <p:txBody>
          <a:bodyPr wrap="square" rtlCol="0">
            <a:spAutoFit/>
          </a:bodyPr>
          <a:lstStyle/>
          <a:p>
            <a:r>
              <a:rPr lang="en-US" sz="2200" dirty="0"/>
              <a:t>Central limit theorem (CLT)</a:t>
            </a:r>
          </a:p>
        </p:txBody>
      </p:sp>
      <p:cxnSp>
        <p:nvCxnSpPr>
          <p:cNvPr id="7" name="Straight Arrow Connector 6">
            <a:extLst>
              <a:ext uri="{FF2B5EF4-FFF2-40B4-BE49-F238E27FC236}">
                <a16:creationId xmlns:a16="http://schemas.microsoft.com/office/drawing/2014/main" id="{3481D2BC-8DF8-BD69-38B4-74274949175D}"/>
              </a:ext>
            </a:extLst>
          </p:cNvPr>
          <p:cNvCxnSpPr>
            <a:cxnSpLocks/>
          </p:cNvCxnSpPr>
          <p:nvPr/>
        </p:nvCxnSpPr>
        <p:spPr>
          <a:xfrm>
            <a:off x="5486398" y="2279603"/>
            <a:ext cx="4680000"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A2F8557-B448-1DC4-A791-D9CA41979DC9}"/>
              </a:ext>
            </a:extLst>
          </p:cNvPr>
          <p:cNvSpPr txBox="1"/>
          <p:nvPr/>
        </p:nvSpPr>
        <p:spPr>
          <a:xfrm>
            <a:off x="10184450" y="2014083"/>
            <a:ext cx="1651582" cy="430887"/>
          </a:xfrm>
          <a:prstGeom prst="rect">
            <a:avLst/>
          </a:prstGeom>
          <a:noFill/>
        </p:spPr>
        <p:txBody>
          <a:bodyPr wrap="square" rtlCol="0">
            <a:spAutoFit/>
          </a:bodyPr>
          <a:lstStyle/>
          <a:p>
            <a:pPr algn="r"/>
            <a:r>
              <a:rPr lang="en-US" sz="2200" dirty="0"/>
              <a:t>Online quiz</a:t>
            </a:r>
          </a:p>
        </p:txBody>
      </p:sp>
      <p:cxnSp>
        <p:nvCxnSpPr>
          <p:cNvPr id="11" name="Straight Arrow Connector 10">
            <a:extLst>
              <a:ext uri="{FF2B5EF4-FFF2-40B4-BE49-F238E27FC236}">
                <a16:creationId xmlns:a16="http://schemas.microsoft.com/office/drawing/2014/main" id="{B7BC1879-55FF-DCE4-B708-E0C97F079683}"/>
              </a:ext>
            </a:extLst>
          </p:cNvPr>
          <p:cNvCxnSpPr>
            <a:cxnSpLocks/>
          </p:cNvCxnSpPr>
          <p:nvPr/>
        </p:nvCxnSpPr>
        <p:spPr>
          <a:xfrm>
            <a:off x="4384430" y="2811075"/>
            <a:ext cx="5796000"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500F95-41C0-9751-8D05-AE868B55ADD1}"/>
              </a:ext>
            </a:extLst>
          </p:cNvPr>
          <p:cNvSpPr txBox="1"/>
          <p:nvPr/>
        </p:nvSpPr>
        <p:spPr>
          <a:xfrm>
            <a:off x="10151792" y="2536283"/>
            <a:ext cx="1662994" cy="430887"/>
          </a:xfrm>
          <a:prstGeom prst="rect">
            <a:avLst/>
          </a:prstGeom>
          <a:noFill/>
        </p:spPr>
        <p:txBody>
          <a:bodyPr wrap="square" rtlCol="0">
            <a:spAutoFit/>
          </a:bodyPr>
          <a:lstStyle/>
          <a:p>
            <a:pPr algn="r"/>
            <a:r>
              <a:rPr lang="en-US" sz="2200" dirty="0"/>
              <a:t>Simulations</a:t>
            </a:r>
          </a:p>
        </p:txBody>
      </p:sp>
      <p:sp>
        <p:nvSpPr>
          <p:cNvPr id="17" name="TextBox 16">
            <a:extLst>
              <a:ext uri="{FF2B5EF4-FFF2-40B4-BE49-F238E27FC236}">
                <a16:creationId xmlns:a16="http://schemas.microsoft.com/office/drawing/2014/main" id="{5A040DDB-81C8-258F-E2A6-8687A50DA88A}"/>
              </a:ext>
            </a:extLst>
          </p:cNvPr>
          <p:cNvSpPr txBox="1"/>
          <p:nvPr/>
        </p:nvSpPr>
        <p:spPr>
          <a:xfrm>
            <a:off x="28032" y="832331"/>
            <a:ext cx="9936580" cy="646331"/>
          </a:xfrm>
          <a:prstGeom prst="rect">
            <a:avLst/>
          </a:prstGeom>
          <a:noFill/>
        </p:spPr>
        <p:txBody>
          <a:bodyPr wrap="square" rtlCol="0">
            <a:spAutoFit/>
          </a:bodyPr>
          <a:lstStyle/>
          <a:p>
            <a:pPr marL="457200" indent="-457200">
              <a:buFont typeface="Courier New" panose="02070309020205020404" pitchFamily="49" charset="0"/>
              <a:buChar char="o"/>
            </a:pPr>
            <a:r>
              <a:rPr lang="en-US" sz="3600" dirty="0">
                <a:solidFill>
                  <a:srgbClr val="7030A0"/>
                </a:solidFill>
              </a:rPr>
              <a:t>Morning (9.30-12.30)</a:t>
            </a:r>
          </a:p>
        </p:txBody>
      </p:sp>
      <p:sp>
        <p:nvSpPr>
          <p:cNvPr id="18" name="TextBox 17">
            <a:extLst>
              <a:ext uri="{FF2B5EF4-FFF2-40B4-BE49-F238E27FC236}">
                <a16:creationId xmlns:a16="http://schemas.microsoft.com/office/drawing/2014/main" id="{3B8D2A96-A3FB-DD70-EA75-91FE62FE3171}"/>
              </a:ext>
            </a:extLst>
          </p:cNvPr>
          <p:cNvSpPr txBox="1"/>
          <p:nvPr/>
        </p:nvSpPr>
        <p:spPr>
          <a:xfrm>
            <a:off x="-5172" y="4155970"/>
            <a:ext cx="9936580" cy="646331"/>
          </a:xfrm>
          <a:prstGeom prst="rect">
            <a:avLst/>
          </a:prstGeom>
          <a:noFill/>
        </p:spPr>
        <p:txBody>
          <a:bodyPr wrap="square" rtlCol="0">
            <a:spAutoFit/>
          </a:bodyPr>
          <a:lstStyle/>
          <a:p>
            <a:pPr marL="457200" indent="-457200">
              <a:buFont typeface="Courier New" panose="02070309020205020404" pitchFamily="49" charset="0"/>
              <a:buChar char="o"/>
            </a:pPr>
            <a:r>
              <a:rPr lang="en-US" sz="3600" dirty="0">
                <a:solidFill>
                  <a:srgbClr val="7030A0"/>
                </a:solidFill>
              </a:rPr>
              <a:t>Afternoon (13.30-17.00)</a:t>
            </a:r>
          </a:p>
        </p:txBody>
      </p:sp>
      <p:sp>
        <p:nvSpPr>
          <p:cNvPr id="19" name="TextBox 18">
            <a:extLst>
              <a:ext uri="{FF2B5EF4-FFF2-40B4-BE49-F238E27FC236}">
                <a16:creationId xmlns:a16="http://schemas.microsoft.com/office/drawing/2014/main" id="{8A40BE9D-D125-CD6F-1E1E-5191274CE306}"/>
              </a:ext>
            </a:extLst>
          </p:cNvPr>
          <p:cNvSpPr txBox="1"/>
          <p:nvPr/>
        </p:nvSpPr>
        <p:spPr>
          <a:xfrm>
            <a:off x="1785" y="3545621"/>
            <a:ext cx="1985364" cy="646331"/>
          </a:xfrm>
          <a:prstGeom prst="rect">
            <a:avLst/>
          </a:prstGeom>
          <a:noFill/>
        </p:spPr>
        <p:txBody>
          <a:bodyPr wrap="square" rtlCol="0">
            <a:spAutoFit/>
          </a:bodyPr>
          <a:lstStyle/>
          <a:p>
            <a:pPr marL="457200" indent="-457200">
              <a:buFont typeface="Courier New" panose="02070309020205020404" pitchFamily="49" charset="0"/>
              <a:buChar char="o"/>
            </a:pPr>
            <a:r>
              <a:rPr lang="en-US" sz="3600" dirty="0">
                <a:solidFill>
                  <a:srgbClr val="7030A0"/>
                </a:solidFill>
              </a:rPr>
              <a:t>Lunch</a:t>
            </a:r>
          </a:p>
        </p:txBody>
      </p:sp>
      <p:sp>
        <p:nvSpPr>
          <p:cNvPr id="21" name="TextBox 20">
            <a:extLst>
              <a:ext uri="{FF2B5EF4-FFF2-40B4-BE49-F238E27FC236}">
                <a16:creationId xmlns:a16="http://schemas.microsoft.com/office/drawing/2014/main" id="{0C805A2D-4D16-AA71-569E-3C3124912355}"/>
              </a:ext>
            </a:extLst>
          </p:cNvPr>
          <p:cNvSpPr txBox="1"/>
          <p:nvPr/>
        </p:nvSpPr>
        <p:spPr>
          <a:xfrm>
            <a:off x="803675" y="5356459"/>
            <a:ext cx="5728800" cy="430887"/>
          </a:xfrm>
          <a:prstGeom prst="rect">
            <a:avLst/>
          </a:prstGeom>
          <a:noFill/>
        </p:spPr>
        <p:txBody>
          <a:bodyPr wrap="square" rtlCol="0">
            <a:spAutoFit/>
          </a:bodyPr>
          <a:lstStyle/>
          <a:p>
            <a:r>
              <a:rPr lang="en-US" sz="2200" dirty="0"/>
              <a:t>Inferential statistics: one-sample tests</a:t>
            </a:r>
          </a:p>
        </p:txBody>
      </p:sp>
      <p:sp>
        <p:nvSpPr>
          <p:cNvPr id="23" name="TextBox 22">
            <a:extLst>
              <a:ext uri="{FF2B5EF4-FFF2-40B4-BE49-F238E27FC236}">
                <a16:creationId xmlns:a16="http://schemas.microsoft.com/office/drawing/2014/main" id="{D152109C-09A3-26C0-B7FB-EBAD7C8ED8EA}"/>
              </a:ext>
            </a:extLst>
          </p:cNvPr>
          <p:cNvSpPr txBox="1"/>
          <p:nvPr/>
        </p:nvSpPr>
        <p:spPr>
          <a:xfrm>
            <a:off x="789749" y="5865462"/>
            <a:ext cx="5728800" cy="430887"/>
          </a:xfrm>
          <a:prstGeom prst="rect">
            <a:avLst/>
          </a:prstGeom>
          <a:noFill/>
        </p:spPr>
        <p:txBody>
          <a:bodyPr wrap="square" rtlCol="0">
            <a:spAutoFit/>
          </a:bodyPr>
          <a:lstStyle/>
          <a:p>
            <a:r>
              <a:rPr lang="en-US" sz="2200" dirty="0"/>
              <a:t>Inferential statistics: two-sample tests</a:t>
            </a:r>
          </a:p>
        </p:txBody>
      </p:sp>
      <p:cxnSp>
        <p:nvCxnSpPr>
          <p:cNvPr id="24" name="Straight Arrow Connector 23">
            <a:extLst>
              <a:ext uri="{FF2B5EF4-FFF2-40B4-BE49-F238E27FC236}">
                <a16:creationId xmlns:a16="http://schemas.microsoft.com/office/drawing/2014/main" id="{9908C38A-3116-97D0-85D2-8F17BC09E7F4}"/>
              </a:ext>
            </a:extLst>
          </p:cNvPr>
          <p:cNvCxnSpPr>
            <a:cxnSpLocks/>
          </p:cNvCxnSpPr>
          <p:nvPr/>
        </p:nvCxnSpPr>
        <p:spPr>
          <a:xfrm>
            <a:off x="5720861" y="5623196"/>
            <a:ext cx="4464000"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8E5504CD-BE51-916B-4807-DBA95F1B68C6}"/>
              </a:ext>
            </a:extLst>
          </p:cNvPr>
          <p:cNvSpPr txBox="1"/>
          <p:nvPr/>
        </p:nvSpPr>
        <p:spPr>
          <a:xfrm>
            <a:off x="10269414" y="5387969"/>
            <a:ext cx="1585147" cy="430887"/>
          </a:xfrm>
          <a:prstGeom prst="rect">
            <a:avLst/>
          </a:prstGeom>
          <a:noFill/>
        </p:spPr>
        <p:txBody>
          <a:bodyPr wrap="square" rtlCol="0">
            <a:spAutoFit/>
          </a:bodyPr>
          <a:lstStyle/>
          <a:p>
            <a:pPr algn="r"/>
            <a:r>
              <a:rPr lang="en-US" sz="2200" dirty="0"/>
              <a:t>Exercises</a:t>
            </a:r>
          </a:p>
        </p:txBody>
      </p:sp>
      <p:cxnSp>
        <p:nvCxnSpPr>
          <p:cNvPr id="27" name="Straight Arrow Connector 26">
            <a:extLst>
              <a:ext uri="{FF2B5EF4-FFF2-40B4-BE49-F238E27FC236}">
                <a16:creationId xmlns:a16="http://schemas.microsoft.com/office/drawing/2014/main" id="{6FDB1504-E46D-CEB4-149B-601F13D443F9}"/>
              </a:ext>
            </a:extLst>
          </p:cNvPr>
          <p:cNvCxnSpPr>
            <a:cxnSpLocks/>
          </p:cNvCxnSpPr>
          <p:nvPr/>
        </p:nvCxnSpPr>
        <p:spPr>
          <a:xfrm>
            <a:off x="5720861" y="6130159"/>
            <a:ext cx="4464000"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0B61C7F9-1159-8069-997A-A457E1930CB2}"/>
              </a:ext>
            </a:extLst>
          </p:cNvPr>
          <p:cNvSpPr txBox="1"/>
          <p:nvPr/>
        </p:nvSpPr>
        <p:spPr>
          <a:xfrm>
            <a:off x="10363200" y="5887379"/>
            <a:ext cx="1500883" cy="430887"/>
          </a:xfrm>
          <a:prstGeom prst="rect">
            <a:avLst/>
          </a:prstGeom>
          <a:noFill/>
        </p:spPr>
        <p:txBody>
          <a:bodyPr wrap="square" rtlCol="0">
            <a:spAutoFit/>
          </a:bodyPr>
          <a:lstStyle/>
          <a:p>
            <a:pPr algn="r"/>
            <a:r>
              <a:rPr lang="en-US" sz="2200" dirty="0"/>
              <a:t>Exercises</a:t>
            </a:r>
          </a:p>
        </p:txBody>
      </p:sp>
      <p:sp>
        <p:nvSpPr>
          <p:cNvPr id="30" name="TextBox 29">
            <a:extLst>
              <a:ext uri="{FF2B5EF4-FFF2-40B4-BE49-F238E27FC236}">
                <a16:creationId xmlns:a16="http://schemas.microsoft.com/office/drawing/2014/main" id="{3358CFBC-08F9-D566-F881-B473804B1777}"/>
              </a:ext>
            </a:extLst>
          </p:cNvPr>
          <p:cNvSpPr txBox="1"/>
          <p:nvPr/>
        </p:nvSpPr>
        <p:spPr>
          <a:xfrm>
            <a:off x="820769" y="3094725"/>
            <a:ext cx="5728800" cy="430887"/>
          </a:xfrm>
          <a:prstGeom prst="rect">
            <a:avLst/>
          </a:prstGeom>
          <a:noFill/>
        </p:spPr>
        <p:txBody>
          <a:bodyPr wrap="square" rtlCol="0">
            <a:spAutoFit/>
          </a:bodyPr>
          <a:lstStyle/>
          <a:p>
            <a:r>
              <a:rPr lang="en-US" sz="2200" dirty="0"/>
              <a:t>Inferential statistics: estimation</a:t>
            </a:r>
          </a:p>
        </p:txBody>
      </p:sp>
      <p:cxnSp>
        <p:nvCxnSpPr>
          <p:cNvPr id="31" name="Straight Arrow Connector 30">
            <a:extLst>
              <a:ext uri="{FF2B5EF4-FFF2-40B4-BE49-F238E27FC236}">
                <a16:creationId xmlns:a16="http://schemas.microsoft.com/office/drawing/2014/main" id="{288963F4-122C-1223-2242-3B5BEEF2A6DB}"/>
              </a:ext>
            </a:extLst>
          </p:cNvPr>
          <p:cNvCxnSpPr>
            <a:cxnSpLocks/>
          </p:cNvCxnSpPr>
          <p:nvPr/>
        </p:nvCxnSpPr>
        <p:spPr>
          <a:xfrm>
            <a:off x="4925104" y="3337918"/>
            <a:ext cx="5256000"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B503EDDD-9D34-3B80-617E-CA6F2EADF3AD}"/>
              </a:ext>
            </a:extLst>
          </p:cNvPr>
          <p:cNvSpPr txBox="1"/>
          <p:nvPr/>
        </p:nvSpPr>
        <p:spPr>
          <a:xfrm>
            <a:off x="10184450" y="3086326"/>
            <a:ext cx="1662994" cy="430887"/>
          </a:xfrm>
          <a:prstGeom prst="rect">
            <a:avLst/>
          </a:prstGeom>
          <a:noFill/>
        </p:spPr>
        <p:txBody>
          <a:bodyPr wrap="square" rtlCol="0">
            <a:spAutoFit/>
          </a:bodyPr>
          <a:lstStyle/>
          <a:p>
            <a:pPr algn="r"/>
            <a:r>
              <a:rPr lang="en-US" sz="2200" dirty="0"/>
              <a:t>Simulations</a:t>
            </a:r>
          </a:p>
        </p:txBody>
      </p:sp>
      <p:sp>
        <p:nvSpPr>
          <p:cNvPr id="34" name="Rounded Rectangle 33">
            <a:extLst>
              <a:ext uri="{FF2B5EF4-FFF2-40B4-BE49-F238E27FC236}">
                <a16:creationId xmlns:a16="http://schemas.microsoft.com/office/drawing/2014/main" id="{038A9116-71A0-4B31-4E7F-C7731BACCD07}"/>
              </a:ext>
            </a:extLst>
          </p:cNvPr>
          <p:cNvSpPr/>
          <p:nvPr/>
        </p:nvSpPr>
        <p:spPr>
          <a:xfrm>
            <a:off x="385939" y="2651458"/>
            <a:ext cx="305303" cy="29324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2200" dirty="0"/>
          </a:p>
        </p:txBody>
      </p:sp>
      <p:sp>
        <p:nvSpPr>
          <p:cNvPr id="35" name="Rounded Rectangle 34">
            <a:extLst>
              <a:ext uri="{FF2B5EF4-FFF2-40B4-BE49-F238E27FC236}">
                <a16:creationId xmlns:a16="http://schemas.microsoft.com/office/drawing/2014/main" id="{BEEDF081-AED0-D686-1E95-732A0195C2F4}"/>
              </a:ext>
            </a:extLst>
          </p:cNvPr>
          <p:cNvSpPr/>
          <p:nvPr/>
        </p:nvSpPr>
        <p:spPr>
          <a:xfrm>
            <a:off x="378820" y="5425838"/>
            <a:ext cx="305303" cy="29324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2200" dirty="0"/>
          </a:p>
        </p:txBody>
      </p:sp>
      <p:sp>
        <p:nvSpPr>
          <p:cNvPr id="36" name="Rounded Rectangle 35">
            <a:extLst>
              <a:ext uri="{FF2B5EF4-FFF2-40B4-BE49-F238E27FC236}">
                <a16:creationId xmlns:a16="http://schemas.microsoft.com/office/drawing/2014/main" id="{2A2C85F9-35EB-28FC-32DD-A5319939EF35}"/>
              </a:ext>
            </a:extLst>
          </p:cNvPr>
          <p:cNvSpPr/>
          <p:nvPr/>
        </p:nvSpPr>
        <p:spPr>
          <a:xfrm>
            <a:off x="374052" y="5937405"/>
            <a:ext cx="305303" cy="29324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2200" dirty="0"/>
          </a:p>
        </p:txBody>
      </p:sp>
      <p:sp>
        <p:nvSpPr>
          <p:cNvPr id="37" name="Rounded Rectangle 36">
            <a:extLst>
              <a:ext uri="{FF2B5EF4-FFF2-40B4-BE49-F238E27FC236}">
                <a16:creationId xmlns:a16="http://schemas.microsoft.com/office/drawing/2014/main" id="{75504D2B-F55B-B5D7-32D0-5BBF09AAC2E3}"/>
              </a:ext>
            </a:extLst>
          </p:cNvPr>
          <p:cNvSpPr/>
          <p:nvPr/>
        </p:nvSpPr>
        <p:spPr>
          <a:xfrm>
            <a:off x="385776" y="3166204"/>
            <a:ext cx="305303" cy="29324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2200" dirty="0"/>
          </a:p>
        </p:txBody>
      </p:sp>
      <p:sp>
        <p:nvSpPr>
          <p:cNvPr id="3" name="Rounded Rectangle 2">
            <a:extLst>
              <a:ext uri="{FF2B5EF4-FFF2-40B4-BE49-F238E27FC236}">
                <a16:creationId xmlns:a16="http://schemas.microsoft.com/office/drawing/2014/main" id="{89C383B7-918A-14B3-76C0-8EE2ED9B93DF}"/>
              </a:ext>
            </a:extLst>
          </p:cNvPr>
          <p:cNvSpPr/>
          <p:nvPr/>
        </p:nvSpPr>
        <p:spPr>
          <a:xfrm>
            <a:off x="390705" y="1597910"/>
            <a:ext cx="305303" cy="29324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2200" dirty="0"/>
          </a:p>
        </p:txBody>
      </p:sp>
      <p:sp>
        <p:nvSpPr>
          <p:cNvPr id="6" name="TextBox 5">
            <a:extLst>
              <a:ext uri="{FF2B5EF4-FFF2-40B4-BE49-F238E27FC236}">
                <a16:creationId xmlns:a16="http://schemas.microsoft.com/office/drawing/2014/main" id="{D0942FB1-5C4C-B976-054D-BF0EC7F4FB0D}"/>
              </a:ext>
            </a:extLst>
          </p:cNvPr>
          <p:cNvSpPr txBox="1"/>
          <p:nvPr/>
        </p:nvSpPr>
        <p:spPr>
          <a:xfrm>
            <a:off x="827803" y="1535119"/>
            <a:ext cx="8962949" cy="430887"/>
          </a:xfrm>
          <a:prstGeom prst="rect">
            <a:avLst/>
          </a:prstGeom>
          <a:noFill/>
        </p:spPr>
        <p:txBody>
          <a:bodyPr wrap="square" rtlCol="0">
            <a:spAutoFit/>
          </a:bodyPr>
          <a:lstStyle/>
          <a:p>
            <a:r>
              <a:rPr lang="en-US" sz="2200" dirty="0"/>
              <a:t>Basic concepts of Statistics</a:t>
            </a:r>
          </a:p>
        </p:txBody>
      </p:sp>
      <p:cxnSp>
        <p:nvCxnSpPr>
          <p:cNvPr id="10" name="Straight Arrow Connector 9">
            <a:extLst>
              <a:ext uri="{FF2B5EF4-FFF2-40B4-BE49-F238E27FC236}">
                <a16:creationId xmlns:a16="http://schemas.microsoft.com/office/drawing/2014/main" id="{A73269CA-6851-49DE-8EEB-BEAEFC360CC1}"/>
              </a:ext>
            </a:extLst>
          </p:cNvPr>
          <p:cNvCxnSpPr>
            <a:cxnSpLocks/>
          </p:cNvCxnSpPr>
          <p:nvPr/>
        </p:nvCxnSpPr>
        <p:spPr>
          <a:xfrm>
            <a:off x="4384429" y="1757008"/>
            <a:ext cx="5796000"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DAFED93-CF3C-90BB-6396-C66FA80D2808}"/>
              </a:ext>
            </a:extLst>
          </p:cNvPr>
          <p:cNvSpPr txBox="1"/>
          <p:nvPr/>
        </p:nvSpPr>
        <p:spPr>
          <a:xfrm>
            <a:off x="9900955" y="1510328"/>
            <a:ext cx="1935078" cy="430887"/>
          </a:xfrm>
          <a:prstGeom prst="rect">
            <a:avLst/>
          </a:prstGeom>
          <a:noFill/>
        </p:spPr>
        <p:txBody>
          <a:bodyPr wrap="square" rtlCol="0">
            <a:spAutoFit/>
          </a:bodyPr>
          <a:lstStyle/>
          <a:p>
            <a:pPr algn="r"/>
            <a:r>
              <a:rPr lang="en-US" sz="2200" dirty="0"/>
              <a:t>Exercises</a:t>
            </a:r>
          </a:p>
        </p:txBody>
      </p:sp>
      <p:sp>
        <p:nvSpPr>
          <p:cNvPr id="13" name="Rounded Rectangle 12">
            <a:extLst>
              <a:ext uri="{FF2B5EF4-FFF2-40B4-BE49-F238E27FC236}">
                <a16:creationId xmlns:a16="http://schemas.microsoft.com/office/drawing/2014/main" id="{885E8C2C-00A8-D23A-F68E-73F38083D047}"/>
              </a:ext>
            </a:extLst>
          </p:cNvPr>
          <p:cNvSpPr/>
          <p:nvPr/>
        </p:nvSpPr>
        <p:spPr>
          <a:xfrm>
            <a:off x="378983" y="4912762"/>
            <a:ext cx="305303" cy="29324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2200" dirty="0"/>
          </a:p>
        </p:txBody>
      </p:sp>
      <p:sp>
        <p:nvSpPr>
          <p:cNvPr id="15" name="TextBox 14">
            <a:extLst>
              <a:ext uri="{FF2B5EF4-FFF2-40B4-BE49-F238E27FC236}">
                <a16:creationId xmlns:a16="http://schemas.microsoft.com/office/drawing/2014/main" id="{EF629AC5-C2FF-4CBD-03E9-5277E3859EC0}"/>
              </a:ext>
            </a:extLst>
          </p:cNvPr>
          <p:cNvSpPr txBox="1"/>
          <p:nvPr/>
        </p:nvSpPr>
        <p:spPr>
          <a:xfrm>
            <a:off x="816081" y="4838248"/>
            <a:ext cx="8962949" cy="430887"/>
          </a:xfrm>
          <a:prstGeom prst="rect">
            <a:avLst/>
          </a:prstGeom>
          <a:noFill/>
        </p:spPr>
        <p:txBody>
          <a:bodyPr wrap="square" rtlCol="0">
            <a:spAutoFit/>
          </a:bodyPr>
          <a:lstStyle/>
          <a:p>
            <a:r>
              <a:rPr lang="en-US" sz="2200" dirty="0"/>
              <a:t>Inferential statistics: hypothesis testing</a:t>
            </a:r>
          </a:p>
        </p:txBody>
      </p:sp>
      <p:cxnSp>
        <p:nvCxnSpPr>
          <p:cNvPr id="16" name="Straight Arrow Connector 15">
            <a:extLst>
              <a:ext uri="{FF2B5EF4-FFF2-40B4-BE49-F238E27FC236}">
                <a16:creationId xmlns:a16="http://schemas.microsoft.com/office/drawing/2014/main" id="{72F6F33A-05E9-A83C-7D0E-8885129D721D}"/>
              </a:ext>
            </a:extLst>
          </p:cNvPr>
          <p:cNvCxnSpPr>
            <a:cxnSpLocks/>
          </p:cNvCxnSpPr>
          <p:nvPr/>
        </p:nvCxnSpPr>
        <p:spPr>
          <a:xfrm>
            <a:off x="5486399" y="5137592"/>
            <a:ext cx="4680000" cy="0"/>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1FB4DACB-A4FA-7B81-AEA8-D7330A7A24F8}"/>
              </a:ext>
            </a:extLst>
          </p:cNvPr>
          <p:cNvSpPr txBox="1"/>
          <p:nvPr/>
        </p:nvSpPr>
        <p:spPr>
          <a:xfrm>
            <a:off x="10152105" y="4883794"/>
            <a:ext cx="1695652" cy="430887"/>
          </a:xfrm>
          <a:prstGeom prst="rect">
            <a:avLst/>
          </a:prstGeom>
          <a:noFill/>
        </p:spPr>
        <p:txBody>
          <a:bodyPr wrap="square" rtlCol="0">
            <a:spAutoFit/>
          </a:bodyPr>
          <a:lstStyle/>
          <a:p>
            <a:pPr algn="r"/>
            <a:r>
              <a:rPr lang="en-US" sz="2200" dirty="0"/>
              <a:t>Exercises</a:t>
            </a:r>
          </a:p>
        </p:txBody>
      </p:sp>
      <p:sp>
        <p:nvSpPr>
          <p:cNvPr id="22" name="TextBox 21">
            <a:extLst>
              <a:ext uri="{FF2B5EF4-FFF2-40B4-BE49-F238E27FC236}">
                <a16:creationId xmlns:a16="http://schemas.microsoft.com/office/drawing/2014/main" id="{F792D570-A767-8454-E42F-06BEAB842644}"/>
              </a:ext>
            </a:extLst>
          </p:cNvPr>
          <p:cNvSpPr txBox="1"/>
          <p:nvPr/>
        </p:nvSpPr>
        <p:spPr>
          <a:xfrm>
            <a:off x="793294" y="6381548"/>
            <a:ext cx="5728800" cy="430887"/>
          </a:xfrm>
          <a:prstGeom prst="rect">
            <a:avLst/>
          </a:prstGeom>
          <a:noFill/>
        </p:spPr>
        <p:txBody>
          <a:bodyPr wrap="square" rtlCol="0">
            <a:spAutoFit/>
          </a:bodyPr>
          <a:lstStyle/>
          <a:p>
            <a:r>
              <a:rPr lang="en-US" sz="2200" dirty="0"/>
              <a:t>Group based exercises and discussion</a:t>
            </a:r>
          </a:p>
        </p:txBody>
      </p:sp>
      <p:sp>
        <p:nvSpPr>
          <p:cNvPr id="25" name="Rounded Rectangle 24">
            <a:extLst>
              <a:ext uri="{FF2B5EF4-FFF2-40B4-BE49-F238E27FC236}">
                <a16:creationId xmlns:a16="http://schemas.microsoft.com/office/drawing/2014/main" id="{0AB51E0E-1AC6-4A16-E210-D4867055BFD7}"/>
              </a:ext>
            </a:extLst>
          </p:cNvPr>
          <p:cNvSpPr/>
          <p:nvPr/>
        </p:nvSpPr>
        <p:spPr>
          <a:xfrm>
            <a:off x="377597" y="6453491"/>
            <a:ext cx="305303" cy="29324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2200" dirty="0"/>
          </a:p>
        </p:txBody>
      </p:sp>
    </p:spTree>
    <p:extLst>
      <p:ext uri="{BB962C8B-B14F-4D97-AF65-F5344CB8AC3E}">
        <p14:creationId xmlns:p14="http://schemas.microsoft.com/office/powerpoint/2010/main" val="38021354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CE6F6-4CDB-31ED-203C-E7CB4B40819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1EC0E30-7745-D092-0ECF-E3CDD3278186}"/>
              </a:ext>
            </a:extLst>
          </p:cNvPr>
          <p:cNvSpPr>
            <a:spLocks noGrp="1"/>
          </p:cNvSpPr>
          <p:nvPr>
            <p:ph type="title"/>
          </p:nvPr>
        </p:nvSpPr>
        <p:spPr>
          <a:xfrm>
            <a:off x="7289430" y="2395877"/>
            <a:ext cx="2752638" cy="569080"/>
          </a:xfrm>
        </p:spPr>
        <p:txBody>
          <a:bodyPr>
            <a:normAutofit fontScale="90000"/>
          </a:bodyPr>
          <a:lstStyle/>
          <a:p>
            <a:pPr algn="ctr"/>
            <a:r>
              <a:rPr lang="en-US" sz="3600" dirty="0"/>
              <a:t>Basic concepts of Statistics</a:t>
            </a:r>
          </a:p>
        </p:txBody>
      </p:sp>
      <p:sp>
        <p:nvSpPr>
          <p:cNvPr id="5" name="Text Placeholder 4">
            <a:extLst>
              <a:ext uri="{FF2B5EF4-FFF2-40B4-BE49-F238E27FC236}">
                <a16:creationId xmlns:a16="http://schemas.microsoft.com/office/drawing/2014/main" id="{A8EB9D9C-EB6E-E47C-E796-3486F93AA46D}"/>
              </a:ext>
            </a:extLst>
          </p:cNvPr>
          <p:cNvSpPr>
            <a:spLocks noGrp="1"/>
          </p:cNvSpPr>
          <p:nvPr>
            <p:ph type="body" sz="quarter" idx="22"/>
          </p:nvPr>
        </p:nvSpPr>
        <p:spPr>
          <a:xfrm>
            <a:off x="7920000" y="5328000"/>
            <a:ext cx="2098433" cy="569080"/>
          </a:xfrm>
        </p:spPr>
        <p:txBody>
          <a:bodyPr>
            <a:noAutofit/>
          </a:bodyPr>
          <a:lstStyle/>
          <a:p>
            <a:r>
              <a:rPr lang="en-US" sz="2500" dirty="0"/>
              <a:t>09.30 - 09.45</a:t>
            </a:r>
          </a:p>
        </p:txBody>
      </p:sp>
      <p:sp>
        <p:nvSpPr>
          <p:cNvPr id="10" name="TextBox 9">
            <a:extLst>
              <a:ext uri="{FF2B5EF4-FFF2-40B4-BE49-F238E27FC236}">
                <a16:creationId xmlns:a16="http://schemas.microsoft.com/office/drawing/2014/main" id="{33B97BE4-F627-E78F-1021-3891975C4618}"/>
              </a:ext>
            </a:extLst>
          </p:cNvPr>
          <p:cNvSpPr txBox="1"/>
          <p:nvPr/>
        </p:nvSpPr>
        <p:spPr>
          <a:xfrm>
            <a:off x="348342" y="1485898"/>
            <a:ext cx="3265714" cy="576000"/>
          </a:xfrm>
          <a:prstGeom prst="rect">
            <a:avLst/>
          </a:prstGeom>
          <a:noFill/>
        </p:spPr>
        <p:txBody>
          <a:bodyPr wrap="square" rtlCol="0">
            <a:spAutoFit/>
          </a:bodyPr>
          <a:lstStyle/>
          <a:p>
            <a:r>
              <a:rPr lang="en-US" sz="3100" dirty="0" err="1"/>
              <a:t>pvalue</a:t>
            </a:r>
            <a:endParaRPr lang="en-US" sz="3100" dirty="0"/>
          </a:p>
        </p:txBody>
      </p:sp>
      <p:sp>
        <p:nvSpPr>
          <p:cNvPr id="11" name="TextBox 10">
            <a:extLst>
              <a:ext uri="{FF2B5EF4-FFF2-40B4-BE49-F238E27FC236}">
                <a16:creationId xmlns:a16="http://schemas.microsoft.com/office/drawing/2014/main" id="{B8428244-9149-5F96-E2D1-F59920C5D08D}"/>
              </a:ext>
            </a:extLst>
          </p:cNvPr>
          <p:cNvSpPr txBox="1"/>
          <p:nvPr/>
        </p:nvSpPr>
        <p:spPr>
          <a:xfrm>
            <a:off x="1294682" y="2696715"/>
            <a:ext cx="3265714" cy="569387"/>
          </a:xfrm>
          <a:prstGeom prst="rect">
            <a:avLst/>
          </a:prstGeom>
          <a:noFill/>
        </p:spPr>
        <p:txBody>
          <a:bodyPr wrap="square" rtlCol="0">
            <a:spAutoFit/>
          </a:bodyPr>
          <a:lstStyle/>
          <a:p>
            <a:r>
              <a:rPr lang="en-US" sz="3100" dirty="0"/>
              <a:t>point estimation</a:t>
            </a:r>
          </a:p>
        </p:txBody>
      </p:sp>
      <p:sp>
        <p:nvSpPr>
          <p:cNvPr id="12" name="TextBox 11">
            <a:extLst>
              <a:ext uri="{FF2B5EF4-FFF2-40B4-BE49-F238E27FC236}">
                <a16:creationId xmlns:a16="http://schemas.microsoft.com/office/drawing/2014/main" id="{D3AFB8EE-7577-2779-FE03-D3165D8A7470}"/>
              </a:ext>
            </a:extLst>
          </p:cNvPr>
          <p:cNvSpPr txBox="1"/>
          <p:nvPr/>
        </p:nvSpPr>
        <p:spPr>
          <a:xfrm>
            <a:off x="859969" y="4394224"/>
            <a:ext cx="3265714" cy="569387"/>
          </a:xfrm>
          <a:prstGeom prst="rect">
            <a:avLst/>
          </a:prstGeom>
          <a:noFill/>
        </p:spPr>
        <p:txBody>
          <a:bodyPr wrap="square" rtlCol="0">
            <a:spAutoFit/>
          </a:bodyPr>
          <a:lstStyle/>
          <a:p>
            <a:r>
              <a:rPr lang="en-US" sz="3100" dirty="0"/>
              <a:t>hypothesis testing</a:t>
            </a:r>
          </a:p>
        </p:txBody>
      </p:sp>
      <p:sp>
        <p:nvSpPr>
          <p:cNvPr id="14" name="TextBox 13">
            <a:extLst>
              <a:ext uri="{FF2B5EF4-FFF2-40B4-BE49-F238E27FC236}">
                <a16:creationId xmlns:a16="http://schemas.microsoft.com/office/drawing/2014/main" id="{D3CE5D52-A4AE-3E22-E47F-F9A47C1CA28E}"/>
              </a:ext>
            </a:extLst>
          </p:cNvPr>
          <p:cNvSpPr txBox="1"/>
          <p:nvPr/>
        </p:nvSpPr>
        <p:spPr>
          <a:xfrm>
            <a:off x="348342" y="5227631"/>
            <a:ext cx="3265714" cy="569387"/>
          </a:xfrm>
          <a:prstGeom prst="rect">
            <a:avLst/>
          </a:prstGeom>
          <a:noFill/>
        </p:spPr>
        <p:txBody>
          <a:bodyPr wrap="square" rtlCol="0">
            <a:spAutoFit/>
          </a:bodyPr>
          <a:lstStyle/>
          <a:p>
            <a:r>
              <a:rPr lang="en-US" sz="3100" dirty="0"/>
              <a:t>likelihood</a:t>
            </a:r>
          </a:p>
        </p:txBody>
      </p:sp>
      <p:sp>
        <p:nvSpPr>
          <p:cNvPr id="15" name="TextBox 14">
            <a:extLst>
              <a:ext uri="{FF2B5EF4-FFF2-40B4-BE49-F238E27FC236}">
                <a16:creationId xmlns:a16="http://schemas.microsoft.com/office/drawing/2014/main" id="{7473E984-4F31-7AEB-A253-45EEE9BE5243}"/>
              </a:ext>
            </a:extLst>
          </p:cNvPr>
          <p:cNvSpPr txBox="1"/>
          <p:nvPr/>
        </p:nvSpPr>
        <p:spPr>
          <a:xfrm>
            <a:off x="2443842" y="5814730"/>
            <a:ext cx="3265714" cy="569387"/>
          </a:xfrm>
          <a:prstGeom prst="rect">
            <a:avLst/>
          </a:prstGeom>
          <a:noFill/>
        </p:spPr>
        <p:txBody>
          <a:bodyPr wrap="square" rtlCol="0">
            <a:spAutoFit/>
          </a:bodyPr>
          <a:lstStyle/>
          <a:p>
            <a:pPr algn="r"/>
            <a:r>
              <a:rPr lang="en-US" sz="3100" dirty="0"/>
              <a:t>probability</a:t>
            </a:r>
          </a:p>
        </p:txBody>
      </p:sp>
      <p:sp>
        <p:nvSpPr>
          <p:cNvPr id="16" name="TextBox 15">
            <a:extLst>
              <a:ext uri="{FF2B5EF4-FFF2-40B4-BE49-F238E27FC236}">
                <a16:creationId xmlns:a16="http://schemas.microsoft.com/office/drawing/2014/main" id="{B7031202-AA7D-8BCF-8F43-351E8E57729E}"/>
              </a:ext>
            </a:extLst>
          </p:cNvPr>
          <p:cNvSpPr txBox="1"/>
          <p:nvPr/>
        </p:nvSpPr>
        <p:spPr>
          <a:xfrm>
            <a:off x="1317171" y="850846"/>
            <a:ext cx="3265714" cy="569387"/>
          </a:xfrm>
          <a:prstGeom prst="rect">
            <a:avLst/>
          </a:prstGeom>
          <a:noFill/>
        </p:spPr>
        <p:txBody>
          <a:bodyPr wrap="square" rtlCol="0">
            <a:spAutoFit/>
          </a:bodyPr>
          <a:lstStyle/>
          <a:p>
            <a:pPr algn="ctr"/>
            <a:r>
              <a:rPr lang="en-US" sz="3100" dirty="0"/>
              <a:t>sample</a:t>
            </a:r>
          </a:p>
        </p:txBody>
      </p:sp>
      <p:sp>
        <p:nvSpPr>
          <p:cNvPr id="17" name="TextBox 16">
            <a:extLst>
              <a:ext uri="{FF2B5EF4-FFF2-40B4-BE49-F238E27FC236}">
                <a16:creationId xmlns:a16="http://schemas.microsoft.com/office/drawing/2014/main" id="{F7A7E2D7-1475-A5C4-7518-762B4F8F129A}"/>
              </a:ext>
            </a:extLst>
          </p:cNvPr>
          <p:cNvSpPr txBox="1"/>
          <p:nvPr/>
        </p:nvSpPr>
        <p:spPr>
          <a:xfrm>
            <a:off x="3086101" y="2083653"/>
            <a:ext cx="3265714" cy="569387"/>
          </a:xfrm>
          <a:prstGeom prst="rect">
            <a:avLst/>
          </a:prstGeom>
          <a:noFill/>
        </p:spPr>
        <p:txBody>
          <a:bodyPr wrap="square" rtlCol="0">
            <a:spAutoFit/>
          </a:bodyPr>
          <a:lstStyle/>
          <a:p>
            <a:pPr algn="r"/>
            <a:r>
              <a:rPr lang="en-US" sz="3100" dirty="0"/>
              <a:t>statistic</a:t>
            </a:r>
          </a:p>
        </p:txBody>
      </p:sp>
      <p:sp>
        <p:nvSpPr>
          <p:cNvPr id="18" name="TextBox 17">
            <a:extLst>
              <a:ext uri="{FF2B5EF4-FFF2-40B4-BE49-F238E27FC236}">
                <a16:creationId xmlns:a16="http://schemas.microsoft.com/office/drawing/2014/main" id="{8A1E27C8-4E94-D35B-9E0B-690A473C82CF}"/>
              </a:ext>
            </a:extLst>
          </p:cNvPr>
          <p:cNvSpPr txBox="1"/>
          <p:nvPr/>
        </p:nvSpPr>
        <p:spPr>
          <a:xfrm>
            <a:off x="2552700" y="3539181"/>
            <a:ext cx="3265714" cy="569387"/>
          </a:xfrm>
          <a:prstGeom prst="rect">
            <a:avLst/>
          </a:prstGeom>
          <a:noFill/>
        </p:spPr>
        <p:txBody>
          <a:bodyPr wrap="square" rtlCol="0">
            <a:spAutoFit/>
          </a:bodyPr>
          <a:lstStyle/>
          <a:p>
            <a:r>
              <a:rPr lang="en-US" sz="3100" dirty="0"/>
              <a:t>confidence interval</a:t>
            </a:r>
          </a:p>
        </p:txBody>
      </p:sp>
      <p:sp>
        <p:nvSpPr>
          <p:cNvPr id="19" name="TextBox 18">
            <a:extLst>
              <a:ext uri="{FF2B5EF4-FFF2-40B4-BE49-F238E27FC236}">
                <a16:creationId xmlns:a16="http://schemas.microsoft.com/office/drawing/2014/main" id="{147C8DDB-2336-1CCB-1C8A-56C7F461912A}"/>
              </a:ext>
            </a:extLst>
          </p:cNvPr>
          <p:cNvSpPr txBox="1"/>
          <p:nvPr/>
        </p:nvSpPr>
        <p:spPr>
          <a:xfrm>
            <a:off x="3202904" y="4973444"/>
            <a:ext cx="3265714" cy="569387"/>
          </a:xfrm>
          <a:prstGeom prst="rect">
            <a:avLst/>
          </a:prstGeom>
          <a:noFill/>
        </p:spPr>
        <p:txBody>
          <a:bodyPr wrap="square" rtlCol="0">
            <a:spAutoFit/>
          </a:bodyPr>
          <a:lstStyle/>
          <a:p>
            <a:pPr algn="r"/>
            <a:r>
              <a:rPr lang="en-US" sz="3100" dirty="0"/>
              <a:t>outlier</a:t>
            </a:r>
          </a:p>
        </p:txBody>
      </p:sp>
    </p:spTree>
    <p:extLst>
      <p:ext uri="{BB962C8B-B14F-4D97-AF65-F5344CB8AC3E}">
        <p14:creationId xmlns:p14="http://schemas.microsoft.com/office/powerpoint/2010/main" val="5965729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F4500AF-A60C-0DB1-B751-62F04E5657A3}"/>
              </a:ext>
            </a:extLst>
          </p:cNvPr>
          <p:cNvSpPr>
            <a:spLocks noGrp="1"/>
          </p:cNvSpPr>
          <p:nvPr>
            <p:ph type="ctrTitle"/>
          </p:nvPr>
        </p:nvSpPr>
        <p:spPr>
          <a:xfrm>
            <a:off x="32516" y="16648"/>
            <a:ext cx="12192000" cy="778999"/>
          </a:xfrm>
          <a:noFill/>
        </p:spPr>
        <p:txBody>
          <a:bodyPr>
            <a:noAutofit/>
          </a:bodyPr>
          <a:lstStyle/>
          <a:p>
            <a:pPr algn="l"/>
            <a:r>
              <a:rPr lang="en-US" sz="5000" b="1" dirty="0"/>
              <a:t>Random experiment</a:t>
            </a:r>
          </a:p>
        </p:txBody>
      </p:sp>
      <p:pic>
        <p:nvPicPr>
          <p:cNvPr id="1026" name="Picture 2" descr="Coin tosses are not 50/50: Researchers find a slight bias">
            <a:extLst>
              <a:ext uri="{FF2B5EF4-FFF2-40B4-BE49-F238E27FC236}">
                <a16:creationId xmlns:a16="http://schemas.microsoft.com/office/drawing/2014/main" id="{6773C335-1C31-76B4-26C3-D5775D8DEE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5335" y="972807"/>
            <a:ext cx="3118459" cy="207519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3D72D40-BDBD-878D-E5CE-09D9A7B12314}"/>
              </a:ext>
            </a:extLst>
          </p:cNvPr>
          <p:cNvSpPr txBox="1"/>
          <p:nvPr/>
        </p:nvSpPr>
        <p:spPr>
          <a:xfrm>
            <a:off x="3580753" y="1665620"/>
            <a:ext cx="7930890" cy="646331"/>
          </a:xfrm>
          <a:prstGeom prst="rect">
            <a:avLst/>
          </a:prstGeom>
          <a:noFill/>
        </p:spPr>
        <p:txBody>
          <a:bodyPr wrap="square" rtlCol="0">
            <a:spAutoFit/>
          </a:bodyPr>
          <a:lstStyle/>
          <a:p>
            <a:r>
              <a:rPr lang="en-US" sz="3600" dirty="0"/>
              <a:t>Tossing a coin 100 times</a:t>
            </a:r>
          </a:p>
        </p:txBody>
      </p:sp>
      <p:graphicFrame>
        <p:nvGraphicFramePr>
          <p:cNvPr id="9" name="Table 8">
            <a:extLst>
              <a:ext uri="{FF2B5EF4-FFF2-40B4-BE49-F238E27FC236}">
                <a16:creationId xmlns:a16="http://schemas.microsoft.com/office/drawing/2014/main" id="{B0008B75-EAB5-97F3-D9A1-5AE4BE1D9D1E}"/>
              </a:ext>
            </a:extLst>
          </p:cNvPr>
          <p:cNvGraphicFramePr>
            <a:graphicFrameLocks noGrp="1"/>
          </p:cNvGraphicFramePr>
          <p:nvPr>
            <p:extLst>
              <p:ext uri="{D42A27DB-BD31-4B8C-83A1-F6EECF244321}">
                <p14:modId xmlns:p14="http://schemas.microsoft.com/office/powerpoint/2010/main" val="2711151767"/>
              </p:ext>
            </p:extLst>
          </p:nvPr>
        </p:nvGraphicFramePr>
        <p:xfrm>
          <a:off x="1992086" y="5649686"/>
          <a:ext cx="8947157" cy="853440"/>
        </p:xfrm>
        <a:graphic>
          <a:graphicData uri="http://schemas.openxmlformats.org/drawingml/2006/table">
            <a:tbl>
              <a:tblPr firstRow="1" bandRow="1">
                <a:tableStyleId>{5C22544A-7EE6-4342-B048-85BDC9FD1C3A}</a:tableStyleId>
              </a:tblPr>
              <a:tblGrid>
                <a:gridCol w="1747157">
                  <a:extLst>
                    <a:ext uri="{9D8B030D-6E8A-4147-A177-3AD203B41FA5}">
                      <a16:colId xmlns:a16="http://schemas.microsoft.com/office/drawing/2014/main" val="1334009717"/>
                    </a:ext>
                  </a:extLst>
                </a:gridCol>
                <a:gridCol w="720000">
                  <a:extLst>
                    <a:ext uri="{9D8B030D-6E8A-4147-A177-3AD203B41FA5}">
                      <a16:colId xmlns:a16="http://schemas.microsoft.com/office/drawing/2014/main" val="975878847"/>
                    </a:ext>
                  </a:extLst>
                </a:gridCol>
                <a:gridCol w="720000">
                  <a:extLst>
                    <a:ext uri="{9D8B030D-6E8A-4147-A177-3AD203B41FA5}">
                      <a16:colId xmlns:a16="http://schemas.microsoft.com/office/drawing/2014/main" val="2960201875"/>
                    </a:ext>
                  </a:extLst>
                </a:gridCol>
                <a:gridCol w="720000">
                  <a:extLst>
                    <a:ext uri="{9D8B030D-6E8A-4147-A177-3AD203B41FA5}">
                      <a16:colId xmlns:a16="http://schemas.microsoft.com/office/drawing/2014/main" val="1675739616"/>
                    </a:ext>
                  </a:extLst>
                </a:gridCol>
                <a:gridCol w="720000">
                  <a:extLst>
                    <a:ext uri="{9D8B030D-6E8A-4147-A177-3AD203B41FA5}">
                      <a16:colId xmlns:a16="http://schemas.microsoft.com/office/drawing/2014/main" val="1235634162"/>
                    </a:ext>
                  </a:extLst>
                </a:gridCol>
                <a:gridCol w="720000">
                  <a:extLst>
                    <a:ext uri="{9D8B030D-6E8A-4147-A177-3AD203B41FA5}">
                      <a16:colId xmlns:a16="http://schemas.microsoft.com/office/drawing/2014/main" val="635926744"/>
                    </a:ext>
                  </a:extLst>
                </a:gridCol>
                <a:gridCol w="720000">
                  <a:extLst>
                    <a:ext uri="{9D8B030D-6E8A-4147-A177-3AD203B41FA5}">
                      <a16:colId xmlns:a16="http://schemas.microsoft.com/office/drawing/2014/main" val="183506653"/>
                    </a:ext>
                  </a:extLst>
                </a:gridCol>
                <a:gridCol w="720000">
                  <a:extLst>
                    <a:ext uri="{9D8B030D-6E8A-4147-A177-3AD203B41FA5}">
                      <a16:colId xmlns:a16="http://schemas.microsoft.com/office/drawing/2014/main" val="4115567859"/>
                    </a:ext>
                  </a:extLst>
                </a:gridCol>
                <a:gridCol w="720000">
                  <a:extLst>
                    <a:ext uri="{9D8B030D-6E8A-4147-A177-3AD203B41FA5}">
                      <a16:colId xmlns:a16="http://schemas.microsoft.com/office/drawing/2014/main" val="434145615"/>
                    </a:ext>
                  </a:extLst>
                </a:gridCol>
                <a:gridCol w="720000">
                  <a:extLst>
                    <a:ext uri="{9D8B030D-6E8A-4147-A177-3AD203B41FA5}">
                      <a16:colId xmlns:a16="http://schemas.microsoft.com/office/drawing/2014/main" val="3230653937"/>
                    </a:ext>
                  </a:extLst>
                </a:gridCol>
                <a:gridCol w="720000">
                  <a:extLst>
                    <a:ext uri="{9D8B030D-6E8A-4147-A177-3AD203B41FA5}">
                      <a16:colId xmlns:a16="http://schemas.microsoft.com/office/drawing/2014/main" val="1905848037"/>
                    </a:ext>
                  </a:extLst>
                </a:gridCol>
              </a:tblGrid>
              <a:tr h="242141">
                <a:tc>
                  <a:txBody>
                    <a:bodyPr/>
                    <a:lstStyle/>
                    <a:p>
                      <a:r>
                        <a:rPr lang="en-US" sz="2200" dirty="0">
                          <a:solidFill>
                            <a:schemeClr val="tx1"/>
                          </a:solidFill>
                        </a:rPr>
                        <a:t>Toss number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b="0" dirty="0">
                          <a:solidFill>
                            <a:schemeClr val="tx1"/>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b="0" dirty="0">
                          <a:solidFill>
                            <a:schemeClr val="tx1"/>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b="0" dirty="0">
                          <a:solidFill>
                            <a:schemeClr val="tx1"/>
                          </a:solidFil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b="0" dirty="0">
                          <a:solidFill>
                            <a:schemeClr val="tx1"/>
                          </a:solidFil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b="0" dirty="0">
                          <a:solidFill>
                            <a:schemeClr val="tx1"/>
                          </a:solidFil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b="0" dirty="0">
                          <a:solidFill>
                            <a:schemeClr val="tx1"/>
                          </a:solidFil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b="0" dirty="0">
                          <a:solidFill>
                            <a:schemeClr val="tx1"/>
                          </a:solidFil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b="0" dirty="0">
                          <a:solidFill>
                            <a:schemeClr val="tx1"/>
                          </a:solidFill>
                        </a:rPr>
                        <a:t>99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b="0" dirty="0">
                          <a:solidFill>
                            <a:schemeClr val="tx1"/>
                          </a:solidFill>
                        </a:rPr>
                        <a:t>100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83762538"/>
                  </a:ext>
                </a:extLst>
              </a:tr>
              <a:tr h="370840">
                <a:tc>
                  <a:txBody>
                    <a:bodyPr/>
                    <a:lstStyle/>
                    <a:p>
                      <a:r>
                        <a:rPr lang="en-US" sz="2200" b="1" dirty="0"/>
                        <a:t>Result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dirty="0"/>
                        <a:t>H</a:t>
                      </a: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dirty="0"/>
                        <a:t>T</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dirty="0"/>
                        <a:t>T</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b="0" dirty="0">
                          <a:solidFill>
                            <a:schemeClr val="tx1"/>
                          </a:solidFill>
                        </a:rPr>
                        <a:t>…</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b="0" dirty="0">
                          <a:solidFill>
                            <a:schemeClr val="tx1"/>
                          </a:solidFill>
                        </a:rPr>
                        <a:t>…</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b="0" dirty="0">
                          <a:solidFill>
                            <a:schemeClr val="tx1"/>
                          </a:solidFill>
                        </a:rPr>
                        <a:t>…</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b="0" dirty="0">
                          <a:solidFill>
                            <a:schemeClr val="tx1"/>
                          </a:solidFill>
                        </a:rPr>
                        <a:t>…</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b="0" dirty="0">
                          <a:solidFill>
                            <a:schemeClr val="tx1"/>
                          </a:solidFill>
                        </a:rPr>
                        <a:t>…</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b="0" dirty="0">
                          <a:solidFill>
                            <a:schemeClr val="tx1"/>
                          </a:solidFill>
                        </a:rPr>
                        <a:t>H</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b="0" dirty="0">
                          <a:solidFill>
                            <a:schemeClr val="tx1"/>
                          </a:solidFill>
                        </a:rPr>
                        <a:t>T</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76858902"/>
                  </a:ext>
                </a:extLst>
              </a:tr>
            </a:tbl>
          </a:graphicData>
        </a:graphic>
      </p:graphicFrame>
      <p:sp>
        <p:nvSpPr>
          <p:cNvPr id="10" name="TextBox 9">
            <a:extLst>
              <a:ext uri="{FF2B5EF4-FFF2-40B4-BE49-F238E27FC236}">
                <a16:creationId xmlns:a16="http://schemas.microsoft.com/office/drawing/2014/main" id="{736C037B-BB7E-F80E-0511-A2A37E0500B3}"/>
              </a:ext>
            </a:extLst>
          </p:cNvPr>
          <p:cNvSpPr txBox="1"/>
          <p:nvPr/>
        </p:nvSpPr>
        <p:spPr>
          <a:xfrm>
            <a:off x="201523" y="5670622"/>
            <a:ext cx="1187999" cy="646331"/>
          </a:xfrm>
          <a:prstGeom prst="rect">
            <a:avLst/>
          </a:prstGeom>
          <a:noFill/>
        </p:spPr>
        <p:txBody>
          <a:bodyPr wrap="square" rtlCol="0">
            <a:spAutoFit/>
          </a:bodyPr>
          <a:lstStyle/>
          <a:p>
            <a:r>
              <a:rPr lang="en-US" sz="3600" b="1" dirty="0"/>
              <a:t>Data</a:t>
            </a:r>
          </a:p>
        </p:txBody>
      </p:sp>
      <p:cxnSp>
        <p:nvCxnSpPr>
          <p:cNvPr id="12" name="Straight Arrow Connector 11">
            <a:extLst>
              <a:ext uri="{FF2B5EF4-FFF2-40B4-BE49-F238E27FC236}">
                <a16:creationId xmlns:a16="http://schemas.microsoft.com/office/drawing/2014/main" id="{0B0D1683-20CE-E045-ECC4-21A47607F169}"/>
              </a:ext>
            </a:extLst>
          </p:cNvPr>
          <p:cNvCxnSpPr>
            <a:cxnSpLocks/>
          </p:cNvCxnSpPr>
          <p:nvPr/>
        </p:nvCxnSpPr>
        <p:spPr>
          <a:xfrm>
            <a:off x="1280750" y="6047847"/>
            <a:ext cx="648000" cy="0"/>
          </a:xfrm>
          <a:prstGeom prst="straightConnector1">
            <a:avLst/>
          </a:prstGeom>
          <a:ln w="28575">
            <a:prstDash val="sysDot"/>
            <a:tailEnd type="triangle"/>
          </a:ln>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95AE083F-05EA-81E4-1FCA-222B9A832DF1}"/>
              </a:ext>
            </a:extLst>
          </p:cNvPr>
          <p:cNvSpPr txBox="1"/>
          <p:nvPr/>
        </p:nvSpPr>
        <p:spPr>
          <a:xfrm>
            <a:off x="174306" y="3569679"/>
            <a:ext cx="4609964" cy="646331"/>
          </a:xfrm>
          <a:prstGeom prst="rect">
            <a:avLst/>
          </a:prstGeom>
          <a:noFill/>
        </p:spPr>
        <p:txBody>
          <a:bodyPr wrap="square" rtlCol="0">
            <a:spAutoFit/>
          </a:bodyPr>
          <a:lstStyle/>
          <a:p>
            <a:r>
              <a:rPr lang="en-US" sz="3600" b="1" dirty="0"/>
              <a:t>Model generating data</a:t>
            </a:r>
          </a:p>
        </p:txBody>
      </p:sp>
      <p:cxnSp>
        <p:nvCxnSpPr>
          <p:cNvPr id="18" name="Straight Arrow Connector 17">
            <a:extLst>
              <a:ext uri="{FF2B5EF4-FFF2-40B4-BE49-F238E27FC236}">
                <a16:creationId xmlns:a16="http://schemas.microsoft.com/office/drawing/2014/main" id="{E99C7283-A13B-2F09-6046-F37371D03A34}"/>
              </a:ext>
            </a:extLst>
          </p:cNvPr>
          <p:cNvCxnSpPr>
            <a:cxnSpLocks/>
          </p:cNvCxnSpPr>
          <p:nvPr/>
        </p:nvCxnSpPr>
        <p:spPr>
          <a:xfrm>
            <a:off x="4666207" y="3930575"/>
            <a:ext cx="648000" cy="0"/>
          </a:xfrm>
          <a:prstGeom prst="straightConnector1">
            <a:avLst/>
          </a:prstGeom>
          <a:ln w="28575">
            <a:prstDash val="sysDot"/>
            <a:tailEnd type="triangle"/>
          </a:ln>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97C68BED-AAC6-792B-9816-319D532CB5BD}"/>
              </a:ext>
            </a:extLst>
          </p:cNvPr>
          <p:cNvSpPr txBox="1"/>
          <p:nvPr/>
        </p:nvSpPr>
        <p:spPr>
          <a:xfrm>
            <a:off x="5470068" y="3396344"/>
            <a:ext cx="5420187" cy="1015663"/>
          </a:xfrm>
          <a:prstGeom prst="rect">
            <a:avLst/>
          </a:prstGeom>
          <a:noFill/>
          <a:ln>
            <a:solidFill>
              <a:schemeClr val="dk1"/>
            </a:solidFill>
          </a:ln>
        </p:spPr>
        <p:txBody>
          <a:bodyPr wrap="square" rtlCol="0">
            <a:spAutoFit/>
          </a:bodyPr>
          <a:lstStyle/>
          <a:p>
            <a:r>
              <a:rPr lang="en-US" sz="3000" dirty="0"/>
              <a:t>H = </a:t>
            </a:r>
            <a:r>
              <a:rPr lang="en-US" sz="3000" b="1" dirty="0">
                <a:solidFill>
                  <a:srgbClr val="00B050"/>
                </a:solidFill>
              </a:rPr>
              <a:t>p</a:t>
            </a:r>
          </a:p>
          <a:p>
            <a:r>
              <a:rPr lang="en-US" sz="3000" dirty="0"/>
              <a:t>T = 1 - </a:t>
            </a:r>
            <a:r>
              <a:rPr lang="en-US" sz="3000" b="1" dirty="0">
                <a:solidFill>
                  <a:srgbClr val="00B050"/>
                </a:solidFill>
              </a:rPr>
              <a:t>p</a:t>
            </a:r>
          </a:p>
        </p:txBody>
      </p:sp>
      <p:sp>
        <p:nvSpPr>
          <p:cNvPr id="21" name="TextBox 20">
            <a:extLst>
              <a:ext uri="{FF2B5EF4-FFF2-40B4-BE49-F238E27FC236}">
                <a16:creationId xmlns:a16="http://schemas.microsoft.com/office/drawing/2014/main" id="{84A29573-41F6-F4BF-BB5C-5A04CBF15B2C}"/>
              </a:ext>
            </a:extLst>
          </p:cNvPr>
          <p:cNvSpPr txBox="1"/>
          <p:nvPr/>
        </p:nvSpPr>
        <p:spPr>
          <a:xfrm>
            <a:off x="8664497" y="4431797"/>
            <a:ext cx="2253793" cy="553998"/>
          </a:xfrm>
          <a:prstGeom prst="rect">
            <a:avLst/>
          </a:prstGeom>
          <a:noFill/>
        </p:spPr>
        <p:txBody>
          <a:bodyPr wrap="square" rtlCol="0">
            <a:spAutoFit/>
          </a:bodyPr>
          <a:lstStyle/>
          <a:p>
            <a:pPr algn="r"/>
            <a:r>
              <a:rPr lang="en-US" sz="3000" b="1" dirty="0">
                <a:solidFill>
                  <a:srgbClr val="00B050"/>
                </a:solidFill>
              </a:rPr>
              <a:t>Parameter</a:t>
            </a:r>
          </a:p>
        </p:txBody>
      </p:sp>
      <p:cxnSp>
        <p:nvCxnSpPr>
          <p:cNvPr id="3" name="Elbow Connector 2">
            <a:extLst>
              <a:ext uri="{FF2B5EF4-FFF2-40B4-BE49-F238E27FC236}">
                <a16:creationId xmlns:a16="http://schemas.microsoft.com/office/drawing/2014/main" id="{70372DEB-48DA-A1B1-87B3-17B2F3F1297F}"/>
              </a:ext>
            </a:extLst>
          </p:cNvPr>
          <p:cNvCxnSpPr>
            <a:cxnSpLocks/>
          </p:cNvCxnSpPr>
          <p:nvPr/>
        </p:nvCxnSpPr>
        <p:spPr>
          <a:xfrm rot="10800000">
            <a:off x="6435978" y="3704677"/>
            <a:ext cx="2602515" cy="1008000"/>
          </a:xfrm>
          <a:prstGeom prst="bentConnector3">
            <a:avLst/>
          </a:prstGeom>
          <a:ln w="1905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70840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descr="A graph of a number of heads&#10;&#10;AI-generated content may be incorrect.">
            <a:extLst>
              <a:ext uri="{FF2B5EF4-FFF2-40B4-BE49-F238E27FC236}">
                <a16:creationId xmlns:a16="http://schemas.microsoft.com/office/drawing/2014/main" id="{EA4A13B9-19ED-F11B-D1FC-4832418C8BD7}"/>
              </a:ext>
            </a:extLst>
          </p:cNvPr>
          <p:cNvPicPr>
            <a:picLocks noChangeAspect="1"/>
          </p:cNvPicPr>
          <p:nvPr/>
        </p:nvPicPr>
        <p:blipFill>
          <a:blip r:embed="rId2"/>
          <a:stretch>
            <a:fillRect/>
          </a:stretch>
        </p:blipFill>
        <p:spPr>
          <a:xfrm>
            <a:off x="1099467" y="1270908"/>
            <a:ext cx="4882243" cy="4882243"/>
          </a:xfrm>
          <a:prstGeom prst="rect">
            <a:avLst/>
          </a:prstGeom>
        </p:spPr>
      </p:pic>
      <p:sp>
        <p:nvSpPr>
          <p:cNvPr id="4" name="Title 1">
            <a:extLst>
              <a:ext uri="{FF2B5EF4-FFF2-40B4-BE49-F238E27FC236}">
                <a16:creationId xmlns:a16="http://schemas.microsoft.com/office/drawing/2014/main" id="{5559F66C-3B33-9B48-1DFF-A1E37DF45EF3}"/>
              </a:ext>
            </a:extLst>
          </p:cNvPr>
          <p:cNvSpPr txBox="1">
            <a:spLocks/>
          </p:cNvSpPr>
          <p:nvPr/>
        </p:nvSpPr>
        <p:spPr>
          <a:xfrm>
            <a:off x="32516" y="16648"/>
            <a:ext cx="12192000" cy="778999"/>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Components of a statistical model</a:t>
            </a:r>
          </a:p>
        </p:txBody>
      </p:sp>
      <p:cxnSp>
        <p:nvCxnSpPr>
          <p:cNvPr id="9" name="Elbow Connector 8">
            <a:extLst>
              <a:ext uri="{FF2B5EF4-FFF2-40B4-BE49-F238E27FC236}">
                <a16:creationId xmlns:a16="http://schemas.microsoft.com/office/drawing/2014/main" id="{B7C25E24-A063-1BAE-C6F0-D53CF161AC1F}"/>
              </a:ext>
            </a:extLst>
          </p:cNvPr>
          <p:cNvCxnSpPr>
            <a:cxnSpLocks/>
          </p:cNvCxnSpPr>
          <p:nvPr/>
        </p:nvCxnSpPr>
        <p:spPr>
          <a:xfrm rot="10800000">
            <a:off x="4459685" y="1534892"/>
            <a:ext cx="1620000" cy="1583867"/>
          </a:xfrm>
          <a:prstGeom prst="bentConnector3">
            <a:avLst/>
          </a:prstGeom>
          <a:ln w="25400">
            <a:solidFill>
              <a:schemeClr val="accent1"/>
            </a:solidFill>
            <a:headEnd type="oval"/>
            <a:tailEnd type="triangle"/>
          </a:ln>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7431EF5D-11C2-C35A-59F3-ADDA2F99A516}"/>
              </a:ext>
            </a:extLst>
          </p:cNvPr>
          <p:cNvSpPr txBox="1"/>
          <p:nvPr/>
        </p:nvSpPr>
        <p:spPr>
          <a:xfrm>
            <a:off x="6242971" y="2796765"/>
            <a:ext cx="5366655" cy="2308324"/>
          </a:xfrm>
          <a:prstGeom prst="rect">
            <a:avLst/>
          </a:prstGeom>
          <a:noFill/>
        </p:spPr>
        <p:txBody>
          <a:bodyPr wrap="square" rtlCol="0">
            <a:spAutoFit/>
          </a:bodyPr>
          <a:lstStyle/>
          <a:p>
            <a:r>
              <a:rPr lang="en-US" sz="3600" dirty="0">
                <a:solidFill>
                  <a:schemeClr val="accent1"/>
                </a:solidFill>
              </a:rPr>
              <a:t>systematic</a:t>
            </a:r>
            <a:r>
              <a:rPr lang="en-US" sz="3600" dirty="0"/>
              <a:t> and </a:t>
            </a:r>
          </a:p>
          <a:p>
            <a:r>
              <a:rPr lang="en-US" sz="3600" dirty="0">
                <a:solidFill>
                  <a:schemeClr val="accent4">
                    <a:lumMod val="75000"/>
                  </a:schemeClr>
                </a:solidFill>
              </a:rPr>
              <a:t>random</a:t>
            </a:r>
            <a:r>
              <a:rPr lang="en-US" sz="3600" dirty="0"/>
              <a:t> (</a:t>
            </a:r>
            <a:r>
              <a:rPr lang="en-US" sz="3600" i="1" dirty="0"/>
              <a:t>unpredictable</a:t>
            </a:r>
            <a:r>
              <a:rPr lang="en-US" sz="3600" dirty="0"/>
              <a:t>) components of a statistical model</a:t>
            </a:r>
          </a:p>
        </p:txBody>
      </p:sp>
      <p:cxnSp>
        <p:nvCxnSpPr>
          <p:cNvPr id="17" name="Elbow Connector 16">
            <a:extLst>
              <a:ext uri="{FF2B5EF4-FFF2-40B4-BE49-F238E27FC236}">
                <a16:creationId xmlns:a16="http://schemas.microsoft.com/office/drawing/2014/main" id="{B4ADF18F-F94F-52E3-B13E-35BFFDF25C97}"/>
              </a:ext>
            </a:extLst>
          </p:cNvPr>
          <p:cNvCxnSpPr>
            <a:cxnSpLocks/>
          </p:cNvCxnSpPr>
          <p:nvPr/>
        </p:nvCxnSpPr>
        <p:spPr>
          <a:xfrm rot="10800000">
            <a:off x="4474045" y="3712030"/>
            <a:ext cx="1605639" cy="0"/>
          </a:xfrm>
          <a:prstGeom prst="bentConnector3">
            <a:avLst/>
          </a:prstGeom>
          <a:ln w="25400">
            <a:solidFill>
              <a:schemeClr val="accent4">
                <a:lumMod val="75000"/>
              </a:schemeClr>
            </a:solidFill>
            <a:headEnd type="ova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74515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15718-E375-663C-50EC-9E7470A87F59}"/>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0A1817E6-80B9-B108-77C4-BFAE2B9BF601}"/>
              </a:ext>
            </a:extLst>
          </p:cNvPr>
          <p:cNvSpPr txBox="1">
            <a:spLocks/>
          </p:cNvSpPr>
          <p:nvPr/>
        </p:nvSpPr>
        <p:spPr>
          <a:xfrm>
            <a:off x="32652" y="7154"/>
            <a:ext cx="12034157" cy="778999"/>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700" b="1" dirty="0"/>
              <a:t>Parametric, nonparametric and robust statistics</a:t>
            </a:r>
          </a:p>
        </p:txBody>
      </p:sp>
      <p:pic>
        <p:nvPicPr>
          <p:cNvPr id="4" name="Picture 3">
            <a:extLst>
              <a:ext uri="{FF2B5EF4-FFF2-40B4-BE49-F238E27FC236}">
                <a16:creationId xmlns:a16="http://schemas.microsoft.com/office/drawing/2014/main" id="{CF85BC24-71BC-388D-EE0C-25264F4C08AF}"/>
              </a:ext>
            </a:extLst>
          </p:cNvPr>
          <p:cNvPicPr>
            <a:picLocks noChangeAspect="1"/>
          </p:cNvPicPr>
          <p:nvPr/>
        </p:nvPicPr>
        <p:blipFill>
          <a:blip r:embed="rId2"/>
          <a:stretch>
            <a:fillRect/>
          </a:stretch>
        </p:blipFill>
        <p:spPr>
          <a:xfrm>
            <a:off x="1301055" y="802482"/>
            <a:ext cx="9703404" cy="3407301"/>
          </a:xfrm>
          <a:prstGeom prst="rect">
            <a:avLst/>
          </a:prstGeom>
        </p:spPr>
      </p:pic>
      <p:sp>
        <p:nvSpPr>
          <p:cNvPr id="5" name="TextBox 4">
            <a:extLst>
              <a:ext uri="{FF2B5EF4-FFF2-40B4-BE49-F238E27FC236}">
                <a16:creationId xmlns:a16="http://schemas.microsoft.com/office/drawing/2014/main" id="{DF5CF9BD-6C1F-FD7A-37F0-5BA3DFD518D1}"/>
              </a:ext>
            </a:extLst>
          </p:cNvPr>
          <p:cNvSpPr txBox="1"/>
          <p:nvPr/>
        </p:nvSpPr>
        <p:spPr>
          <a:xfrm>
            <a:off x="0" y="6201379"/>
            <a:ext cx="8463515" cy="661720"/>
          </a:xfrm>
          <a:prstGeom prst="rect">
            <a:avLst/>
          </a:prstGeom>
          <a:noFill/>
        </p:spPr>
        <p:txBody>
          <a:bodyPr wrap="square" rtlCol="0">
            <a:spAutoFit/>
          </a:bodyPr>
          <a:lstStyle/>
          <a:p>
            <a:r>
              <a:rPr lang="en-US" sz="1850" dirty="0"/>
              <a:t>E</a:t>
            </a:r>
            <a:r>
              <a:rPr lang="en-GB" sz="1850" dirty="0"/>
              <a:t>Hampel FR, Ronchetti E, </a:t>
            </a:r>
            <a:r>
              <a:rPr lang="en-GB" sz="1850" dirty="0" err="1"/>
              <a:t>Rousseeuw</a:t>
            </a:r>
            <a:r>
              <a:rPr lang="en-GB" sz="1850" dirty="0"/>
              <a:t> PJ, Stahel WA. </a:t>
            </a:r>
          </a:p>
          <a:p>
            <a:r>
              <a:rPr lang="en-GB" sz="1850" i="1" dirty="0"/>
              <a:t>Robust Statistics: The Approach Based on Influence Functions</a:t>
            </a:r>
            <a:r>
              <a:rPr lang="en-GB" sz="1850" dirty="0"/>
              <a:t>. New York: Wiley; 1986.</a:t>
            </a:r>
          </a:p>
        </p:txBody>
      </p:sp>
      <p:sp>
        <p:nvSpPr>
          <p:cNvPr id="6" name="TextBox 5">
            <a:extLst>
              <a:ext uri="{FF2B5EF4-FFF2-40B4-BE49-F238E27FC236}">
                <a16:creationId xmlns:a16="http://schemas.microsoft.com/office/drawing/2014/main" id="{54DE7334-52DB-BD80-D8D8-2C096C6A2E93}"/>
              </a:ext>
            </a:extLst>
          </p:cNvPr>
          <p:cNvSpPr txBox="1"/>
          <p:nvPr/>
        </p:nvSpPr>
        <p:spPr>
          <a:xfrm>
            <a:off x="1318177" y="4388617"/>
            <a:ext cx="3086100" cy="1261884"/>
          </a:xfrm>
          <a:prstGeom prst="rect">
            <a:avLst/>
          </a:prstGeom>
          <a:noFill/>
          <a:ln>
            <a:solidFill>
              <a:schemeClr val="bg1"/>
            </a:solidFill>
          </a:ln>
        </p:spPr>
        <p:txBody>
          <a:bodyPr wrap="square" rtlCol="0">
            <a:spAutoFit/>
          </a:bodyPr>
          <a:lstStyle/>
          <a:p>
            <a:pPr algn="ctr"/>
            <a:r>
              <a:rPr lang="en-US" sz="1900" dirty="0"/>
              <a:t>allows </a:t>
            </a:r>
            <a:r>
              <a:rPr lang="en-US" sz="1900" dirty="0">
                <a:solidFill>
                  <a:schemeClr val="accent6">
                    <a:lumMod val="50000"/>
                  </a:schemeClr>
                </a:solidFill>
              </a:rPr>
              <a:t>all possible statistical models </a:t>
            </a:r>
            <a:r>
              <a:rPr lang="en-US" sz="1900" dirty="0"/>
              <a:t>and </a:t>
            </a:r>
            <a:r>
              <a:rPr lang="en-US" sz="1900" dirty="0">
                <a:solidFill>
                  <a:srgbClr val="FF0000"/>
                </a:solidFill>
              </a:rPr>
              <a:t>reduces the ignorance about them only by one or a few dimensions</a:t>
            </a:r>
          </a:p>
        </p:txBody>
      </p:sp>
      <p:sp>
        <p:nvSpPr>
          <p:cNvPr id="7" name="TextBox 6">
            <a:extLst>
              <a:ext uri="{FF2B5EF4-FFF2-40B4-BE49-F238E27FC236}">
                <a16:creationId xmlns:a16="http://schemas.microsoft.com/office/drawing/2014/main" id="{4DC83DFD-7D9F-9CA8-5A0C-B0060BDE43F3}"/>
              </a:ext>
            </a:extLst>
          </p:cNvPr>
          <p:cNvSpPr txBox="1"/>
          <p:nvPr/>
        </p:nvSpPr>
        <p:spPr>
          <a:xfrm>
            <a:off x="4732564" y="4388616"/>
            <a:ext cx="3086100" cy="1261884"/>
          </a:xfrm>
          <a:prstGeom prst="rect">
            <a:avLst/>
          </a:prstGeom>
          <a:noFill/>
          <a:ln>
            <a:solidFill>
              <a:schemeClr val="bg1"/>
            </a:solidFill>
          </a:ln>
        </p:spPr>
        <p:txBody>
          <a:bodyPr wrap="square" rtlCol="0">
            <a:spAutoFit/>
          </a:bodyPr>
          <a:lstStyle/>
          <a:p>
            <a:pPr algn="ctr"/>
            <a:r>
              <a:rPr lang="en-US" sz="1900" dirty="0"/>
              <a:t>allows </a:t>
            </a:r>
            <a:r>
              <a:rPr lang="en-US" sz="1900" dirty="0">
                <a:solidFill>
                  <a:srgbClr val="FF0000"/>
                </a:solidFill>
              </a:rPr>
              <a:t>only a very thin subset of all statistical models</a:t>
            </a:r>
            <a:r>
              <a:rPr lang="en-US" sz="1900" dirty="0"/>
              <a:t>, but </a:t>
            </a:r>
            <a:r>
              <a:rPr lang="en-US" sz="1900" dirty="0">
                <a:solidFill>
                  <a:schemeClr val="accent6">
                    <a:lumMod val="50000"/>
                  </a:schemeClr>
                </a:solidFill>
              </a:rPr>
              <a:t>information is completely captured </a:t>
            </a:r>
            <a:r>
              <a:rPr lang="en-US" sz="1900" dirty="0"/>
              <a:t>by few parameters</a:t>
            </a:r>
          </a:p>
        </p:txBody>
      </p:sp>
      <p:sp>
        <p:nvSpPr>
          <p:cNvPr id="8" name="TextBox 7">
            <a:extLst>
              <a:ext uri="{FF2B5EF4-FFF2-40B4-BE49-F238E27FC236}">
                <a16:creationId xmlns:a16="http://schemas.microsoft.com/office/drawing/2014/main" id="{010F7936-AEEF-E4D0-F57E-50A65F74C83E}"/>
              </a:ext>
            </a:extLst>
          </p:cNvPr>
          <p:cNvSpPr txBox="1"/>
          <p:nvPr/>
        </p:nvSpPr>
        <p:spPr>
          <a:xfrm>
            <a:off x="8020056" y="4394058"/>
            <a:ext cx="3086100" cy="2139047"/>
          </a:xfrm>
          <a:prstGeom prst="rect">
            <a:avLst/>
          </a:prstGeom>
          <a:noFill/>
          <a:ln>
            <a:solidFill>
              <a:schemeClr val="bg1"/>
            </a:solidFill>
          </a:ln>
        </p:spPr>
        <p:txBody>
          <a:bodyPr wrap="square" rtlCol="0">
            <a:spAutoFit/>
          </a:bodyPr>
          <a:lstStyle/>
          <a:p>
            <a:pPr algn="ctr"/>
            <a:r>
              <a:rPr lang="en-US" sz="1900" dirty="0"/>
              <a:t>allows </a:t>
            </a:r>
            <a:r>
              <a:rPr lang="en-GB" sz="1900" dirty="0">
                <a:solidFill>
                  <a:schemeClr val="accent6">
                    <a:lumMod val="50000"/>
                  </a:schemeClr>
                </a:solidFill>
              </a:rPr>
              <a:t>a full (namely </a:t>
            </a:r>
            <a:r>
              <a:rPr lang="en-GB" sz="1900" dirty="0" err="1">
                <a:solidFill>
                  <a:schemeClr val="accent6">
                    <a:lumMod val="50000"/>
                  </a:schemeClr>
                </a:solidFill>
              </a:rPr>
              <a:t>fu!l-dimensional</a:t>
            </a:r>
            <a:r>
              <a:rPr lang="en-GB" sz="1900" dirty="0">
                <a:solidFill>
                  <a:schemeClr val="accent6">
                    <a:lumMod val="50000"/>
                  </a:schemeClr>
                </a:solidFill>
              </a:rPr>
              <a:t>) </a:t>
            </a:r>
            <a:r>
              <a:rPr lang="en-GB" sz="1900" dirty="0" err="1">
                <a:solidFill>
                  <a:schemeClr val="accent6">
                    <a:lumMod val="50000"/>
                  </a:schemeClr>
                </a:solidFill>
              </a:rPr>
              <a:t>neighborhood</a:t>
            </a:r>
            <a:r>
              <a:rPr lang="en-GB" sz="1900" dirty="0">
                <a:solidFill>
                  <a:schemeClr val="accent6">
                    <a:lumMod val="50000"/>
                  </a:schemeClr>
                </a:solidFill>
              </a:rPr>
              <a:t> of a parametric model</a:t>
            </a:r>
            <a:r>
              <a:rPr lang="en-GB" sz="1900" dirty="0"/>
              <a:t>, thus being more realistic and yet, providing the same advantages </a:t>
            </a:r>
            <a:r>
              <a:rPr lang="en-GB" sz="1900" b="1" dirty="0"/>
              <a:t>as </a:t>
            </a:r>
            <a:r>
              <a:rPr lang="en-GB" sz="1900" dirty="0"/>
              <a:t>a strict parametric model</a:t>
            </a:r>
          </a:p>
        </p:txBody>
      </p:sp>
    </p:spTree>
    <p:extLst>
      <p:ext uri="{BB962C8B-B14F-4D97-AF65-F5344CB8AC3E}">
        <p14:creationId xmlns:p14="http://schemas.microsoft.com/office/powerpoint/2010/main" val="24713169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74CF8-A0E3-AA7D-1C43-CBF11568AD9A}"/>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9067DF4E-11A3-4A72-622F-60D9D05D1EB0}"/>
              </a:ext>
            </a:extLst>
          </p:cNvPr>
          <p:cNvSpPr txBox="1">
            <a:spLocks/>
          </p:cNvSpPr>
          <p:nvPr/>
        </p:nvSpPr>
        <p:spPr>
          <a:xfrm>
            <a:off x="48981" y="23483"/>
            <a:ext cx="12192000" cy="778999"/>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Basic statistical concepts</a:t>
            </a:r>
          </a:p>
        </p:txBody>
      </p:sp>
      <p:pic>
        <p:nvPicPr>
          <p:cNvPr id="2050" name="Picture 2" descr="George E. P. Box Quote: “All models are wrong, but some are useful.”">
            <a:extLst>
              <a:ext uri="{FF2B5EF4-FFF2-40B4-BE49-F238E27FC236}">
                <a16:creationId xmlns:a16="http://schemas.microsoft.com/office/drawing/2014/main" id="{2A72F1D8-949F-DD06-4C00-0A555A685E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168" y="996040"/>
            <a:ext cx="4818746" cy="271054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Bertrand Russell Quote: “All exact science is dominated by the idea of  approximation.”">
            <a:extLst>
              <a:ext uri="{FF2B5EF4-FFF2-40B4-BE49-F238E27FC236}">
                <a16:creationId xmlns:a16="http://schemas.microsoft.com/office/drawing/2014/main" id="{242834A2-E8E9-648E-6BFE-CF6CA293F6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8944" y="2857497"/>
            <a:ext cx="6879771" cy="3869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05706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EE069-5B43-EA5C-4F2B-F54FCDC2386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A2C42C8-4606-FC60-8B7C-5ABCC23822A3}"/>
              </a:ext>
            </a:extLst>
          </p:cNvPr>
          <p:cNvSpPr txBox="1"/>
          <p:nvPr/>
        </p:nvSpPr>
        <p:spPr>
          <a:xfrm>
            <a:off x="184922" y="2657616"/>
            <a:ext cx="11520238" cy="492443"/>
          </a:xfrm>
          <a:prstGeom prst="rect">
            <a:avLst/>
          </a:prstGeom>
          <a:noFill/>
        </p:spPr>
        <p:txBody>
          <a:bodyPr wrap="square">
            <a:spAutoFit/>
          </a:bodyPr>
          <a:lstStyle/>
          <a:p>
            <a:r>
              <a:rPr lang="en-GB" sz="2600" dirty="0">
                <a:effectLst/>
              </a:rPr>
              <a:t>http://bioinformatics-core-shared-</a:t>
            </a:r>
            <a:r>
              <a:rPr lang="en-GB" sz="2600" dirty="0" err="1">
                <a:effectLst/>
              </a:rPr>
              <a:t>training.github.io</a:t>
            </a:r>
            <a:r>
              <a:rPr lang="en-GB" sz="2600" dirty="0">
                <a:effectLst/>
              </a:rPr>
              <a:t>/</a:t>
            </a:r>
            <a:r>
              <a:rPr lang="en-GB" sz="2600" dirty="0" err="1">
                <a:effectLst/>
              </a:rPr>
              <a:t>IntroductionToStats</a:t>
            </a:r>
            <a:endParaRPr lang="en-GB" sz="2600" dirty="0">
              <a:effectLst/>
            </a:endParaRPr>
          </a:p>
        </p:txBody>
      </p:sp>
      <p:sp>
        <p:nvSpPr>
          <p:cNvPr id="8" name="Title 1">
            <a:extLst>
              <a:ext uri="{FF2B5EF4-FFF2-40B4-BE49-F238E27FC236}">
                <a16:creationId xmlns:a16="http://schemas.microsoft.com/office/drawing/2014/main" id="{34CEEB66-C336-1274-AE89-FF5DCCEF5B40}"/>
              </a:ext>
            </a:extLst>
          </p:cNvPr>
          <p:cNvSpPr txBox="1">
            <a:spLocks/>
          </p:cNvSpPr>
          <p:nvPr/>
        </p:nvSpPr>
        <p:spPr>
          <a:xfrm>
            <a:off x="0" y="24068"/>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Exercises</a:t>
            </a:r>
          </a:p>
        </p:txBody>
      </p:sp>
    </p:spTree>
    <p:extLst>
      <p:ext uri="{BB962C8B-B14F-4D97-AF65-F5344CB8AC3E}">
        <p14:creationId xmlns:p14="http://schemas.microsoft.com/office/powerpoint/2010/main" val="23804348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8C3E3-8BC9-968D-3067-B1724BAB1248}"/>
            </a:ext>
          </a:extLst>
        </p:cNvPr>
        <p:cNvGrpSpPr/>
        <p:nvPr/>
      </p:nvGrpSpPr>
      <p:grpSpPr>
        <a:xfrm>
          <a:off x="0" y="0"/>
          <a:ext cx="0" cy="0"/>
          <a:chOff x="0" y="0"/>
          <a:chExt cx="0" cy="0"/>
        </a:xfrm>
      </p:grpSpPr>
      <p:pic>
        <p:nvPicPr>
          <p:cNvPr id="20" name="Picture 19" descr="A graph with red dots&#10;&#10;Description automatically generated">
            <a:extLst>
              <a:ext uri="{FF2B5EF4-FFF2-40B4-BE49-F238E27FC236}">
                <a16:creationId xmlns:a16="http://schemas.microsoft.com/office/drawing/2014/main" id="{8A7217C0-6DA2-6A26-3D21-F6AF95FA72BE}"/>
              </a:ext>
            </a:extLst>
          </p:cNvPr>
          <p:cNvPicPr>
            <a:picLocks noChangeAspect="1"/>
          </p:cNvPicPr>
          <p:nvPr/>
        </p:nvPicPr>
        <p:blipFill>
          <a:blip r:embed="rId2"/>
          <a:stretch>
            <a:fillRect/>
          </a:stretch>
        </p:blipFill>
        <p:spPr>
          <a:xfrm>
            <a:off x="3887899" y="2658183"/>
            <a:ext cx="2891159" cy="2891159"/>
          </a:xfrm>
          <a:prstGeom prst="rect">
            <a:avLst/>
          </a:prstGeom>
        </p:spPr>
      </p:pic>
      <p:sp>
        <p:nvSpPr>
          <p:cNvPr id="4" name="Title 3">
            <a:extLst>
              <a:ext uri="{FF2B5EF4-FFF2-40B4-BE49-F238E27FC236}">
                <a16:creationId xmlns:a16="http://schemas.microsoft.com/office/drawing/2014/main" id="{8A1DDFDB-C19C-988A-5319-6AC874EE06F0}"/>
              </a:ext>
            </a:extLst>
          </p:cNvPr>
          <p:cNvSpPr>
            <a:spLocks noGrp="1"/>
          </p:cNvSpPr>
          <p:nvPr>
            <p:ph type="title"/>
          </p:nvPr>
        </p:nvSpPr>
        <p:spPr>
          <a:xfrm>
            <a:off x="7273101" y="2281573"/>
            <a:ext cx="2752638" cy="1033123"/>
          </a:xfrm>
        </p:spPr>
        <p:txBody>
          <a:bodyPr>
            <a:normAutofit fontScale="90000"/>
          </a:bodyPr>
          <a:lstStyle/>
          <a:p>
            <a:pPr algn="ctr"/>
            <a:r>
              <a:rPr lang="en-US" sz="3600" dirty="0"/>
              <a:t>Descriptive Statistics</a:t>
            </a:r>
          </a:p>
        </p:txBody>
      </p:sp>
      <p:sp>
        <p:nvSpPr>
          <p:cNvPr id="5" name="Text Placeholder 4">
            <a:extLst>
              <a:ext uri="{FF2B5EF4-FFF2-40B4-BE49-F238E27FC236}">
                <a16:creationId xmlns:a16="http://schemas.microsoft.com/office/drawing/2014/main" id="{F477FF05-86F8-FAF3-8AF3-43EB03ED9EDB}"/>
              </a:ext>
            </a:extLst>
          </p:cNvPr>
          <p:cNvSpPr>
            <a:spLocks noGrp="1"/>
          </p:cNvSpPr>
          <p:nvPr>
            <p:ph type="body" sz="quarter" idx="22"/>
          </p:nvPr>
        </p:nvSpPr>
        <p:spPr>
          <a:xfrm>
            <a:off x="7920000" y="5328000"/>
            <a:ext cx="2947523" cy="569080"/>
          </a:xfrm>
        </p:spPr>
        <p:txBody>
          <a:bodyPr>
            <a:noAutofit/>
          </a:bodyPr>
          <a:lstStyle/>
          <a:p>
            <a:r>
              <a:rPr lang="en-US" sz="2500" dirty="0"/>
              <a:t>10.15 - 10.35</a:t>
            </a:r>
          </a:p>
        </p:txBody>
      </p:sp>
      <p:sp>
        <p:nvSpPr>
          <p:cNvPr id="2" name="TextBox 1">
            <a:extLst>
              <a:ext uri="{FF2B5EF4-FFF2-40B4-BE49-F238E27FC236}">
                <a16:creationId xmlns:a16="http://schemas.microsoft.com/office/drawing/2014/main" id="{5CA94D89-27A0-EA0E-9798-F628D8DF842C}"/>
              </a:ext>
            </a:extLst>
          </p:cNvPr>
          <p:cNvSpPr txBox="1"/>
          <p:nvPr/>
        </p:nvSpPr>
        <p:spPr>
          <a:xfrm rot="-1200000">
            <a:off x="1568875" y="1335337"/>
            <a:ext cx="1258140" cy="461665"/>
          </a:xfrm>
          <a:prstGeom prst="rect">
            <a:avLst/>
          </a:prstGeom>
          <a:noFill/>
          <a:ln>
            <a:solidFill>
              <a:schemeClr val="tx1"/>
            </a:solidFill>
          </a:ln>
        </p:spPr>
        <p:txBody>
          <a:bodyPr wrap="square" rtlCol="0">
            <a:spAutoFit/>
          </a:bodyPr>
          <a:lstStyle/>
          <a:p>
            <a:pPr algn="ctr"/>
            <a:r>
              <a:rPr lang="en-US" sz="2400" dirty="0"/>
              <a:t>Median</a:t>
            </a:r>
          </a:p>
        </p:txBody>
      </p:sp>
      <p:sp>
        <p:nvSpPr>
          <p:cNvPr id="6" name="TextBox 5">
            <a:extLst>
              <a:ext uri="{FF2B5EF4-FFF2-40B4-BE49-F238E27FC236}">
                <a16:creationId xmlns:a16="http://schemas.microsoft.com/office/drawing/2014/main" id="{B2EF651F-B2D1-3537-9FF6-A9A136DE7479}"/>
              </a:ext>
            </a:extLst>
          </p:cNvPr>
          <p:cNvSpPr txBox="1"/>
          <p:nvPr/>
        </p:nvSpPr>
        <p:spPr>
          <a:xfrm rot="-240000">
            <a:off x="3268969" y="2485662"/>
            <a:ext cx="1237861" cy="461665"/>
          </a:xfrm>
          <a:prstGeom prst="rect">
            <a:avLst/>
          </a:prstGeom>
          <a:noFill/>
          <a:ln>
            <a:solidFill>
              <a:schemeClr val="tx1"/>
            </a:solidFill>
          </a:ln>
        </p:spPr>
        <p:txBody>
          <a:bodyPr wrap="square" rtlCol="0">
            <a:spAutoFit/>
          </a:bodyPr>
          <a:lstStyle/>
          <a:p>
            <a:pPr algn="ctr"/>
            <a:r>
              <a:rPr lang="en-US" sz="2400" dirty="0"/>
              <a:t>Range</a:t>
            </a:r>
          </a:p>
        </p:txBody>
      </p:sp>
      <p:pic>
        <p:nvPicPr>
          <p:cNvPr id="7" name="Picture 4" descr="Calculate Percent of Total | Holistics Docs">
            <a:extLst>
              <a:ext uri="{FF2B5EF4-FFF2-40B4-BE49-F238E27FC236}">
                <a16:creationId xmlns:a16="http://schemas.microsoft.com/office/drawing/2014/main" id="{2225D023-E008-2F26-CDD2-78175ECC64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2699" y="2134574"/>
            <a:ext cx="2474098" cy="197927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0" descr="Epithelial Ovarian Cancer: The Role of Cell Cycle Genes in the Different  Histotypes">
            <a:extLst>
              <a:ext uri="{FF2B5EF4-FFF2-40B4-BE49-F238E27FC236}">
                <a16:creationId xmlns:a16="http://schemas.microsoft.com/office/drawing/2014/main" id="{68AFCBE3-AB2E-0A87-9E62-AC1DA7F498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75047" y="892617"/>
            <a:ext cx="2720953" cy="124199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CAE4CB33-9E88-5C4B-D4B4-FC9A1718CA46}"/>
              </a:ext>
            </a:extLst>
          </p:cNvPr>
          <p:cNvPicPr>
            <a:picLocks noChangeAspect="1"/>
          </p:cNvPicPr>
          <p:nvPr/>
        </p:nvPicPr>
        <p:blipFill>
          <a:blip r:embed="rId5"/>
          <a:stretch>
            <a:fillRect/>
          </a:stretch>
        </p:blipFill>
        <p:spPr>
          <a:xfrm>
            <a:off x="314693" y="4386528"/>
            <a:ext cx="3639764" cy="1492187"/>
          </a:xfrm>
          <a:prstGeom prst="rect">
            <a:avLst/>
          </a:prstGeom>
          <a:ln>
            <a:solidFill>
              <a:srgbClr val="C00000"/>
            </a:solidFill>
          </a:ln>
        </p:spPr>
      </p:pic>
      <p:sp>
        <p:nvSpPr>
          <p:cNvPr id="3" name="Text Placeholder 2">
            <a:extLst>
              <a:ext uri="{FF2B5EF4-FFF2-40B4-BE49-F238E27FC236}">
                <a16:creationId xmlns:a16="http://schemas.microsoft.com/office/drawing/2014/main" id="{1CC029DF-664F-F33A-CB6A-282CB8B8B0BF}"/>
              </a:ext>
            </a:extLst>
          </p:cNvPr>
          <p:cNvSpPr>
            <a:spLocks noGrp="1"/>
          </p:cNvSpPr>
          <p:nvPr>
            <p:ph type="body" sz="quarter" idx="11"/>
          </p:nvPr>
        </p:nvSpPr>
        <p:spPr>
          <a:xfrm>
            <a:off x="7920000" y="4500000"/>
            <a:ext cx="4155837" cy="408651"/>
          </a:xfrm>
        </p:spPr>
        <p:txBody>
          <a:bodyPr vert="horz" lIns="91440" tIns="45720" rIns="91440" bIns="45720" rtlCol="0">
            <a:noAutofit/>
          </a:bodyPr>
          <a:lstStyle/>
          <a:p>
            <a:r>
              <a:rPr lang="en-US" sz="1900" dirty="0"/>
              <a:t>Data types and descriptive statistics</a:t>
            </a:r>
          </a:p>
        </p:txBody>
      </p:sp>
    </p:spTree>
    <p:extLst>
      <p:ext uri="{BB962C8B-B14F-4D97-AF65-F5344CB8AC3E}">
        <p14:creationId xmlns:p14="http://schemas.microsoft.com/office/powerpoint/2010/main" val="34979679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AA5D3-29BF-DC1B-2EA3-EEFAD95379E5}"/>
              </a:ext>
            </a:extLst>
          </p:cNvPr>
          <p:cNvSpPr>
            <a:spLocks noGrp="1"/>
          </p:cNvSpPr>
          <p:nvPr>
            <p:ph type="ctrTitle"/>
          </p:nvPr>
        </p:nvSpPr>
        <p:spPr>
          <a:xfrm>
            <a:off x="18661" y="62168"/>
            <a:ext cx="12192000" cy="721895"/>
          </a:xfrm>
          <a:noFill/>
        </p:spPr>
        <p:txBody>
          <a:bodyPr>
            <a:noAutofit/>
          </a:bodyPr>
          <a:lstStyle/>
          <a:p>
            <a:pPr algn="l"/>
            <a:r>
              <a:rPr lang="en-US" sz="5000" b="1" dirty="0"/>
              <a:t>Descriptive statistics</a:t>
            </a:r>
          </a:p>
        </p:txBody>
      </p:sp>
      <p:sp>
        <p:nvSpPr>
          <p:cNvPr id="3" name="TextBox 2">
            <a:extLst>
              <a:ext uri="{FF2B5EF4-FFF2-40B4-BE49-F238E27FC236}">
                <a16:creationId xmlns:a16="http://schemas.microsoft.com/office/drawing/2014/main" id="{B02AECD0-D662-C9FE-373F-F5D34CEA47AE}"/>
              </a:ext>
            </a:extLst>
          </p:cNvPr>
          <p:cNvSpPr txBox="1"/>
          <p:nvPr/>
        </p:nvSpPr>
        <p:spPr>
          <a:xfrm>
            <a:off x="70851" y="1007797"/>
            <a:ext cx="11947373" cy="2862322"/>
          </a:xfrm>
          <a:prstGeom prst="rect">
            <a:avLst/>
          </a:prstGeom>
          <a:noFill/>
        </p:spPr>
        <p:txBody>
          <a:bodyPr wrap="square" rtlCol="0">
            <a:spAutoFit/>
          </a:bodyPr>
          <a:lstStyle/>
          <a:p>
            <a:r>
              <a:rPr lang="en-US" sz="3600" dirty="0"/>
              <a:t>Here, the data are analyzed on their own terms, essentially without extraneous assumptions. </a:t>
            </a:r>
          </a:p>
          <a:p>
            <a:r>
              <a:rPr lang="en-US" sz="3600" dirty="0"/>
              <a:t>The principal aim is the organization and summarization of the data in ways that bring out their main features and clarify their underlying structure.</a:t>
            </a:r>
          </a:p>
        </p:txBody>
      </p:sp>
      <p:sp>
        <p:nvSpPr>
          <p:cNvPr id="4" name="TextBox 3">
            <a:extLst>
              <a:ext uri="{FF2B5EF4-FFF2-40B4-BE49-F238E27FC236}">
                <a16:creationId xmlns:a16="http://schemas.microsoft.com/office/drawing/2014/main" id="{2E7D885C-D02D-4291-DE7D-2B0EAA8D03DC}"/>
              </a:ext>
            </a:extLst>
          </p:cNvPr>
          <p:cNvSpPr txBox="1"/>
          <p:nvPr/>
        </p:nvSpPr>
        <p:spPr>
          <a:xfrm>
            <a:off x="1" y="6495293"/>
            <a:ext cx="7187608" cy="377026"/>
          </a:xfrm>
          <a:prstGeom prst="rect">
            <a:avLst/>
          </a:prstGeom>
          <a:noFill/>
        </p:spPr>
        <p:txBody>
          <a:bodyPr wrap="square" rtlCol="0">
            <a:spAutoFit/>
          </a:bodyPr>
          <a:lstStyle/>
          <a:p>
            <a:r>
              <a:rPr lang="en-US" sz="1850" dirty="0">
                <a:cs typeface="Arial" panose="020B0604020202020204" pitchFamily="34" charset="0"/>
              </a:rPr>
              <a:t>E.L. Lehmann, George Casella, Theory of Point Estimation, Second Edition</a:t>
            </a:r>
          </a:p>
        </p:txBody>
      </p:sp>
      <p:sp>
        <p:nvSpPr>
          <p:cNvPr id="5" name="TextBox 4">
            <a:extLst>
              <a:ext uri="{FF2B5EF4-FFF2-40B4-BE49-F238E27FC236}">
                <a16:creationId xmlns:a16="http://schemas.microsoft.com/office/drawing/2014/main" id="{D033B347-9E7B-4FBD-DFB8-7E502B6C67E4}"/>
              </a:ext>
            </a:extLst>
          </p:cNvPr>
          <p:cNvSpPr txBox="1"/>
          <p:nvPr/>
        </p:nvSpPr>
        <p:spPr>
          <a:xfrm rot="-1200000">
            <a:off x="3012853" y="4896223"/>
            <a:ext cx="1258140" cy="461665"/>
          </a:xfrm>
          <a:prstGeom prst="rect">
            <a:avLst/>
          </a:prstGeom>
          <a:noFill/>
          <a:ln>
            <a:solidFill>
              <a:schemeClr val="tx1"/>
            </a:solidFill>
          </a:ln>
        </p:spPr>
        <p:txBody>
          <a:bodyPr wrap="square" rtlCol="0">
            <a:spAutoFit/>
          </a:bodyPr>
          <a:lstStyle/>
          <a:p>
            <a:pPr algn="ctr"/>
            <a:r>
              <a:rPr lang="en-US" sz="2400" dirty="0"/>
              <a:t>Median</a:t>
            </a:r>
          </a:p>
        </p:txBody>
      </p:sp>
      <p:pic>
        <p:nvPicPr>
          <p:cNvPr id="8" name="Picture 7" descr="A graph of a number of items&#10;&#10;Description automatically generated">
            <a:extLst>
              <a:ext uri="{FF2B5EF4-FFF2-40B4-BE49-F238E27FC236}">
                <a16:creationId xmlns:a16="http://schemas.microsoft.com/office/drawing/2014/main" id="{8C68315D-5DE9-5005-B5D0-8F4AFFF2B1D9}"/>
              </a:ext>
            </a:extLst>
          </p:cNvPr>
          <p:cNvPicPr>
            <a:picLocks noChangeAspect="1"/>
          </p:cNvPicPr>
          <p:nvPr/>
        </p:nvPicPr>
        <p:blipFill>
          <a:blip r:embed="rId3"/>
          <a:stretch>
            <a:fillRect/>
          </a:stretch>
        </p:blipFill>
        <p:spPr>
          <a:xfrm>
            <a:off x="6692164" y="3666814"/>
            <a:ext cx="5397500" cy="2298700"/>
          </a:xfrm>
          <a:prstGeom prst="rect">
            <a:avLst/>
          </a:prstGeom>
        </p:spPr>
      </p:pic>
      <p:sp>
        <p:nvSpPr>
          <p:cNvPr id="6" name="TextBox 5">
            <a:extLst>
              <a:ext uri="{FF2B5EF4-FFF2-40B4-BE49-F238E27FC236}">
                <a16:creationId xmlns:a16="http://schemas.microsoft.com/office/drawing/2014/main" id="{0D45CF03-BD34-407D-6766-D9DDF6417D3E}"/>
              </a:ext>
            </a:extLst>
          </p:cNvPr>
          <p:cNvSpPr txBox="1"/>
          <p:nvPr/>
        </p:nvSpPr>
        <p:spPr>
          <a:xfrm rot="-240000">
            <a:off x="6710918" y="5890981"/>
            <a:ext cx="1237861" cy="461665"/>
          </a:xfrm>
          <a:prstGeom prst="rect">
            <a:avLst/>
          </a:prstGeom>
          <a:noFill/>
          <a:ln>
            <a:solidFill>
              <a:schemeClr val="tx1"/>
            </a:solidFill>
          </a:ln>
        </p:spPr>
        <p:txBody>
          <a:bodyPr wrap="square" rtlCol="0">
            <a:spAutoFit/>
          </a:bodyPr>
          <a:lstStyle/>
          <a:p>
            <a:pPr algn="ctr"/>
            <a:r>
              <a:rPr lang="en-US" sz="2400" dirty="0"/>
              <a:t>Range</a:t>
            </a:r>
          </a:p>
        </p:txBody>
      </p:sp>
      <p:pic>
        <p:nvPicPr>
          <p:cNvPr id="1028" name="Picture 4" descr="Calculate Percent of Total | Holistics Docs">
            <a:extLst>
              <a:ext uri="{FF2B5EF4-FFF2-40B4-BE49-F238E27FC236}">
                <a16:creationId xmlns:a16="http://schemas.microsoft.com/office/drawing/2014/main" id="{C1C1564E-1171-92D7-8C22-C6435D03F8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50788" y="4193067"/>
            <a:ext cx="2474098" cy="19792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0098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AA5D3-29BF-DC1B-2EA3-EEFAD95379E5}"/>
              </a:ext>
            </a:extLst>
          </p:cNvPr>
          <p:cNvSpPr>
            <a:spLocks noGrp="1"/>
          </p:cNvSpPr>
          <p:nvPr>
            <p:ph type="ctrTitle"/>
          </p:nvPr>
        </p:nvSpPr>
        <p:spPr>
          <a:xfrm>
            <a:off x="18661" y="62168"/>
            <a:ext cx="12192000" cy="721895"/>
          </a:xfrm>
          <a:noFill/>
        </p:spPr>
        <p:txBody>
          <a:bodyPr>
            <a:noAutofit/>
          </a:bodyPr>
          <a:lstStyle/>
          <a:p>
            <a:pPr algn="l"/>
            <a:r>
              <a:rPr lang="en-US" sz="5000" b="1" dirty="0"/>
              <a:t>Why is descriptive statistics important?</a:t>
            </a:r>
          </a:p>
        </p:txBody>
      </p:sp>
      <p:sp>
        <p:nvSpPr>
          <p:cNvPr id="3" name="TextBox 2">
            <a:extLst>
              <a:ext uri="{FF2B5EF4-FFF2-40B4-BE49-F238E27FC236}">
                <a16:creationId xmlns:a16="http://schemas.microsoft.com/office/drawing/2014/main" id="{B02AECD0-D662-C9FE-373F-F5D34CEA47AE}"/>
              </a:ext>
            </a:extLst>
          </p:cNvPr>
          <p:cNvSpPr txBox="1"/>
          <p:nvPr/>
        </p:nvSpPr>
        <p:spPr>
          <a:xfrm>
            <a:off x="94461" y="1276452"/>
            <a:ext cx="11690958" cy="1200329"/>
          </a:xfrm>
          <a:prstGeom prst="rect">
            <a:avLst/>
          </a:prstGeom>
          <a:noFill/>
          <a:ln>
            <a:solidFill>
              <a:schemeClr val="accent1"/>
            </a:solidFill>
          </a:ln>
        </p:spPr>
        <p:txBody>
          <a:bodyPr wrap="square" rtlCol="0">
            <a:spAutoFit/>
          </a:bodyPr>
          <a:lstStyle/>
          <a:p>
            <a:pPr marL="571500" indent="-571500">
              <a:buFont typeface="Arial" panose="020B0604020202020204" pitchFamily="34" charset="0"/>
              <a:buChar char="•"/>
            </a:pPr>
            <a:r>
              <a:rPr lang="en-US" sz="3600" dirty="0"/>
              <a:t>Baseline data </a:t>
            </a:r>
          </a:p>
          <a:p>
            <a:r>
              <a:rPr lang="en-US" sz="3600" dirty="0"/>
              <a:t>     </a:t>
            </a:r>
            <a:r>
              <a:rPr lang="en-US" sz="3200" dirty="0"/>
              <a:t>(e.g. strain, sex, age, weight, housing)</a:t>
            </a:r>
          </a:p>
        </p:txBody>
      </p:sp>
      <p:pic>
        <p:nvPicPr>
          <p:cNvPr id="8" name="Picture 7">
            <a:extLst>
              <a:ext uri="{FF2B5EF4-FFF2-40B4-BE49-F238E27FC236}">
                <a16:creationId xmlns:a16="http://schemas.microsoft.com/office/drawing/2014/main" id="{D2C0F5D3-60B3-A32A-A194-99777C1F7928}"/>
              </a:ext>
            </a:extLst>
          </p:cNvPr>
          <p:cNvPicPr>
            <a:picLocks noChangeAspect="1"/>
          </p:cNvPicPr>
          <p:nvPr/>
        </p:nvPicPr>
        <p:blipFill>
          <a:blip r:embed="rId3"/>
          <a:stretch>
            <a:fillRect/>
          </a:stretch>
        </p:blipFill>
        <p:spPr>
          <a:xfrm>
            <a:off x="7508383" y="758670"/>
            <a:ext cx="4277036" cy="2174076"/>
          </a:xfrm>
          <a:prstGeom prst="rect">
            <a:avLst/>
          </a:prstGeom>
          <a:ln w="12700">
            <a:solidFill>
              <a:schemeClr val="accent1"/>
            </a:solidFill>
          </a:ln>
          <a:effectLst>
            <a:outerShdw blurRad="50800" dist="50800" dir="5400000" algn="ctr" rotWithShape="0">
              <a:schemeClr val="bg1"/>
            </a:outerShdw>
          </a:effectLst>
        </p:spPr>
      </p:pic>
      <p:sp>
        <p:nvSpPr>
          <p:cNvPr id="9" name="TextBox 8">
            <a:extLst>
              <a:ext uri="{FF2B5EF4-FFF2-40B4-BE49-F238E27FC236}">
                <a16:creationId xmlns:a16="http://schemas.microsoft.com/office/drawing/2014/main" id="{A0918797-9463-E8B7-E4D7-FBC1F458889F}"/>
              </a:ext>
            </a:extLst>
          </p:cNvPr>
          <p:cNvSpPr txBox="1"/>
          <p:nvPr/>
        </p:nvSpPr>
        <p:spPr>
          <a:xfrm>
            <a:off x="94462" y="3300771"/>
            <a:ext cx="11690958" cy="1200329"/>
          </a:xfrm>
          <a:prstGeom prst="rect">
            <a:avLst/>
          </a:prstGeom>
          <a:noFill/>
          <a:ln w="12700">
            <a:solidFill>
              <a:schemeClr val="accent6">
                <a:lumMod val="75000"/>
              </a:schemeClr>
            </a:solidFill>
          </a:ln>
        </p:spPr>
        <p:txBody>
          <a:bodyPr wrap="square" rtlCol="0">
            <a:spAutoFit/>
          </a:bodyPr>
          <a:lstStyle/>
          <a:p>
            <a:pPr marL="571500" indent="-571500">
              <a:buFont typeface="Arial" panose="020B0604020202020204" pitchFamily="34" charset="0"/>
              <a:buChar char="•"/>
            </a:pPr>
            <a:r>
              <a:rPr lang="en-US" sz="3600" dirty="0"/>
              <a:t>Experimental design </a:t>
            </a:r>
          </a:p>
          <a:p>
            <a:r>
              <a:rPr lang="en-US" sz="3600" dirty="0"/>
              <a:t>      </a:t>
            </a:r>
            <a:r>
              <a:rPr lang="en-US" sz="3200" dirty="0"/>
              <a:t>(e.g. sample size, blocking, treatment)</a:t>
            </a:r>
          </a:p>
        </p:txBody>
      </p:sp>
      <p:sp>
        <p:nvSpPr>
          <p:cNvPr id="10" name="TextBox 9">
            <a:extLst>
              <a:ext uri="{FF2B5EF4-FFF2-40B4-BE49-F238E27FC236}">
                <a16:creationId xmlns:a16="http://schemas.microsoft.com/office/drawing/2014/main" id="{BA14D66C-FECA-0A9A-334F-FAB648FE59BF}"/>
              </a:ext>
            </a:extLst>
          </p:cNvPr>
          <p:cNvSpPr txBox="1"/>
          <p:nvPr/>
        </p:nvSpPr>
        <p:spPr>
          <a:xfrm>
            <a:off x="66556" y="5220534"/>
            <a:ext cx="11718864" cy="1446550"/>
          </a:xfrm>
          <a:prstGeom prst="rect">
            <a:avLst/>
          </a:prstGeom>
          <a:noFill/>
          <a:ln>
            <a:solidFill>
              <a:schemeClr val="accent2">
                <a:lumMod val="75000"/>
              </a:schemeClr>
            </a:solidFill>
          </a:ln>
        </p:spPr>
        <p:txBody>
          <a:bodyPr wrap="square" rtlCol="0">
            <a:spAutoFit/>
          </a:bodyPr>
          <a:lstStyle/>
          <a:p>
            <a:pPr marL="571500" indent="-571500">
              <a:buFont typeface="Arial" panose="020B0604020202020204" pitchFamily="34" charset="0"/>
              <a:buChar char="•"/>
            </a:pPr>
            <a:r>
              <a:rPr lang="en-US" sz="3600" dirty="0"/>
              <a:t>Outcomes </a:t>
            </a:r>
            <a:r>
              <a:rPr lang="en-US" sz="2550" dirty="0"/>
              <a:t>(e.g. sample distribution,</a:t>
            </a:r>
          </a:p>
          <a:p>
            <a:r>
              <a:rPr lang="en-US" sz="2550" dirty="0"/>
              <a:t>        length of follow-up, number of events, </a:t>
            </a:r>
          </a:p>
          <a:p>
            <a:r>
              <a:rPr lang="en-US" sz="2550" dirty="0"/>
              <a:t>        reasons for right-censoring)</a:t>
            </a:r>
          </a:p>
        </p:txBody>
      </p:sp>
      <p:sp>
        <p:nvSpPr>
          <p:cNvPr id="12" name="TextBox 11">
            <a:extLst>
              <a:ext uri="{FF2B5EF4-FFF2-40B4-BE49-F238E27FC236}">
                <a16:creationId xmlns:a16="http://schemas.microsoft.com/office/drawing/2014/main" id="{B22C04FC-5BD2-B3A2-F8C9-DDE2D9FF1958}"/>
              </a:ext>
            </a:extLst>
          </p:cNvPr>
          <p:cNvSpPr txBox="1"/>
          <p:nvPr/>
        </p:nvSpPr>
        <p:spPr>
          <a:xfrm>
            <a:off x="37321" y="2501545"/>
            <a:ext cx="7471061" cy="430887"/>
          </a:xfrm>
          <a:prstGeom prst="rect">
            <a:avLst/>
          </a:prstGeom>
          <a:noFill/>
        </p:spPr>
        <p:txBody>
          <a:bodyPr wrap="square">
            <a:spAutoFit/>
          </a:bodyPr>
          <a:lstStyle/>
          <a:p>
            <a:pPr algn="just"/>
            <a:r>
              <a:rPr lang="en-GB" sz="1100" baseline="30000" dirty="0"/>
              <a:t>†</a:t>
            </a:r>
            <a:r>
              <a:rPr lang="en-GB" sz="1100" dirty="0"/>
              <a:t> Kilkenny C, Parsons N, </a:t>
            </a:r>
            <a:r>
              <a:rPr lang="en-GB" sz="1100" dirty="0" err="1"/>
              <a:t>Kadyszewski</a:t>
            </a:r>
            <a:r>
              <a:rPr lang="en-GB" sz="1100" dirty="0"/>
              <a:t> E, </a:t>
            </a:r>
            <a:r>
              <a:rPr lang="en-GB" sz="1100" dirty="0" err="1"/>
              <a:t>Festing</a:t>
            </a:r>
            <a:r>
              <a:rPr lang="en-GB" sz="1100" dirty="0"/>
              <a:t> MFW, Cuthill IC, et al. (2009) Survey of the Quality of Experimental Design, Statistical Analysis and Reporting of Research Using Animals. </a:t>
            </a:r>
            <a:r>
              <a:rPr lang="en-GB" sz="1100" dirty="0" err="1"/>
              <a:t>PLoS</a:t>
            </a:r>
            <a:r>
              <a:rPr lang="en-GB" sz="1100" dirty="0"/>
              <a:t> ONE 4(11): e7824. doi:10.1371/journal.pone.0007824 </a:t>
            </a:r>
          </a:p>
        </p:txBody>
      </p:sp>
      <p:pic>
        <p:nvPicPr>
          <p:cNvPr id="15" name="Picture 14" descr="A diagram of a mouse&#10;&#10;Description automatically generated">
            <a:extLst>
              <a:ext uri="{FF2B5EF4-FFF2-40B4-BE49-F238E27FC236}">
                <a16:creationId xmlns:a16="http://schemas.microsoft.com/office/drawing/2014/main" id="{712ED293-D101-6AF6-9DCE-3673541B3146}"/>
              </a:ext>
            </a:extLst>
          </p:cNvPr>
          <p:cNvPicPr>
            <a:picLocks noChangeAspect="1"/>
          </p:cNvPicPr>
          <p:nvPr/>
        </p:nvPicPr>
        <p:blipFill>
          <a:blip r:embed="rId4"/>
          <a:stretch>
            <a:fillRect/>
          </a:stretch>
        </p:blipFill>
        <p:spPr>
          <a:xfrm>
            <a:off x="7508383" y="2954132"/>
            <a:ext cx="4277036" cy="1902023"/>
          </a:xfrm>
          <a:prstGeom prst="rect">
            <a:avLst/>
          </a:prstGeom>
          <a:ln w="12700">
            <a:solidFill>
              <a:schemeClr val="accent6">
                <a:lumMod val="75000"/>
              </a:schemeClr>
            </a:solidFill>
          </a:ln>
          <a:effectLst>
            <a:outerShdw blurRad="50800" dist="50800" dir="5400000" algn="ctr" rotWithShape="0">
              <a:schemeClr val="bg1"/>
            </a:outerShdw>
          </a:effectLst>
        </p:spPr>
      </p:pic>
      <p:pic>
        <p:nvPicPr>
          <p:cNvPr id="18" name="Picture 17">
            <a:extLst>
              <a:ext uri="{FF2B5EF4-FFF2-40B4-BE49-F238E27FC236}">
                <a16:creationId xmlns:a16="http://schemas.microsoft.com/office/drawing/2014/main" id="{7BBE3DCB-731B-F8E6-F5FC-0A54575B8625}"/>
              </a:ext>
            </a:extLst>
          </p:cNvPr>
          <p:cNvPicPr>
            <a:picLocks noChangeAspect="1"/>
          </p:cNvPicPr>
          <p:nvPr/>
        </p:nvPicPr>
        <p:blipFill>
          <a:blip r:embed="rId5"/>
          <a:stretch>
            <a:fillRect/>
          </a:stretch>
        </p:blipFill>
        <p:spPr>
          <a:xfrm>
            <a:off x="7508383" y="4885737"/>
            <a:ext cx="4277036" cy="1753448"/>
          </a:xfrm>
          <a:prstGeom prst="rect">
            <a:avLst/>
          </a:prstGeom>
          <a:ln>
            <a:solidFill>
              <a:srgbClr val="C00000"/>
            </a:solidFill>
          </a:ln>
        </p:spPr>
      </p:pic>
    </p:spTree>
    <p:extLst>
      <p:ext uri="{BB962C8B-B14F-4D97-AF65-F5344CB8AC3E}">
        <p14:creationId xmlns:p14="http://schemas.microsoft.com/office/powerpoint/2010/main" val="21247605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AA5D3-29BF-DC1B-2EA3-EEFAD95379E5}"/>
              </a:ext>
            </a:extLst>
          </p:cNvPr>
          <p:cNvSpPr>
            <a:spLocks noGrp="1"/>
          </p:cNvSpPr>
          <p:nvPr>
            <p:ph type="ctrTitle"/>
          </p:nvPr>
        </p:nvSpPr>
        <p:spPr>
          <a:xfrm>
            <a:off x="32516" y="41262"/>
            <a:ext cx="9144000" cy="722314"/>
          </a:xfrm>
        </p:spPr>
        <p:txBody>
          <a:bodyPr>
            <a:noAutofit/>
          </a:bodyPr>
          <a:lstStyle/>
          <a:p>
            <a:pPr algn="l"/>
            <a:r>
              <a:rPr lang="en-US" sz="5000" b="1" dirty="0"/>
              <a:t>Data types</a:t>
            </a:r>
          </a:p>
        </p:txBody>
      </p:sp>
      <p:sp>
        <p:nvSpPr>
          <p:cNvPr id="6" name="Down Arrow 5">
            <a:extLst>
              <a:ext uri="{FF2B5EF4-FFF2-40B4-BE49-F238E27FC236}">
                <a16:creationId xmlns:a16="http://schemas.microsoft.com/office/drawing/2014/main" id="{B1970690-D54A-A48F-B2EB-D0D6105029AC}"/>
              </a:ext>
            </a:extLst>
          </p:cNvPr>
          <p:cNvSpPr/>
          <p:nvPr/>
        </p:nvSpPr>
        <p:spPr>
          <a:xfrm>
            <a:off x="185192" y="1157468"/>
            <a:ext cx="590309" cy="5220183"/>
          </a:xfrm>
          <a:prstGeom prst="downArrow">
            <a:avLst/>
          </a:prstGeom>
        </p:spPr>
        <p:style>
          <a:lnRef idx="2">
            <a:schemeClr val="accent6"/>
          </a:lnRef>
          <a:fillRef idx="1">
            <a:schemeClr val="lt1"/>
          </a:fillRef>
          <a:effectRef idx="0">
            <a:schemeClr val="accent6"/>
          </a:effectRef>
          <a:fontRef idx="minor">
            <a:schemeClr val="dk1"/>
          </a:fontRef>
        </p:style>
        <p:txBody>
          <a:bodyPr rtlCol="0" anchor="ctr">
            <a:scene3d>
              <a:camera prst="orthographicFront">
                <a:rot lat="0" lon="0" rev="0"/>
              </a:camera>
              <a:lightRig rig="threePt" dir="t"/>
            </a:scene3d>
          </a:bodyPr>
          <a:lstStyle/>
          <a:p>
            <a:r>
              <a:rPr lang="en-US" b="1" dirty="0"/>
              <a:t>Complexity</a:t>
            </a:r>
          </a:p>
        </p:txBody>
      </p:sp>
      <p:sp>
        <p:nvSpPr>
          <p:cNvPr id="7" name="TextBox 6">
            <a:extLst>
              <a:ext uri="{FF2B5EF4-FFF2-40B4-BE49-F238E27FC236}">
                <a16:creationId xmlns:a16="http://schemas.microsoft.com/office/drawing/2014/main" id="{68C6B3CD-DF2F-2C6E-660B-7F0A05B7B012}"/>
              </a:ext>
            </a:extLst>
          </p:cNvPr>
          <p:cNvSpPr txBox="1"/>
          <p:nvPr/>
        </p:nvSpPr>
        <p:spPr>
          <a:xfrm>
            <a:off x="937549" y="1045485"/>
            <a:ext cx="3402957" cy="646331"/>
          </a:xfrm>
          <a:prstGeom prst="rect">
            <a:avLst/>
          </a:prstGeom>
          <a:noFill/>
        </p:spPr>
        <p:txBody>
          <a:bodyPr wrap="square" rtlCol="0">
            <a:spAutoFit/>
          </a:bodyPr>
          <a:lstStyle/>
          <a:p>
            <a:r>
              <a:rPr lang="en-US" sz="3600" b="1" dirty="0"/>
              <a:t>Qualitative</a:t>
            </a:r>
          </a:p>
        </p:txBody>
      </p:sp>
      <p:sp>
        <p:nvSpPr>
          <p:cNvPr id="8" name="TextBox 7">
            <a:extLst>
              <a:ext uri="{FF2B5EF4-FFF2-40B4-BE49-F238E27FC236}">
                <a16:creationId xmlns:a16="http://schemas.microsoft.com/office/drawing/2014/main" id="{E4B4FFE1-6534-AB4F-04D3-33B3BE0B4754}"/>
              </a:ext>
            </a:extLst>
          </p:cNvPr>
          <p:cNvSpPr txBox="1"/>
          <p:nvPr/>
        </p:nvSpPr>
        <p:spPr>
          <a:xfrm>
            <a:off x="939474" y="3998960"/>
            <a:ext cx="3402957" cy="646331"/>
          </a:xfrm>
          <a:prstGeom prst="rect">
            <a:avLst/>
          </a:prstGeom>
          <a:noFill/>
        </p:spPr>
        <p:txBody>
          <a:bodyPr wrap="square" rtlCol="0">
            <a:spAutoFit/>
          </a:bodyPr>
          <a:lstStyle/>
          <a:p>
            <a:r>
              <a:rPr lang="en-US" sz="3600" b="1" dirty="0"/>
              <a:t>Quantitative</a:t>
            </a:r>
          </a:p>
        </p:txBody>
      </p:sp>
      <p:sp>
        <p:nvSpPr>
          <p:cNvPr id="9" name="Right Arrow 8">
            <a:extLst>
              <a:ext uri="{FF2B5EF4-FFF2-40B4-BE49-F238E27FC236}">
                <a16:creationId xmlns:a16="http://schemas.microsoft.com/office/drawing/2014/main" id="{2720A6A9-CC96-09CC-AB3A-4625A4677846}"/>
              </a:ext>
            </a:extLst>
          </p:cNvPr>
          <p:cNvSpPr/>
          <p:nvPr/>
        </p:nvSpPr>
        <p:spPr>
          <a:xfrm>
            <a:off x="1477699" y="1840376"/>
            <a:ext cx="1099595" cy="219919"/>
          </a:xfrm>
          <a:prstGeom prst="rightArrow">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TextBox 9">
            <a:extLst>
              <a:ext uri="{FF2B5EF4-FFF2-40B4-BE49-F238E27FC236}">
                <a16:creationId xmlns:a16="http://schemas.microsoft.com/office/drawing/2014/main" id="{C444FF8F-CF9B-E989-BC77-3B12526DF185}"/>
              </a:ext>
            </a:extLst>
          </p:cNvPr>
          <p:cNvSpPr txBox="1"/>
          <p:nvPr/>
        </p:nvSpPr>
        <p:spPr>
          <a:xfrm>
            <a:off x="2704616" y="1713219"/>
            <a:ext cx="2896688" cy="461665"/>
          </a:xfrm>
          <a:prstGeom prst="rect">
            <a:avLst/>
          </a:prstGeom>
          <a:noFill/>
        </p:spPr>
        <p:txBody>
          <a:bodyPr wrap="square" rtlCol="0">
            <a:spAutoFit/>
          </a:bodyPr>
          <a:lstStyle/>
          <a:p>
            <a:r>
              <a:rPr lang="en-US" sz="2400" dirty="0"/>
              <a:t>Binary/dichotomous</a:t>
            </a:r>
          </a:p>
        </p:txBody>
      </p:sp>
      <p:sp>
        <p:nvSpPr>
          <p:cNvPr id="11" name="Right Arrow 10">
            <a:extLst>
              <a:ext uri="{FF2B5EF4-FFF2-40B4-BE49-F238E27FC236}">
                <a16:creationId xmlns:a16="http://schemas.microsoft.com/office/drawing/2014/main" id="{A82129BD-C76E-B3C1-186A-82B124D5334D}"/>
              </a:ext>
            </a:extLst>
          </p:cNvPr>
          <p:cNvSpPr/>
          <p:nvPr/>
        </p:nvSpPr>
        <p:spPr>
          <a:xfrm>
            <a:off x="1502778" y="2571511"/>
            <a:ext cx="1099595" cy="219919"/>
          </a:xfrm>
          <a:prstGeom prst="rightArrow">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2" name="Right Arrow 11">
            <a:extLst>
              <a:ext uri="{FF2B5EF4-FFF2-40B4-BE49-F238E27FC236}">
                <a16:creationId xmlns:a16="http://schemas.microsoft.com/office/drawing/2014/main" id="{3F2FB123-C0AD-CF40-5C01-08722F661ECD}"/>
              </a:ext>
            </a:extLst>
          </p:cNvPr>
          <p:cNvSpPr/>
          <p:nvPr/>
        </p:nvSpPr>
        <p:spPr>
          <a:xfrm>
            <a:off x="1504706" y="3325795"/>
            <a:ext cx="1099595" cy="219919"/>
          </a:xfrm>
          <a:prstGeom prst="rightArrow">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3" name="TextBox 12">
            <a:extLst>
              <a:ext uri="{FF2B5EF4-FFF2-40B4-BE49-F238E27FC236}">
                <a16:creationId xmlns:a16="http://schemas.microsoft.com/office/drawing/2014/main" id="{598F76E1-973B-0CB3-A7A2-0460B2A638F8}"/>
              </a:ext>
            </a:extLst>
          </p:cNvPr>
          <p:cNvSpPr txBox="1"/>
          <p:nvPr/>
        </p:nvSpPr>
        <p:spPr>
          <a:xfrm>
            <a:off x="2718117" y="2428217"/>
            <a:ext cx="2662177" cy="461665"/>
          </a:xfrm>
          <a:prstGeom prst="rect">
            <a:avLst/>
          </a:prstGeom>
          <a:noFill/>
        </p:spPr>
        <p:txBody>
          <a:bodyPr wrap="square" rtlCol="0">
            <a:spAutoFit/>
          </a:bodyPr>
          <a:lstStyle/>
          <a:p>
            <a:r>
              <a:rPr lang="en-US" sz="2400" dirty="0"/>
              <a:t>Nominal</a:t>
            </a:r>
          </a:p>
        </p:txBody>
      </p:sp>
      <p:sp>
        <p:nvSpPr>
          <p:cNvPr id="14" name="TextBox 13">
            <a:extLst>
              <a:ext uri="{FF2B5EF4-FFF2-40B4-BE49-F238E27FC236}">
                <a16:creationId xmlns:a16="http://schemas.microsoft.com/office/drawing/2014/main" id="{B7FD72BF-A393-3AB7-3356-BE3FE52B18DD}"/>
              </a:ext>
            </a:extLst>
          </p:cNvPr>
          <p:cNvSpPr txBox="1"/>
          <p:nvPr/>
        </p:nvSpPr>
        <p:spPr>
          <a:xfrm>
            <a:off x="2745471" y="3196355"/>
            <a:ext cx="2662177" cy="461665"/>
          </a:xfrm>
          <a:prstGeom prst="rect">
            <a:avLst/>
          </a:prstGeom>
          <a:noFill/>
        </p:spPr>
        <p:txBody>
          <a:bodyPr wrap="square" rtlCol="0">
            <a:spAutoFit/>
          </a:bodyPr>
          <a:lstStyle/>
          <a:p>
            <a:r>
              <a:rPr lang="en-US" sz="2400" dirty="0"/>
              <a:t>Ordinal</a:t>
            </a:r>
          </a:p>
        </p:txBody>
      </p:sp>
      <p:sp>
        <p:nvSpPr>
          <p:cNvPr id="15" name="Right Arrow 14">
            <a:extLst>
              <a:ext uri="{FF2B5EF4-FFF2-40B4-BE49-F238E27FC236}">
                <a16:creationId xmlns:a16="http://schemas.microsoft.com/office/drawing/2014/main" id="{1E4F741D-2E30-60BE-354E-2EEF317C2D8D}"/>
              </a:ext>
            </a:extLst>
          </p:cNvPr>
          <p:cNvSpPr/>
          <p:nvPr/>
        </p:nvSpPr>
        <p:spPr>
          <a:xfrm>
            <a:off x="1539431" y="4791987"/>
            <a:ext cx="1099595" cy="219919"/>
          </a:xfrm>
          <a:prstGeom prst="rightArrow">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6" name="Right Arrow 15">
            <a:extLst>
              <a:ext uri="{FF2B5EF4-FFF2-40B4-BE49-F238E27FC236}">
                <a16:creationId xmlns:a16="http://schemas.microsoft.com/office/drawing/2014/main" id="{230C365F-1576-5AFE-4B6B-E566A6B96D1B}"/>
              </a:ext>
            </a:extLst>
          </p:cNvPr>
          <p:cNvSpPr/>
          <p:nvPr/>
        </p:nvSpPr>
        <p:spPr>
          <a:xfrm>
            <a:off x="1552933" y="5534395"/>
            <a:ext cx="1099595" cy="219919"/>
          </a:xfrm>
          <a:prstGeom prst="rightArrow">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7" name="TextBox 16">
            <a:extLst>
              <a:ext uri="{FF2B5EF4-FFF2-40B4-BE49-F238E27FC236}">
                <a16:creationId xmlns:a16="http://schemas.microsoft.com/office/drawing/2014/main" id="{A0D45B5C-5A6E-96BC-0296-4C4F794A62EC}"/>
              </a:ext>
            </a:extLst>
          </p:cNvPr>
          <p:cNvSpPr txBox="1"/>
          <p:nvPr/>
        </p:nvSpPr>
        <p:spPr>
          <a:xfrm>
            <a:off x="2749855" y="5391098"/>
            <a:ext cx="4488072" cy="461665"/>
          </a:xfrm>
          <a:prstGeom prst="rect">
            <a:avLst/>
          </a:prstGeom>
          <a:noFill/>
        </p:spPr>
        <p:txBody>
          <a:bodyPr wrap="square" rtlCol="0">
            <a:spAutoFit/>
          </a:bodyPr>
          <a:lstStyle/>
          <a:p>
            <a:r>
              <a:rPr lang="en-US" sz="2400" dirty="0"/>
              <a:t>Ratio scale (meaningful zero point)</a:t>
            </a:r>
          </a:p>
        </p:txBody>
      </p:sp>
      <p:sp>
        <p:nvSpPr>
          <p:cNvPr id="18" name="TextBox 17">
            <a:extLst>
              <a:ext uri="{FF2B5EF4-FFF2-40B4-BE49-F238E27FC236}">
                <a16:creationId xmlns:a16="http://schemas.microsoft.com/office/drawing/2014/main" id="{C9F9546D-1059-2655-E268-5D197040AB8B}"/>
              </a:ext>
            </a:extLst>
          </p:cNvPr>
          <p:cNvSpPr txBox="1"/>
          <p:nvPr/>
        </p:nvSpPr>
        <p:spPr>
          <a:xfrm>
            <a:off x="2758621" y="4664430"/>
            <a:ext cx="4479306" cy="461665"/>
          </a:xfrm>
          <a:prstGeom prst="rect">
            <a:avLst/>
          </a:prstGeom>
          <a:noFill/>
        </p:spPr>
        <p:txBody>
          <a:bodyPr wrap="square" rtlCol="0">
            <a:spAutoFit/>
          </a:bodyPr>
          <a:lstStyle/>
          <a:p>
            <a:r>
              <a:rPr lang="en-US" sz="2400" dirty="0"/>
              <a:t>Interval scale (arbitrary zero point)</a:t>
            </a:r>
          </a:p>
        </p:txBody>
      </p:sp>
      <p:pic>
        <p:nvPicPr>
          <p:cNvPr id="3078" name="Picture 6" descr="Tumor Grade - NCI">
            <a:extLst>
              <a:ext uri="{FF2B5EF4-FFF2-40B4-BE49-F238E27FC236}">
                <a16:creationId xmlns:a16="http://schemas.microsoft.com/office/drawing/2014/main" id="{35F8EBAE-BBBA-1395-F5C5-93E5F61C8C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07382" y="3060040"/>
            <a:ext cx="2602249" cy="1172954"/>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Opposite words with alive and dead 4480595 Vector Art at Vecteezy">
            <a:extLst>
              <a:ext uri="{FF2B5EF4-FFF2-40B4-BE49-F238E27FC236}">
                <a16:creationId xmlns:a16="http://schemas.microsoft.com/office/drawing/2014/main" id="{E4F2F3A4-9305-1AE1-C40F-22B88A496C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6421" y="1063154"/>
            <a:ext cx="1894433" cy="1432764"/>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Epithelial Ovarian Cancer: The Role of Cell Cycle Genes in the Different  Histotypes">
            <a:extLst>
              <a:ext uri="{FF2B5EF4-FFF2-40B4-BE49-F238E27FC236}">
                <a16:creationId xmlns:a16="http://schemas.microsoft.com/office/drawing/2014/main" id="{CDF981C1-3EA7-2F9E-28D6-A8BE8725BE2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44991" y="2060294"/>
            <a:ext cx="2720953" cy="1241997"/>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descr="Fever Information | Mount Sinai - New York">
            <a:extLst>
              <a:ext uri="{FF2B5EF4-FFF2-40B4-BE49-F238E27FC236}">
                <a16:creationId xmlns:a16="http://schemas.microsoft.com/office/drawing/2014/main" id="{278DC706-6055-F178-CBFA-5BFD9100219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20825" y="3996823"/>
            <a:ext cx="1894433" cy="1515547"/>
          </a:xfrm>
          <a:prstGeom prst="rect">
            <a:avLst/>
          </a:prstGeom>
          <a:noFill/>
          <a:extLst>
            <a:ext uri="{909E8E84-426E-40DD-AFC4-6F175D3DCCD1}">
              <a14:hiddenFill xmlns:a14="http://schemas.microsoft.com/office/drawing/2010/main">
                <a:solidFill>
                  <a:srgbClr val="FFFFFF"/>
                </a:solidFill>
              </a14:hiddenFill>
            </a:ext>
          </a:extLst>
        </p:spPr>
      </p:pic>
      <p:pic>
        <p:nvPicPr>
          <p:cNvPr id="3086" name="Picture 14" descr="Best Time to Weigh Yourself: Tips for Accurate Weight Tracking">
            <a:extLst>
              <a:ext uri="{FF2B5EF4-FFF2-40B4-BE49-F238E27FC236}">
                <a16:creationId xmlns:a16="http://schemas.microsoft.com/office/drawing/2014/main" id="{A16AAB20-AB72-B04B-AF01-570F0DE6965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97504" y="5034756"/>
            <a:ext cx="1857789" cy="13933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83266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AA5D3-29BF-DC1B-2EA3-EEFAD95379E5}"/>
              </a:ext>
            </a:extLst>
          </p:cNvPr>
          <p:cNvSpPr>
            <a:spLocks noGrp="1"/>
          </p:cNvSpPr>
          <p:nvPr>
            <p:ph type="ctrTitle"/>
          </p:nvPr>
        </p:nvSpPr>
        <p:spPr>
          <a:xfrm>
            <a:off x="32516" y="41262"/>
            <a:ext cx="9144000" cy="721895"/>
          </a:xfrm>
        </p:spPr>
        <p:txBody>
          <a:bodyPr>
            <a:noAutofit/>
          </a:bodyPr>
          <a:lstStyle/>
          <a:p>
            <a:pPr algn="l"/>
            <a:r>
              <a:rPr lang="en-US" sz="5000" b="1" dirty="0"/>
              <a:t>Data types</a:t>
            </a:r>
          </a:p>
        </p:txBody>
      </p:sp>
      <p:sp>
        <p:nvSpPr>
          <p:cNvPr id="6" name="Down Arrow 5">
            <a:extLst>
              <a:ext uri="{FF2B5EF4-FFF2-40B4-BE49-F238E27FC236}">
                <a16:creationId xmlns:a16="http://schemas.microsoft.com/office/drawing/2014/main" id="{B1970690-D54A-A48F-B2EB-D0D6105029AC}"/>
              </a:ext>
            </a:extLst>
          </p:cNvPr>
          <p:cNvSpPr/>
          <p:nvPr/>
        </p:nvSpPr>
        <p:spPr>
          <a:xfrm>
            <a:off x="185192" y="1157468"/>
            <a:ext cx="590309" cy="5220183"/>
          </a:xfrm>
          <a:prstGeom prst="downArrow">
            <a:avLst/>
          </a:prstGeom>
        </p:spPr>
        <p:style>
          <a:lnRef idx="2">
            <a:schemeClr val="accent6"/>
          </a:lnRef>
          <a:fillRef idx="1">
            <a:schemeClr val="lt1"/>
          </a:fillRef>
          <a:effectRef idx="0">
            <a:schemeClr val="accent6"/>
          </a:effectRef>
          <a:fontRef idx="minor">
            <a:schemeClr val="dk1"/>
          </a:fontRef>
        </p:style>
        <p:txBody>
          <a:bodyPr rtlCol="0" anchor="ctr">
            <a:scene3d>
              <a:camera prst="orthographicFront">
                <a:rot lat="0" lon="0" rev="0"/>
              </a:camera>
              <a:lightRig rig="threePt" dir="t"/>
            </a:scene3d>
          </a:bodyPr>
          <a:lstStyle/>
          <a:p>
            <a:r>
              <a:rPr lang="en-US" b="1" dirty="0"/>
              <a:t>Complexity</a:t>
            </a:r>
          </a:p>
        </p:txBody>
      </p:sp>
      <p:sp>
        <p:nvSpPr>
          <p:cNvPr id="7" name="TextBox 6">
            <a:extLst>
              <a:ext uri="{FF2B5EF4-FFF2-40B4-BE49-F238E27FC236}">
                <a16:creationId xmlns:a16="http://schemas.microsoft.com/office/drawing/2014/main" id="{68C6B3CD-DF2F-2C6E-660B-7F0A05B7B012}"/>
              </a:ext>
            </a:extLst>
          </p:cNvPr>
          <p:cNvSpPr txBox="1"/>
          <p:nvPr/>
        </p:nvSpPr>
        <p:spPr>
          <a:xfrm>
            <a:off x="937549" y="1045485"/>
            <a:ext cx="3402957" cy="646331"/>
          </a:xfrm>
          <a:prstGeom prst="rect">
            <a:avLst/>
          </a:prstGeom>
          <a:noFill/>
        </p:spPr>
        <p:txBody>
          <a:bodyPr wrap="square" rtlCol="0">
            <a:spAutoFit/>
          </a:bodyPr>
          <a:lstStyle/>
          <a:p>
            <a:r>
              <a:rPr lang="en-US" sz="3600" b="1" dirty="0"/>
              <a:t>Qualitative</a:t>
            </a:r>
          </a:p>
        </p:txBody>
      </p:sp>
      <p:sp>
        <p:nvSpPr>
          <p:cNvPr id="8" name="TextBox 7">
            <a:extLst>
              <a:ext uri="{FF2B5EF4-FFF2-40B4-BE49-F238E27FC236}">
                <a16:creationId xmlns:a16="http://schemas.microsoft.com/office/drawing/2014/main" id="{E4B4FFE1-6534-AB4F-04D3-33B3BE0B4754}"/>
              </a:ext>
            </a:extLst>
          </p:cNvPr>
          <p:cNvSpPr txBox="1"/>
          <p:nvPr/>
        </p:nvSpPr>
        <p:spPr>
          <a:xfrm>
            <a:off x="939474" y="3998960"/>
            <a:ext cx="3402957" cy="646331"/>
          </a:xfrm>
          <a:prstGeom prst="rect">
            <a:avLst/>
          </a:prstGeom>
          <a:noFill/>
        </p:spPr>
        <p:txBody>
          <a:bodyPr wrap="square" rtlCol="0">
            <a:spAutoFit/>
          </a:bodyPr>
          <a:lstStyle/>
          <a:p>
            <a:r>
              <a:rPr lang="en-US" sz="3600" b="1" dirty="0"/>
              <a:t>Quantitative</a:t>
            </a:r>
          </a:p>
        </p:txBody>
      </p:sp>
      <p:sp>
        <p:nvSpPr>
          <p:cNvPr id="9" name="Right Arrow 8">
            <a:extLst>
              <a:ext uri="{FF2B5EF4-FFF2-40B4-BE49-F238E27FC236}">
                <a16:creationId xmlns:a16="http://schemas.microsoft.com/office/drawing/2014/main" id="{2720A6A9-CC96-09CC-AB3A-4625A4677846}"/>
              </a:ext>
            </a:extLst>
          </p:cNvPr>
          <p:cNvSpPr/>
          <p:nvPr/>
        </p:nvSpPr>
        <p:spPr>
          <a:xfrm>
            <a:off x="1477699" y="1840376"/>
            <a:ext cx="1099595" cy="219919"/>
          </a:xfrm>
          <a:prstGeom prst="rightArrow">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TextBox 9">
            <a:extLst>
              <a:ext uri="{FF2B5EF4-FFF2-40B4-BE49-F238E27FC236}">
                <a16:creationId xmlns:a16="http://schemas.microsoft.com/office/drawing/2014/main" id="{C444FF8F-CF9B-E989-BC77-3B12526DF185}"/>
              </a:ext>
            </a:extLst>
          </p:cNvPr>
          <p:cNvSpPr txBox="1"/>
          <p:nvPr/>
        </p:nvSpPr>
        <p:spPr>
          <a:xfrm>
            <a:off x="2704616" y="1713219"/>
            <a:ext cx="2896688" cy="461665"/>
          </a:xfrm>
          <a:prstGeom prst="rect">
            <a:avLst/>
          </a:prstGeom>
          <a:noFill/>
        </p:spPr>
        <p:txBody>
          <a:bodyPr wrap="square" rtlCol="0">
            <a:spAutoFit/>
          </a:bodyPr>
          <a:lstStyle/>
          <a:p>
            <a:r>
              <a:rPr lang="en-US" sz="2400" dirty="0"/>
              <a:t>Binary/dichotomous</a:t>
            </a:r>
          </a:p>
        </p:txBody>
      </p:sp>
      <p:sp>
        <p:nvSpPr>
          <p:cNvPr id="11" name="Right Arrow 10">
            <a:extLst>
              <a:ext uri="{FF2B5EF4-FFF2-40B4-BE49-F238E27FC236}">
                <a16:creationId xmlns:a16="http://schemas.microsoft.com/office/drawing/2014/main" id="{A82129BD-C76E-B3C1-186A-82B124D5334D}"/>
              </a:ext>
            </a:extLst>
          </p:cNvPr>
          <p:cNvSpPr/>
          <p:nvPr/>
        </p:nvSpPr>
        <p:spPr>
          <a:xfrm>
            <a:off x="1502778" y="2571511"/>
            <a:ext cx="1099595" cy="219919"/>
          </a:xfrm>
          <a:prstGeom prst="rightArrow">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2" name="Right Arrow 11">
            <a:extLst>
              <a:ext uri="{FF2B5EF4-FFF2-40B4-BE49-F238E27FC236}">
                <a16:creationId xmlns:a16="http://schemas.microsoft.com/office/drawing/2014/main" id="{3F2FB123-C0AD-CF40-5C01-08722F661ECD}"/>
              </a:ext>
            </a:extLst>
          </p:cNvPr>
          <p:cNvSpPr/>
          <p:nvPr/>
        </p:nvSpPr>
        <p:spPr>
          <a:xfrm>
            <a:off x="1504706" y="3325795"/>
            <a:ext cx="1099595" cy="219919"/>
          </a:xfrm>
          <a:prstGeom prst="rightArrow">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3" name="TextBox 12">
            <a:extLst>
              <a:ext uri="{FF2B5EF4-FFF2-40B4-BE49-F238E27FC236}">
                <a16:creationId xmlns:a16="http://schemas.microsoft.com/office/drawing/2014/main" id="{598F76E1-973B-0CB3-A7A2-0460B2A638F8}"/>
              </a:ext>
            </a:extLst>
          </p:cNvPr>
          <p:cNvSpPr txBox="1"/>
          <p:nvPr/>
        </p:nvSpPr>
        <p:spPr>
          <a:xfrm>
            <a:off x="2718117" y="2428217"/>
            <a:ext cx="2662177" cy="461665"/>
          </a:xfrm>
          <a:prstGeom prst="rect">
            <a:avLst/>
          </a:prstGeom>
          <a:noFill/>
        </p:spPr>
        <p:txBody>
          <a:bodyPr wrap="square" rtlCol="0">
            <a:spAutoFit/>
          </a:bodyPr>
          <a:lstStyle/>
          <a:p>
            <a:r>
              <a:rPr lang="en-US" sz="2400" dirty="0"/>
              <a:t>Nominal</a:t>
            </a:r>
          </a:p>
        </p:txBody>
      </p:sp>
      <p:sp>
        <p:nvSpPr>
          <p:cNvPr id="14" name="TextBox 13">
            <a:extLst>
              <a:ext uri="{FF2B5EF4-FFF2-40B4-BE49-F238E27FC236}">
                <a16:creationId xmlns:a16="http://schemas.microsoft.com/office/drawing/2014/main" id="{B7FD72BF-A393-3AB7-3356-BE3FE52B18DD}"/>
              </a:ext>
            </a:extLst>
          </p:cNvPr>
          <p:cNvSpPr txBox="1"/>
          <p:nvPr/>
        </p:nvSpPr>
        <p:spPr>
          <a:xfrm>
            <a:off x="2745471" y="3196355"/>
            <a:ext cx="2662177" cy="461665"/>
          </a:xfrm>
          <a:prstGeom prst="rect">
            <a:avLst/>
          </a:prstGeom>
          <a:noFill/>
        </p:spPr>
        <p:txBody>
          <a:bodyPr wrap="square" rtlCol="0">
            <a:spAutoFit/>
          </a:bodyPr>
          <a:lstStyle/>
          <a:p>
            <a:r>
              <a:rPr lang="en-US" sz="2400" dirty="0"/>
              <a:t>Ordinal</a:t>
            </a:r>
          </a:p>
        </p:txBody>
      </p:sp>
      <p:sp>
        <p:nvSpPr>
          <p:cNvPr id="15" name="Right Arrow 14">
            <a:extLst>
              <a:ext uri="{FF2B5EF4-FFF2-40B4-BE49-F238E27FC236}">
                <a16:creationId xmlns:a16="http://schemas.microsoft.com/office/drawing/2014/main" id="{1E4F741D-2E30-60BE-354E-2EEF317C2D8D}"/>
              </a:ext>
            </a:extLst>
          </p:cNvPr>
          <p:cNvSpPr/>
          <p:nvPr/>
        </p:nvSpPr>
        <p:spPr>
          <a:xfrm>
            <a:off x="1539431" y="4794180"/>
            <a:ext cx="1099595" cy="219919"/>
          </a:xfrm>
          <a:prstGeom prst="rightArrow">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6" name="Right Arrow 15">
            <a:extLst>
              <a:ext uri="{FF2B5EF4-FFF2-40B4-BE49-F238E27FC236}">
                <a16:creationId xmlns:a16="http://schemas.microsoft.com/office/drawing/2014/main" id="{230C365F-1576-5AFE-4B6B-E566A6B96D1B}"/>
              </a:ext>
            </a:extLst>
          </p:cNvPr>
          <p:cNvSpPr/>
          <p:nvPr/>
        </p:nvSpPr>
        <p:spPr>
          <a:xfrm>
            <a:off x="1552933" y="5548463"/>
            <a:ext cx="1099595" cy="219919"/>
          </a:xfrm>
          <a:prstGeom prst="rightArrow">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7" name="TextBox 16">
            <a:extLst>
              <a:ext uri="{FF2B5EF4-FFF2-40B4-BE49-F238E27FC236}">
                <a16:creationId xmlns:a16="http://schemas.microsoft.com/office/drawing/2014/main" id="{A0D45B5C-5A6E-96BC-0296-4C4F794A62EC}"/>
              </a:ext>
            </a:extLst>
          </p:cNvPr>
          <p:cNvSpPr txBox="1"/>
          <p:nvPr/>
        </p:nvSpPr>
        <p:spPr>
          <a:xfrm>
            <a:off x="2749855" y="5405166"/>
            <a:ext cx="3288437" cy="461665"/>
          </a:xfrm>
          <a:prstGeom prst="rect">
            <a:avLst/>
          </a:prstGeom>
          <a:noFill/>
        </p:spPr>
        <p:txBody>
          <a:bodyPr wrap="square" rtlCol="0">
            <a:spAutoFit/>
          </a:bodyPr>
          <a:lstStyle/>
          <a:p>
            <a:r>
              <a:rPr lang="en-US" sz="2400" dirty="0"/>
              <a:t>Continuous</a:t>
            </a:r>
          </a:p>
        </p:txBody>
      </p:sp>
      <p:sp>
        <p:nvSpPr>
          <p:cNvPr id="18" name="TextBox 17">
            <a:extLst>
              <a:ext uri="{FF2B5EF4-FFF2-40B4-BE49-F238E27FC236}">
                <a16:creationId xmlns:a16="http://schemas.microsoft.com/office/drawing/2014/main" id="{C9F9546D-1059-2655-E268-5D197040AB8B}"/>
              </a:ext>
            </a:extLst>
          </p:cNvPr>
          <p:cNvSpPr txBox="1"/>
          <p:nvPr/>
        </p:nvSpPr>
        <p:spPr>
          <a:xfrm>
            <a:off x="2758622" y="4654748"/>
            <a:ext cx="3586760" cy="461665"/>
          </a:xfrm>
          <a:prstGeom prst="rect">
            <a:avLst/>
          </a:prstGeom>
          <a:noFill/>
        </p:spPr>
        <p:txBody>
          <a:bodyPr wrap="square" rtlCol="0">
            <a:spAutoFit/>
          </a:bodyPr>
          <a:lstStyle/>
          <a:p>
            <a:r>
              <a:rPr lang="en-US" sz="2400" dirty="0"/>
              <a:t>Discrete</a:t>
            </a:r>
          </a:p>
        </p:txBody>
      </p:sp>
      <p:pic>
        <p:nvPicPr>
          <p:cNvPr id="3078" name="Picture 6" descr="Tumor Grade - NCI">
            <a:extLst>
              <a:ext uri="{FF2B5EF4-FFF2-40B4-BE49-F238E27FC236}">
                <a16:creationId xmlns:a16="http://schemas.microsoft.com/office/drawing/2014/main" id="{35F8EBAE-BBBA-1395-F5C5-93E5F61C8C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07382" y="3060040"/>
            <a:ext cx="2602249" cy="1172954"/>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Opposite words with alive and dead 4480595 Vector Art at Vecteezy">
            <a:extLst>
              <a:ext uri="{FF2B5EF4-FFF2-40B4-BE49-F238E27FC236}">
                <a16:creationId xmlns:a16="http://schemas.microsoft.com/office/drawing/2014/main" id="{E4F2F3A4-9305-1AE1-C40F-22B88A496C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6421" y="1063154"/>
            <a:ext cx="1894433" cy="1432764"/>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Epithelial Ovarian Cancer: The Role of Cell Cycle Genes in the Different  Histotypes">
            <a:extLst>
              <a:ext uri="{FF2B5EF4-FFF2-40B4-BE49-F238E27FC236}">
                <a16:creationId xmlns:a16="http://schemas.microsoft.com/office/drawing/2014/main" id="{CDF981C1-3EA7-2F9E-28D6-A8BE8725BE2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44991" y="2060294"/>
            <a:ext cx="2720953" cy="1241997"/>
          </a:xfrm>
          <a:prstGeom prst="rect">
            <a:avLst/>
          </a:prstGeom>
          <a:noFill/>
          <a:extLst>
            <a:ext uri="{909E8E84-426E-40DD-AFC4-6F175D3DCCD1}">
              <a14:hiddenFill xmlns:a14="http://schemas.microsoft.com/office/drawing/2010/main">
                <a:solidFill>
                  <a:srgbClr val="FFFFFF"/>
                </a:solidFill>
              </a14:hiddenFill>
            </a:ext>
          </a:extLst>
        </p:spPr>
      </p:pic>
      <p:pic>
        <p:nvPicPr>
          <p:cNvPr id="3086" name="Picture 14" descr="Best Time to Weigh Yourself: Tips for Accurate Weight Tracking">
            <a:extLst>
              <a:ext uri="{FF2B5EF4-FFF2-40B4-BE49-F238E27FC236}">
                <a16:creationId xmlns:a16="http://schemas.microsoft.com/office/drawing/2014/main" id="{A16AAB20-AB72-B04B-AF01-570F0DE6965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14528" y="4939327"/>
            <a:ext cx="1857789" cy="139334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F8A91FE-16BE-7A7A-3066-E43A66CBDD22}"/>
              </a:ext>
            </a:extLst>
          </p:cNvPr>
          <p:cNvSpPr txBox="1"/>
          <p:nvPr/>
        </p:nvSpPr>
        <p:spPr>
          <a:xfrm>
            <a:off x="4721438" y="4378681"/>
            <a:ext cx="1842831" cy="830997"/>
          </a:xfrm>
          <a:prstGeom prst="rect">
            <a:avLst/>
          </a:prstGeom>
          <a:noFill/>
          <a:ln w="22225">
            <a:solidFill>
              <a:schemeClr val="accent6"/>
            </a:solidFill>
          </a:ln>
        </p:spPr>
        <p:txBody>
          <a:bodyPr wrap="square" rtlCol="0">
            <a:spAutoFit/>
          </a:bodyPr>
          <a:lstStyle/>
          <a:p>
            <a:pPr algn="ctr"/>
            <a:r>
              <a:rPr lang="en-US" sz="2400" dirty="0"/>
              <a:t>Number of metastases</a:t>
            </a:r>
          </a:p>
        </p:txBody>
      </p:sp>
    </p:spTree>
    <p:extLst>
      <p:ext uri="{BB962C8B-B14F-4D97-AF65-F5344CB8AC3E}">
        <p14:creationId xmlns:p14="http://schemas.microsoft.com/office/powerpoint/2010/main" val="7222384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3793136-BC27-4182-1267-1DB66A3357B6}"/>
              </a:ext>
            </a:extLst>
          </p:cNvPr>
          <p:cNvSpPr txBox="1">
            <a:spLocks/>
          </p:cNvSpPr>
          <p:nvPr/>
        </p:nvSpPr>
        <p:spPr>
          <a:xfrm>
            <a:off x="0" y="24068"/>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Descriptive statistics, univariate analysis</a:t>
            </a:r>
          </a:p>
        </p:txBody>
      </p:sp>
      <p:sp>
        <p:nvSpPr>
          <p:cNvPr id="2" name="TextBox 1">
            <a:extLst>
              <a:ext uri="{FF2B5EF4-FFF2-40B4-BE49-F238E27FC236}">
                <a16:creationId xmlns:a16="http://schemas.microsoft.com/office/drawing/2014/main" id="{4A3E0ECF-845C-40E0-5921-C2149E23D3D6}"/>
              </a:ext>
            </a:extLst>
          </p:cNvPr>
          <p:cNvSpPr txBox="1"/>
          <p:nvPr/>
        </p:nvSpPr>
        <p:spPr>
          <a:xfrm>
            <a:off x="6253843" y="942110"/>
            <a:ext cx="5789767" cy="461665"/>
          </a:xfrm>
          <a:prstGeom prst="rect">
            <a:avLst/>
          </a:prstGeom>
          <a:solidFill>
            <a:schemeClr val="accent4">
              <a:lumMod val="20000"/>
              <a:lumOff val="80000"/>
            </a:schemeClr>
          </a:solidFill>
        </p:spPr>
        <p:txBody>
          <a:bodyPr wrap="square" rtlCol="0">
            <a:spAutoFit/>
          </a:bodyPr>
          <a:lstStyle/>
          <a:p>
            <a:pPr algn="r"/>
            <a:r>
              <a:rPr lang="en-US" sz="2400" b="1" dirty="0"/>
              <a:t>Nominal data</a:t>
            </a:r>
            <a:r>
              <a:rPr lang="en-US" sz="2400" dirty="0"/>
              <a:t>, measures of central tendency </a:t>
            </a:r>
          </a:p>
        </p:txBody>
      </p:sp>
      <p:graphicFrame>
        <p:nvGraphicFramePr>
          <p:cNvPr id="3" name="Table 2">
            <a:extLst>
              <a:ext uri="{FF2B5EF4-FFF2-40B4-BE49-F238E27FC236}">
                <a16:creationId xmlns:a16="http://schemas.microsoft.com/office/drawing/2014/main" id="{2984A6DD-FE57-4B26-8485-FB34AEAFE9AC}"/>
              </a:ext>
            </a:extLst>
          </p:cNvPr>
          <p:cNvGraphicFramePr>
            <a:graphicFrameLocks noGrp="1"/>
          </p:cNvGraphicFramePr>
          <p:nvPr/>
        </p:nvGraphicFramePr>
        <p:xfrm>
          <a:off x="323516" y="1355515"/>
          <a:ext cx="4511718" cy="2743200"/>
        </p:xfrm>
        <a:graphic>
          <a:graphicData uri="http://schemas.openxmlformats.org/drawingml/2006/table">
            <a:tbl>
              <a:tblPr firstRow="1" bandRow="1">
                <a:tableStyleId>{073A0DAA-6AF3-43AB-8588-CEC1D06C72B9}</a:tableStyleId>
              </a:tblPr>
              <a:tblGrid>
                <a:gridCol w="2287011">
                  <a:extLst>
                    <a:ext uri="{9D8B030D-6E8A-4147-A177-3AD203B41FA5}">
                      <a16:colId xmlns:a16="http://schemas.microsoft.com/office/drawing/2014/main" val="1293280914"/>
                    </a:ext>
                  </a:extLst>
                </a:gridCol>
                <a:gridCol w="1104270">
                  <a:extLst>
                    <a:ext uri="{9D8B030D-6E8A-4147-A177-3AD203B41FA5}">
                      <a16:colId xmlns:a16="http://schemas.microsoft.com/office/drawing/2014/main" val="1822612096"/>
                    </a:ext>
                  </a:extLst>
                </a:gridCol>
                <a:gridCol w="1120437">
                  <a:extLst>
                    <a:ext uri="{9D8B030D-6E8A-4147-A177-3AD203B41FA5}">
                      <a16:colId xmlns:a16="http://schemas.microsoft.com/office/drawing/2014/main" val="2518274439"/>
                    </a:ext>
                  </a:extLst>
                </a:gridCol>
              </a:tblGrid>
              <a:tr h="450644">
                <a:tc>
                  <a:txBody>
                    <a:bodyPr/>
                    <a:lstStyle/>
                    <a:p>
                      <a:r>
                        <a:rPr lang="en-US" sz="2400" dirty="0" err="1">
                          <a:solidFill>
                            <a:sysClr val="windowText" lastClr="000000"/>
                          </a:solidFill>
                        </a:rPr>
                        <a:t>Histotype</a:t>
                      </a:r>
                      <a:endParaRPr lang="en-US" sz="2400" dirty="0">
                        <a:solidFill>
                          <a:sysClr val="windowText" lastClr="000000"/>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dirty="0">
                          <a:solidFill>
                            <a:sysClr val="windowText" lastClr="000000"/>
                          </a:solidFill>
                        </a:rPr>
                        <a:t>N</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dirty="0">
                          <a:solidFill>
                            <a:sysClr val="windowText" lastClr="000000"/>
                          </a:solidFill>
                        </a:rPr>
                        <a:t>%</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63378188"/>
                  </a:ext>
                </a:extLst>
              </a:tr>
              <a:tr h="450644">
                <a:tc>
                  <a:txBody>
                    <a:bodyPr/>
                    <a:lstStyle/>
                    <a:p>
                      <a:r>
                        <a:rPr lang="en-US" sz="2400" dirty="0"/>
                        <a:t>Serous</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a:txBody>
                    <a:bodyPr/>
                    <a:lstStyle/>
                    <a:p>
                      <a:r>
                        <a:rPr lang="en-US" sz="2400" dirty="0"/>
                        <a:t>48</a:t>
                      </a:r>
                    </a:p>
                  </a:txBody>
                  <a:tcPr>
                    <a:lnT w="12700" cap="flat" cmpd="sng" algn="ctr">
                      <a:solidFill>
                        <a:schemeClr val="tx1"/>
                      </a:solidFill>
                      <a:prstDash val="solid"/>
                      <a:round/>
                      <a:headEnd type="none" w="med" len="med"/>
                      <a:tailEnd type="none" w="med" len="med"/>
                    </a:lnT>
                    <a:noFill/>
                  </a:tcPr>
                </a:tc>
                <a:tc>
                  <a:txBody>
                    <a:bodyPr/>
                    <a:lstStyle/>
                    <a:p>
                      <a:r>
                        <a:rPr lang="en-US" sz="2400" dirty="0"/>
                        <a:t>41.7</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719071018"/>
                  </a:ext>
                </a:extLst>
              </a:tr>
              <a:tr h="450644">
                <a:tc>
                  <a:txBody>
                    <a:bodyPr/>
                    <a:lstStyle/>
                    <a:p>
                      <a:r>
                        <a:rPr lang="en-US" sz="2400" dirty="0"/>
                        <a:t>Undifferentiated</a:t>
                      </a:r>
                    </a:p>
                  </a:txBody>
                  <a:tcPr>
                    <a:lnL w="12700" cap="flat" cmpd="sng" algn="ctr">
                      <a:solidFill>
                        <a:schemeClr val="tx1"/>
                      </a:solidFill>
                      <a:prstDash val="solid"/>
                      <a:round/>
                      <a:headEnd type="none" w="med" len="med"/>
                      <a:tailEnd type="none" w="med" len="med"/>
                    </a:lnL>
                    <a:noFill/>
                  </a:tcPr>
                </a:tc>
                <a:tc>
                  <a:txBody>
                    <a:bodyPr/>
                    <a:lstStyle/>
                    <a:p>
                      <a:r>
                        <a:rPr lang="en-US" sz="2400" dirty="0"/>
                        <a:t>22</a:t>
                      </a:r>
                    </a:p>
                  </a:txBody>
                  <a:tcPr>
                    <a:noFill/>
                  </a:tcPr>
                </a:tc>
                <a:tc>
                  <a:txBody>
                    <a:bodyPr/>
                    <a:lstStyle/>
                    <a:p>
                      <a:r>
                        <a:rPr lang="en-US" sz="2400" dirty="0"/>
                        <a:t>19.1</a:t>
                      </a:r>
                    </a:p>
                  </a:txBody>
                  <a:tcPr>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2056243135"/>
                  </a:ext>
                </a:extLst>
              </a:tr>
              <a:tr h="450644">
                <a:tc>
                  <a:txBody>
                    <a:bodyPr/>
                    <a:lstStyle/>
                    <a:p>
                      <a:r>
                        <a:rPr lang="en-US" sz="2400" dirty="0"/>
                        <a:t>Endometrioid</a:t>
                      </a:r>
                    </a:p>
                  </a:txBody>
                  <a:tcPr>
                    <a:lnL w="12700" cap="flat" cmpd="sng" algn="ctr">
                      <a:solidFill>
                        <a:schemeClr val="tx1"/>
                      </a:solidFill>
                      <a:prstDash val="solid"/>
                      <a:round/>
                      <a:headEnd type="none" w="med" len="med"/>
                      <a:tailEnd type="none" w="med" len="med"/>
                    </a:lnL>
                    <a:noFill/>
                  </a:tcPr>
                </a:tc>
                <a:tc>
                  <a:txBody>
                    <a:bodyPr/>
                    <a:lstStyle/>
                    <a:p>
                      <a:r>
                        <a:rPr lang="en-US" sz="2400" dirty="0"/>
                        <a:t>21</a:t>
                      </a:r>
                    </a:p>
                  </a:txBody>
                  <a:tcPr>
                    <a:noFill/>
                  </a:tcPr>
                </a:tc>
                <a:tc>
                  <a:txBody>
                    <a:bodyPr/>
                    <a:lstStyle/>
                    <a:p>
                      <a:r>
                        <a:rPr lang="en-US" sz="2400" dirty="0"/>
                        <a:t>18.3</a:t>
                      </a:r>
                    </a:p>
                  </a:txBody>
                  <a:tcPr>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691507401"/>
                  </a:ext>
                </a:extLst>
              </a:tr>
              <a:tr h="450644">
                <a:tc>
                  <a:txBody>
                    <a:bodyPr/>
                    <a:lstStyle/>
                    <a:p>
                      <a:r>
                        <a:rPr lang="en-US" sz="2400" dirty="0"/>
                        <a:t>Mucinous</a:t>
                      </a:r>
                    </a:p>
                  </a:txBody>
                  <a:tcPr>
                    <a:lnL w="12700" cap="flat" cmpd="sng" algn="ctr">
                      <a:solidFill>
                        <a:schemeClr val="tx1"/>
                      </a:solidFill>
                      <a:prstDash val="solid"/>
                      <a:round/>
                      <a:headEnd type="none" w="med" len="med"/>
                      <a:tailEnd type="none" w="med" len="med"/>
                    </a:lnL>
                    <a:noFill/>
                  </a:tcPr>
                </a:tc>
                <a:tc>
                  <a:txBody>
                    <a:bodyPr/>
                    <a:lstStyle/>
                    <a:p>
                      <a:r>
                        <a:rPr lang="en-US" sz="2400" dirty="0"/>
                        <a:t>16</a:t>
                      </a:r>
                    </a:p>
                  </a:txBody>
                  <a:tcPr>
                    <a:noFill/>
                  </a:tcPr>
                </a:tc>
                <a:tc>
                  <a:txBody>
                    <a:bodyPr/>
                    <a:lstStyle/>
                    <a:p>
                      <a:r>
                        <a:rPr lang="en-US" sz="2400" dirty="0"/>
                        <a:t>13.9</a:t>
                      </a:r>
                    </a:p>
                  </a:txBody>
                  <a:tcPr>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2090352095"/>
                  </a:ext>
                </a:extLst>
              </a:tr>
              <a:tr h="450644">
                <a:tc>
                  <a:txBody>
                    <a:bodyPr/>
                    <a:lstStyle/>
                    <a:p>
                      <a:r>
                        <a:rPr lang="en-US" sz="2400" dirty="0"/>
                        <a:t>Clear cell</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a:txBody>
                    <a:bodyPr/>
                    <a:lstStyle/>
                    <a:p>
                      <a:r>
                        <a:rPr lang="en-US" sz="2400" dirty="0"/>
                        <a:t>8</a:t>
                      </a:r>
                    </a:p>
                  </a:txBody>
                  <a:tcPr>
                    <a:lnB w="12700" cap="flat" cmpd="sng" algn="ctr">
                      <a:solidFill>
                        <a:schemeClr val="tx1"/>
                      </a:solidFill>
                      <a:prstDash val="solid"/>
                      <a:round/>
                      <a:headEnd type="none" w="med" len="med"/>
                      <a:tailEnd type="none" w="med" len="med"/>
                    </a:lnB>
                    <a:noFill/>
                  </a:tcPr>
                </a:tc>
                <a:tc>
                  <a:txBody>
                    <a:bodyPr/>
                    <a:lstStyle/>
                    <a:p>
                      <a:r>
                        <a:rPr lang="en-US" sz="2400" dirty="0"/>
                        <a:t>7.0</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84368410"/>
                  </a:ext>
                </a:extLst>
              </a:tr>
            </a:tbl>
          </a:graphicData>
        </a:graphic>
      </p:graphicFrame>
      <p:pic>
        <p:nvPicPr>
          <p:cNvPr id="4" name="Picture 10" descr="Epithelial Ovarian Cancer: The Role of Cell Cycle Genes in the Different  Histotypes">
            <a:extLst>
              <a:ext uri="{FF2B5EF4-FFF2-40B4-BE49-F238E27FC236}">
                <a16:creationId xmlns:a16="http://schemas.microsoft.com/office/drawing/2014/main" id="{6D089983-8E09-AE78-B105-30F7059A6E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95674" y="4561788"/>
            <a:ext cx="4462976" cy="2037155"/>
          </a:xfrm>
          <a:prstGeom prst="rect">
            <a:avLst/>
          </a:prstGeom>
          <a:noFill/>
          <a:extLst>
            <a:ext uri="{909E8E84-426E-40DD-AFC4-6F175D3DCCD1}">
              <a14:hiddenFill xmlns:a14="http://schemas.microsoft.com/office/drawing/2010/main">
                <a:solidFill>
                  <a:srgbClr val="FFFFFF"/>
                </a:solidFill>
              </a14:hiddenFill>
            </a:ext>
          </a:extLst>
        </p:spPr>
      </p:pic>
      <p:sp>
        <p:nvSpPr>
          <p:cNvPr id="5" name="Right Arrow 4">
            <a:extLst>
              <a:ext uri="{FF2B5EF4-FFF2-40B4-BE49-F238E27FC236}">
                <a16:creationId xmlns:a16="http://schemas.microsoft.com/office/drawing/2014/main" id="{7F2B239C-4D38-C84C-9E53-3A0214075195}"/>
              </a:ext>
            </a:extLst>
          </p:cNvPr>
          <p:cNvSpPr/>
          <p:nvPr/>
        </p:nvSpPr>
        <p:spPr>
          <a:xfrm>
            <a:off x="5140036" y="1983674"/>
            <a:ext cx="1454728" cy="221673"/>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266A44D-3B21-C743-CFC7-26DB2480DC6A}"/>
              </a:ext>
            </a:extLst>
          </p:cNvPr>
          <p:cNvSpPr txBox="1"/>
          <p:nvPr/>
        </p:nvSpPr>
        <p:spPr>
          <a:xfrm>
            <a:off x="6774879" y="1861299"/>
            <a:ext cx="5363885" cy="1200329"/>
          </a:xfrm>
          <a:prstGeom prst="rect">
            <a:avLst/>
          </a:prstGeom>
          <a:noFill/>
        </p:spPr>
        <p:txBody>
          <a:bodyPr wrap="square">
            <a:spAutoFit/>
          </a:bodyPr>
          <a:lstStyle/>
          <a:p>
            <a:r>
              <a:rPr lang="en-GB" sz="2400" i="0" u="none" strike="noStrike" dirty="0">
                <a:effectLst/>
              </a:rPr>
              <a:t>Serous is the </a:t>
            </a:r>
            <a:r>
              <a:rPr lang="en-GB" sz="2400" b="1" i="0" u="none" strike="noStrike" dirty="0">
                <a:effectLst/>
              </a:rPr>
              <a:t>mode</a:t>
            </a:r>
            <a:r>
              <a:rPr lang="en-GB" sz="2400" i="0" u="none" strike="noStrike" dirty="0">
                <a:effectLst/>
              </a:rPr>
              <a:t>.</a:t>
            </a:r>
          </a:p>
          <a:p>
            <a:r>
              <a:rPr lang="en-GB" sz="2400" i="0" u="none" strike="noStrike" dirty="0">
                <a:effectLst/>
              </a:rPr>
              <a:t>The mode is the category that appears most often in a set of data values.</a:t>
            </a:r>
            <a:endParaRPr lang="en-US" sz="2400" dirty="0"/>
          </a:p>
        </p:txBody>
      </p:sp>
      <p:sp>
        <p:nvSpPr>
          <p:cNvPr id="7" name="TextBox 6">
            <a:extLst>
              <a:ext uri="{FF2B5EF4-FFF2-40B4-BE49-F238E27FC236}">
                <a16:creationId xmlns:a16="http://schemas.microsoft.com/office/drawing/2014/main" id="{3E7DBC19-2BC3-D8AD-7B60-A68055C9318C}"/>
              </a:ext>
            </a:extLst>
          </p:cNvPr>
          <p:cNvSpPr txBox="1"/>
          <p:nvPr/>
        </p:nvSpPr>
        <p:spPr>
          <a:xfrm>
            <a:off x="8521700" y="4230556"/>
            <a:ext cx="1104900" cy="338554"/>
          </a:xfrm>
          <a:prstGeom prst="rect">
            <a:avLst/>
          </a:prstGeom>
          <a:noFill/>
        </p:spPr>
        <p:txBody>
          <a:bodyPr wrap="square" rtlCol="0">
            <a:spAutoFit/>
          </a:bodyPr>
          <a:lstStyle/>
          <a:p>
            <a:pPr algn="ctr"/>
            <a:r>
              <a:rPr lang="en-US" sz="1600" b="1" dirty="0"/>
              <a:t>Pie chart</a:t>
            </a:r>
          </a:p>
        </p:txBody>
      </p:sp>
    </p:spTree>
    <p:extLst>
      <p:ext uri="{BB962C8B-B14F-4D97-AF65-F5344CB8AC3E}">
        <p14:creationId xmlns:p14="http://schemas.microsoft.com/office/powerpoint/2010/main" val="27814774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3793136-BC27-4182-1267-1DB66A3357B6}"/>
              </a:ext>
            </a:extLst>
          </p:cNvPr>
          <p:cNvSpPr txBox="1">
            <a:spLocks/>
          </p:cNvSpPr>
          <p:nvPr/>
        </p:nvSpPr>
        <p:spPr>
          <a:xfrm>
            <a:off x="0" y="24068"/>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Descriptive statistics, univariate analysis</a:t>
            </a:r>
          </a:p>
        </p:txBody>
      </p:sp>
      <p:sp>
        <p:nvSpPr>
          <p:cNvPr id="2" name="TextBox 1">
            <a:extLst>
              <a:ext uri="{FF2B5EF4-FFF2-40B4-BE49-F238E27FC236}">
                <a16:creationId xmlns:a16="http://schemas.microsoft.com/office/drawing/2014/main" id="{4A3E0ECF-845C-40E0-5921-C2149E23D3D6}"/>
              </a:ext>
            </a:extLst>
          </p:cNvPr>
          <p:cNvSpPr txBox="1"/>
          <p:nvPr/>
        </p:nvSpPr>
        <p:spPr>
          <a:xfrm>
            <a:off x="6384470" y="942110"/>
            <a:ext cx="5659139" cy="461665"/>
          </a:xfrm>
          <a:prstGeom prst="rect">
            <a:avLst/>
          </a:prstGeom>
          <a:solidFill>
            <a:schemeClr val="accent2">
              <a:lumMod val="20000"/>
              <a:lumOff val="80000"/>
            </a:schemeClr>
          </a:solidFill>
        </p:spPr>
        <p:txBody>
          <a:bodyPr wrap="square" rtlCol="0">
            <a:spAutoFit/>
          </a:bodyPr>
          <a:lstStyle/>
          <a:p>
            <a:pPr algn="r"/>
            <a:r>
              <a:rPr lang="en-US" sz="2400" b="1" dirty="0"/>
              <a:t>Ordinal data, </a:t>
            </a:r>
            <a:r>
              <a:rPr lang="en-US" sz="2400" dirty="0"/>
              <a:t>measures of central tendency </a:t>
            </a:r>
          </a:p>
        </p:txBody>
      </p:sp>
      <p:graphicFrame>
        <p:nvGraphicFramePr>
          <p:cNvPr id="3" name="Table 2">
            <a:extLst>
              <a:ext uri="{FF2B5EF4-FFF2-40B4-BE49-F238E27FC236}">
                <a16:creationId xmlns:a16="http://schemas.microsoft.com/office/drawing/2014/main" id="{2984A6DD-FE57-4B26-8485-FB34AEAFE9AC}"/>
              </a:ext>
            </a:extLst>
          </p:cNvPr>
          <p:cNvGraphicFramePr>
            <a:graphicFrameLocks noGrp="1"/>
          </p:cNvGraphicFramePr>
          <p:nvPr/>
        </p:nvGraphicFramePr>
        <p:xfrm>
          <a:off x="323516" y="1355515"/>
          <a:ext cx="4511718" cy="2286000"/>
        </p:xfrm>
        <a:graphic>
          <a:graphicData uri="http://schemas.openxmlformats.org/drawingml/2006/table">
            <a:tbl>
              <a:tblPr firstRow="1" bandRow="1">
                <a:tableStyleId>{073A0DAA-6AF3-43AB-8588-CEC1D06C72B9}</a:tableStyleId>
              </a:tblPr>
              <a:tblGrid>
                <a:gridCol w="2287011">
                  <a:extLst>
                    <a:ext uri="{9D8B030D-6E8A-4147-A177-3AD203B41FA5}">
                      <a16:colId xmlns:a16="http://schemas.microsoft.com/office/drawing/2014/main" val="1293280914"/>
                    </a:ext>
                  </a:extLst>
                </a:gridCol>
                <a:gridCol w="1104270">
                  <a:extLst>
                    <a:ext uri="{9D8B030D-6E8A-4147-A177-3AD203B41FA5}">
                      <a16:colId xmlns:a16="http://schemas.microsoft.com/office/drawing/2014/main" val="1822612096"/>
                    </a:ext>
                  </a:extLst>
                </a:gridCol>
                <a:gridCol w="1120437">
                  <a:extLst>
                    <a:ext uri="{9D8B030D-6E8A-4147-A177-3AD203B41FA5}">
                      <a16:colId xmlns:a16="http://schemas.microsoft.com/office/drawing/2014/main" val="2518274439"/>
                    </a:ext>
                  </a:extLst>
                </a:gridCol>
              </a:tblGrid>
              <a:tr h="450644">
                <a:tc>
                  <a:txBody>
                    <a:bodyPr/>
                    <a:lstStyle/>
                    <a:p>
                      <a:r>
                        <a:rPr lang="en-US" sz="2400" dirty="0">
                          <a:solidFill>
                            <a:sysClr val="windowText" lastClr="000000"/>
                          </a:solidFill>
                        </a:rPr>
                        <a:t>Grading</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dirty="0">
                          <a:solidFill>
                            <a:sysClr val="windowText" lastClr="000000"/>
                          </a:solidFill>
                        </a:rPr>
                        <a:t>N</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dirty="0">
                          <a:solidFill>
                            <a:sysClr val="windowText" lastClr="000000"/>
                          </a:solidFill>
                        </a:rPr>
                        <a:t>%</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63378188"/>
                  </a:ext>
                </a:extLst>
              </a:tr>
              <a:tr h="450644">
                <a:tc>
                  <a:txBody>
                    <a:bodyPr/>
                    <a:lstStyle/>
                    <a:p>
                      <a:r>
                        <a:rPr lang="en-US" sz="2400" dirty="0"/>
                        <a:t>G1</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a:txBody>
                    <a:bodyPr/>
                    <a:lstStyle/>
                    <a:p>
                      <a:r>
                        <a:rPr lang="en-US" sz="2400" dirty="0"/>
                        <a:t>48</a:t>
                      </a:r>
                    </a:p>
                  </a:txBody>
                  <a:tcPr>
                    <a:lnT w="12700" cap="flat" cmpd="sng" algn="ctr">
                      <a:solidFill>
                        <a:schemeClr val="tx1"/>
                      </a:solidFill>
                      <a:prstDash val="solid"/>
                      <a:round/>
                      <a:headEnd type="none" w="med" len="med"/>
                      <a:tailEnd type="none" w="med" len="med"/>
                    </a:lnT>
                    <a:noFill/>
                  </a:tcPr>
                </a:tc>
                <a:tc>
                  <a:txBody>
                    <a:bodyPr/>
                    <a:lstStyle/>
                    <a:p>
                      <a:r>
                        <a:rPr lang="en-US" sz="2400" dirty="0"/>
                        <a:t>45.7</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719071018"/>
                  </a:ext>
                </a:extLst>
              </a:tr>
              <a:tr h="450644">
                <a:tc>
                  <a:txBody>
                    <a:bodyPr/>
                    <a:lstStyle/>
                    <a:p>
                      <a:r>
                        <a:rPr lang="en-US" sz="2400" dirty="0"/>
                        <a:t>G2</a:t>
                      </a:r>
                    </a:p>
                  </a:txBody>
                  <a:tcPr>
                    <a:lnL w="12700" cap="flat" cmpd="sng" algn="ctr">
                      <a:solidFill>
                        <a:schemeClr val="tx1"/>
                      </a:solidFill>
                      <a:prstDash val="solid"/>
                      <a:round/>
                      <a:headEnd type="none" w="med" len="med"/>
                      <a:tailEnd type="none" w="med" len="med"/>
                    </a:lnL>
                    <a:noFill/>
                  </a:tcPr>
                </a:tc>
                <a:tc>
                  <a:txBody>
                    <a:bodyPr/>
                    <a:lstStyle/>
                    <a:p>
                      <a:r>
                        <a:rPr lang="en-US" sz="2400" dirty="0"/>
                        <a:t>18</a:t>
                      </a:r>
                    </a:p>
                  </a:txBody>
                  <a:tcPr>
                    <a:noFill/>
                  </a:tcPr>
                </a:tc>
                <a:tc>
                  <a:txBody>
                    <a:bodyPr/>
                    <a:lstStyle/>
                    <a:p>
                      <a:r>
                        <a:rPr lang="en-US" sz="2400" dirty="0"/>
                        <a:t>17.1</a:t>
                      </a:r>
                    </a:p>
                  </a:txBody>
                  <a:tcPr>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2056243135"/>
                  </a:ext>
                </a:extLst>
              </a:tr>
              <a:tr h="450644">
                <a:tc>
                  <a:txBody>
                    <a:bodyPr/>
                    <a:lstStyle/>
                    <a:p>
                      <a:r>
                        <a:rPr lang="en-US" sz="2400" dirty="0"/>
                        <a:t>G3</a:t>
                      </a:r>
                    </a:p>
                  </a:txBody>
                  <a:tcPr>
                    <a:lnL w="12700" cap="flat" cmpd="sng" algn="ctr">
                      <a:solidFill>
                        <a:schemeClr val="tx1"/>
                      </a:solidFill>
                      <a:prstDash val="solid"/>
                      <a:round/>
                      <a:headEnd type="none" w="med" len="med"/>
                      <a:tailEnd type="none" w="med" len="med"/>
                    </a:lnL>
                    <a:noFill/>
                  </a:tcPr>
                </a:tc>
                <a:tc>
                  <a:txBody>
                    <a:bodyPr/>
                    <a:lstStyle/>
                    <a:p>
                      <a:r>
                        <a:rPr lang="en-US" sz="2400" dirty="0"/>
                        <a:t>23</a:t>
                      </a:r>
                    </a:p>
                  </a:txBody>
                  <a:tcPr>
                    <a:noFill/>
                  </a:tcPr>
                </a:tc>
                <a:tc>
                  <a:txBody>
                    <a:bodyPr/>
                    <a:lstStyle/>
                    <a:p>
                      <a:r>
                        <a:rPr lang="en-US" sz="2400" dirty="0"/>
                        <a:t>21.9</a:t>
                      </a:r>
                    </a:p>
                  </a:txBody>
                  <a:tcPr>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691507401"/>
                  </a:ext>
                </a:extLst>
              </a:tr>
              <a:tr h="450644">
                <a:tc>
                  <a:txBody>
                    <a:bodyPr/>
                    <a:lstStyle/>
                    <a:p>
                      <a:r>
                        <a:rPr lang="en-US" sz="2400" dirty="0"/>
                        <a:t>G4</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a:txBody>
                    <a:bodyPr/>
                    <a:lstStyle/>
                    <a:p>
                      <a:r>
                        <a:rPr lang="en-US" sz="2400" dirty="0"/>
                        <a:t>16</a:t>
                      </a:r>
                    </a:p>
                  </a:txBody>
                  <a:tcPr>
                    <a:lnB w="12700" cap="flat" cmpd="sng" algn="ctr">
                      <a:solidFill>
                        <a:schemeClr val="tx1"/>
                      </a:solidFill>
                      <a:prstDash val="solid"/>
                      <a:round/>
                      <a:headEnd type="none" w="med" len="med"/>
                      <a:tailEnd type="none" w="med" len="med"/>
                    </a:lnB>
                    <a:noFill/>
                  </a:tcPr>
                </a:tc>
                <a:tc>
                  <a:txBody>
                    <a:bodyPr/>
                    <a:lstStyle/>
                    <a:p>
                      <a:r>
                        <a:rPr lang="en-US" sz="2400" dirty="0"/>
                        <a:t>15.2</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0352095"/>
                  </a:ext>
                </a:extLst>
              </a:tr>
            </a:tbl>
          </a:graphicData>
        </a:graphic>
      </p:graphicFrame>
      <p:sp>
        <p:nvSpPr>
          <p:cNvPr id="5" name="Right Arrow 4">
            <a:extLst>
              <a:ext uri="{FF2B5EF4-FFF2-40B4-BE49-F238E27FC236}">
                <a16:creationId xmlns:a16="http://schemas.microsoft.com/office/drawing/2014/main" id="{7F2B239C-4D38-C84C-9E53-3A0214075195}"/>
              </a:ext>
            </a:extLst>
          </p:cNvPr>
          <p:cNvSpPr/>
          <p:nvPr/>
        </p:nvSpPr>
        <p:spPr>
          <a:xfrm>
            <a:off x="5058391" y="1967345"/>
            <a:ext cx="1454728" cy="221673"/>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266A44D-3B21-C743-CFC7-26DB2480DC6A}"/>
              </a:ext>
            </a:extLst>
          </p:cNvPr>
          <p:cNvSpPr txBox="1"/>
          <p:nvPr/>
        </p:nvSpPr>
        <p:spPr>
          <a:xfrm>
            <a:off x="6649197" y="1847442"/>
            <a:ext cx="5363885" cy="461665"/>
          </a:xfrm>
          <a:prstGeom prst="rect">
            <a:avLst/>
          </a:prstGeom>
          <a:noFill/>
        </p:spPr>
        <p:txBody>
          <a:bodyPr wrap="square">
            <a:spAutoFit/>
          </a:bodyPr>
          <a:lstStyle/>
          <a:p>
            <a:r>
              <a:rPr lang="en-GB" sz="2400" i="0" u="none" strike="noStrike" dirty="0">
                <a:effectLst/>
              </a:rPr>
              <a:t>G1 is the mode.</a:t>
            </a:r>
          </a:p>
        </p:txBody>
      </p:sp>
      <p:sp>
        <p:nvSpPr>
          <p:cNvPr id="10" name="Right Arrow 9">
            <a:extLst>
              <a:ext uri="{FF2B5EF4-FFF2-40B4-BE49-F238E27FC236}">
                <a16:creationId xmlns:a16="http://schemas.microsoft.com/office/drawing/2014/main" id="{9DB9CAA2-23D3-8A66-C28E-C94A9CF36456}"/>
              </a:ext>
            </a:extLst>
          </p:cNvPr>
          <p:cNvSpPr/>
          <p:nvPr/>
        </p:nvSpPr>
        <p:spPr>
          <a:xfrm>
            <a:off x="5055913" y="2355274"/>
            <a:ext cx="1454728" cy="221673"/>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35AF6722-9CC6-2EB8-3AEF-2E5AFCD013A2}"/>
              </a:ext>
            </a:extLst>
          </p:cNvPr>
          <p:cNvSpPr txBox="1"/>
          <p:nvPr/>
        </p:nvSpPr>
        <p:spPr>
          <a:xfrm>
            <a:off x="6644247" y="2263078"/>
            <a:ext cx="5399363" cy="1569660"/>
          </a:xfrm>
          <a:prstGeom prst="rect">
            <a:avLst/>
          </a:prstGeom>
          <a:noFill/>
        </p:spPr>
        <p:txBody>
          <a:bodyPr wrap="square">
            <a:spAutoFit/>
          </a:bodyPr>
          <a:lstStyle/>
          <a:p>
            <a:r>
              <a:rPr lang="en-GB" sz="2400" dirty="0"/>
              <a:t>G2 is the </a:t>
            </a:r>
            <a:r>
              <a:rPr lang="en-GB" sz="2400" b="1" dirty="0"/>
              <a:t>median</a:t>
            </a:r>
            <a:r>
              <a:rPr lang="en-GB" sz="2400" dirty="0"/>
              <a:t>.</a:t>
            </a:r>
          </a:p>
          <a:p>
            <a:r>
              <a:rPr lang="en-GB" sz="2400" dirty="0"/>
              <a:t>The median is the category separating the higher half from the lower half of a data sample.</a:t>
            </a:r>
            <a:endParaRPr lang="en-US" sz="2400" dirty="0"/>
          </a:p>
        </p:txBody>
      </p:sp>
      <p:pic>
        <p:nvPicPr>
          <p:cNvPr id="17" name="Picture 16" descr="A bar chart with blue squares&#10;&#10;Description automatically generated">
            <a:extLst>
              <a:ext uri="{FF2B5EF4-FFF2-40B4-BE49-F238E27FC236}">
                <a16:creationId xmlns:a16="http://schemas.microsoft.com/office/drawing/2014/main" id="{3B6736A3-1BA1-D47C-8C0D-B958BF78411F}"/>
              </a:ext>
            </a:extLst>
          </p:cNvPr>
          <p:cNvPicPr>
            <a:picLocks noChangeAspect="1"/>
          </p:cNvPicPr>
          <p:nvPr/>
        </p:nvPicPr>
        <p:blipFill>
          <a:blip r:embed="rId3"/>
          <a:stretch>
            <a:fillRect/>
          </a:stretch>
        </p:blipFill>
        <p:spPr>
          <a:xfrm>
            <a:off x="7652572" y="3446500"/>
            <a:ext cx="4511718" cy="3383789"/>
          </a:xfrm>
          <a:prstGeom prst="rect">
            <a:avLst/>
          </a:prstGeom>
        </p:spPr>
      </p:pic>
    </p:spTree>
    <p:extLst>
      <p:ext uri="{BB962C8B-B14F-4D97-AF65-F5344CB8AC3E}">
        <p14:creationId xmlns:p14="http://schemas.microsoft.com/office/powerpoint/2010/main" val="20383169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3793136-BC27-4182-1267-1DB66A3357B6}"/>
              </a:ext>
            </a:extLst>
          </p:cNvPr>
          <p:cNvSpPr txBox="1">
            <a:spLocks/>
          </p:cNvSpPr>
          <p:nvPr/>
        </p:nvSpPr>
        <p:spPr>
          <a:xfrm>
            <a:off x="0" y="24068"/>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Descriptive statistics, univariate analysis</a:t>
            </a:r>
          </a:p>
        </p:txBody>
      </p:sp>
      <p:sp>
        <p:nvSpPr>
          <p:cNvPr id="2" name="TextBox 1">
            <a:extLst>
              <a:ext uri="{FF2B5EF4-FFF2-40B4-BE49-F238E27FC236}">
                <a16:creationId xmlns:a16="http://schemas.microsoft.com/office/drawing/2014/main" id="{4A3E0ECF-845C-40E0-5921-C2149E23D3D6}"/>
              </a:ext>
            </a:extLst>
          </p:cNvPr>
          <p:cNvSpPr txBox="1"/>
          <p:nvPr/>
        </p:nvSpPr>
        <p:spPr>
          <a:xfrm>
            <a:off x="6286500" y="942110"/>
            <a:ext cx="5757110" cy="461665"/>
          </a:xfrm>
          <a:prstGeom prst="rect">
            <a:avLst/>
          </a:prstGeom>
          <a:solidFill>
            <a:schemeClr val="accent2">
              <a:lumMod val="60000"/>
              <a:lumOff val="40000"/>
            </a:schemeClr>
          </a:solidFill>
        </p:spPr>
        <p:txBody>
          <a:bodyPr wrap="square" rtlCol="0">
            <a:spAutoFit/>
          </a:bodyPr>
          <a:lstStyle/>
          <a:p>
            <a:pPr algn="r"/>
            <a:r>
              <a:rPr lang="en-US" sz="2400" b="1" dirty="0"/>
              <a:t>Discrete data</a:t>
            </a:r>
            <a:r>
              <a:rPr lang="en-US" sz="2400" dirty="0"/>
              <a:t>, measures of central tendency   </a:t>
            </a:r>
          </a:p>
        </p:txBody>
      </p:sp>
      <p:graphicFrame>
        <p:nvGraphicFramePr>
          <p:cNvPr id="3" name="Table 2">
            <a:extLst>
              <a:ext uri="{FF2B5EF4-FFF2-40B4-BE49-F238E27FC236}">
                <a16:creationId xmlns:a16="http://schemas.microsoft.com/office/drawing/2014/main" id="{2984A6DD-FE57-4B26-8485-FB34AEAFE9AC}"/>
              </a:ext>
            </a:extLst>
          </p:cNvPr>
          <p:cNvGraphicFramePr>
            <a:graphicFrameLocks noGrp="1"/>
          </p:cNvGraphicFramePr>
          <p:nvPr/>
        </p:nvGraphicFramePr>
        <p:xfrm>
          <a:off x="323516" y="1355515"/>
          <a:ext cx="4511718" cy="3657600"/>
        </p:xfrm>
        <a:graphic>
          <a:graphicData uri="http://schemas.openxmlformats.org/drawingml/2006/table">
            <a:tbl>
              <a:tblPr firstRow="1" bandRow="1">
                <a:tableStyleId>{073A0DAA-6AF3-43AB-8588-CEC1D06C72B9}</a:tableStyleId>
              </a:tblPr>
              <a:tblGrid>
                <a:gridCol w="2516666">
                  <a:extLst>
                    <a:ext uri="{9D8B030D-6E8A-4147-A177-3AD203B41FA5}">
                      <a16:colId xmlns:a16="http://schemas.microsoft.com/office/drawing/2014/main" val="1293280914"/>
                    </a:ext>
                  </a:extLst>
                </a:gridCol>
                <a:gridCol w="914400">
                  <a:extLst>
                    <a:ext uri="{9D8B030D-6E8A-4147-A177-3AD203B41FA5}">
                      <a16:colId xmlns:a16="http://schemas.microsoft.com/office/drawing/2014/main" val="1822612096"/>
                    </a:ext>
                  </a:extLst>
                </a:gridCol>
                <a:gridCol w="1080652">
                  <a:extLst>
                    <a:ext uri="{9D8B030D-6E8A-4147-A177-3AD203B41FA5}">
                      <a16:colId xmlns:a16="http://schemas.microsoft.com/office/drawing/2014/main" val="2518274439"/>
                    </a:ext>
                  </a:extLst>
                </a:gridCol>
              </a:tblGrid>
              <a:tr h="450644">
                <a:tc>
                  <a:txBody>
                    <a:bodyPr/>
                    <a:lstStyle/>
                    <a:p>
                      <a:r>
                        <a:rPr lang="en-US" sz="2400" dirty="0">
                          <a:solidFill>
                            <a:sysClr val="windowText" lastClr="000000"/>
                          </a:solidFill>
                        </a:rPr>
                        <a:t>N. of metastases</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dirty="0">
                          <a:solidFill>
                            <a:sysClr val="windowText" lastClr="000000"/>
                          </a:solidFill>
                        </a:rPr>
                        <a:t>N</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dirty="0">
                          <a:solidFill>
                            <a:sysClr val="windowText" lastClr="000000"/>
                          </a:solidFill>
                        </a:rPr>
                        <a:t>%</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63378188"/>
                  </a:ext>
                </a:extLst>
              </a:tr>
              <a:tr h="450644">
                <a:tc>
                  <a:txBody>
                    <a:bodyPr/>
                    <a:lstStyle/>
                    <a:p>
                      <a:r>
                        <a:rPr lang="en-US" sz="2400" dirty="0"/>
                        <a:t>0</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a:txBody>
                    <a:bodyPr/>
                    <a:lstStyle/>
                    <a:p>
                      <a:r>
                        <a:rPr lang="en-US" sz="2400" dirty="0"/>
                        <a:t>20</a:t>
                      </a:r>
                    </a:p>
                  </a:txBody>
                  <a:tcPr>
                    <a:lnT w="12700" cap="flat" cmpd="sng" algn="ctr">
                      <a:solidFill>
                        <a:schemeClr val="tx1"/>
                      </a:solidFill>
                      <a:prstDash val="solid"/>
                      <a:round/>
                      <a:headEnd type="none" w="med" len="med"/>
                      <a:tailEnd type="none" w="med" len="med"/>
                    </a:lnT>
                    <a:noFill/>
                  </a:tcPr>
                </a:tc>
                <a:tc>
                  <a:txBody>
                    <a:bodyPr/>
                    <a:lstStyle/>
                    <a:p>
                      <a:r>
                        <a:rPr lang="en-US" sz="2400" dirty="0"/>
                        <a:t>16.3</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719071018"/>
                  </a:ext>
                </a:extLst>
              </a:tr>
              <a:tr h="450644">
                <a:tc>
                  <a:txBody>
                    <a:bodyPr/>
                    <a:lstStyle/>
                    <a:p>
                      <a:r>
                        <a:rPr lang="en-US" sz="2400" dirty="0"/>
                        <a:t>1</a:t>
                      </a:r>
                    </a:p>
                  </a:txBody>
                  <a:tcPr>
                    <a:lnL w="12700" cap="flat" cmpd="sng" algn="ctr">
                      <a:solidFill>
                        <a:schemeClr val="tx1"/>
                      </a:solidFill>
                      <a:prstDash val="solid"/>
                      <a:round/>
                      <a:headEnd type="none" w="med" len="med"/>
                      <a:tailEnd type="none" w="med" len="med"/>
                    </a:lnL>
                    <a:noFill/>
                  </a:tcPr>
                </a:tc>
                <a:tc>
                  <a:txBody>
                    <a:bodyPr/>
                    <a:lstStyle/>
                    <a:p>
                      <a:r>
                        <a:rPr lang="en-US" sz="2400" dirty="0"/>
                        <a:t>45</a:t>
                      </a:r>
                    </a:p>
                  </a:txBody>
                  <a:tcPr>
                    <a:noFill/>
                  </a:tcPr>
                </a:tc>
                <a:tc>
                  <a:txBody>
                    <a:bodyPr/>
                    <a:lstStyle/>
                    <a:p>
                      <a:r>
                        <a:rPr lang="en-US" sz="2400" dirty="0"/>
                        <a:t>36.6</a:t>
                      </a:r>
                    </a:p>
                  </a:txBody>
                  <a:tcPr>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2056243135"/>
                  </a:ext>
                </a:extLst>
              </a:tr>
              <a:tr h="450644">
                <a:tc>
                  <a:txBody>
                    <a:bodyPr/>
                    <a:lstStyle/>
                    <a:p>
                      <a:r>
                        <a:rPr lang="en-US" sz="2400" dirty="0"/>
                        <a:t>2</a:t>
                      </a:r>
                    </a:p>
                  </a:txBody>
                  <a:tcPr>
                    <a:lnL w="12700" cap="flat" cmpd="sng" algn="ctr">
                      <a:solidFill>
                        <a:schemeClr val="tx1"/>
                      </a:solidFill>
                      <a:prstDash val="solid"/>
                      <a:round/>
                      <a:headEnd type="none" w="med" len="med"/>
                      <a:tailEnd type="none" w="med" len="med"/>
                    </a:lnL>
                    <a:noFill/>
                  </a:tcPr>
                </a:tc>
                <a:tc>
                  <a:txBody>
                    <a:bodyPr/>
                    <a:lstStyle/>
                    <a:p>
                      <a:r>
                        <a:rPr lang="en-US" sz="2400" dirty="0"/>
                        <a:t>30</a:t>
                      </a:r>
                    </a:p>
                  </a:txBody>
                  <a:tcPr>
                    <a:noFill/>
                  </a:tcPr>
                </a:tc>
                <a:tc>
                  <a:txBody>
                    <a:bodyPr/>
                    <a:lstStyle/>
                    <a:p>
                      <a:r>
                        <a:rPr lang="en-US" sz="2400" dirty="0"/>
                        <a:t>24.4</a:t>
                      </a:r>
                    </a:p>
                  </a:txBody>
                  <a:tcPr>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691507401"/>
                  </a:ext>
                </a:extLst>
              </a:tr>
              <a:tr h="450644">
                <a:tc>
                  <a:txBody>
                    <a:bodyPr/>
                    <a:lstStyle/>
                    <a:p>
                      <a:r>
                        <a:rPr lang="en-US" sz="2400" dirty="0"/>
                        <a:t>3</a:t>
                      </a:r>
                    </a:p>
                  </a:txBody>
                  <a:tcPr>
                    <a:lnL w="12700" cap="flat" cmpd="sng" algn="ctr">
                      <a:solidFill>
                        <a:schemeClr val="tx1"/>
                      </a:solidFill>
                      <a:prstDash val="solid"/>
                      <a:round/>
                      <a:headEnd type="none" w="med" len="med"/>
                      <a:tailEnd type="none" w="med" len="med"/>
                    </a:lnL>
                    <a:noFill/>
                  </a:tcPr>
                </a:tc>
                <a:tc>
                  <a:txBody>
                    <a:bodyPr/>
                    <a:lstStyle/>
                    <a:p>
                      <a:r>
                        <a:rPr lang="en-US" sz="2400" dirty="0"/>
                        <a:t>12</a:t>
                      </a:r>
                    </a:p>
                  </a:txBody>
                  <a:tcPr>
                    <a:noFill/>
                  </a:tcPr>
                </a:tc>
                <a:tc>
                  <a:txBody>
                    <a:bodyPr/>
                    <a:lstStyle/>
                    <a:p>
                      <a:r>
                        <a:rPr lang="en-US" sz="2400" dirty="0"/>
                        <a:t>9.8</a:t>
                      </a:r>
                    </a:p>
                  </a:txBody>
                  <a:tcPr>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2090352095"/>
                  </a:ext>
                </a:extLst>
              </a:tr>
              <a:tr h="450644">
                <a:tc>
                  <a:txBody>
                    <a:bodyPr/>
                    <a:lstStyle/>
                    <a:p>
                      <a:r>
                        <a:rPr lang="en-US" sz="2400" dirty="0"/>
                        <a:t>4</a:t>
                      </a:r>
                    </a:p>
                  </a:txBody>
                  <a:tcPr>
                    <a:lnL w="12700" cap="flat" cmpd="sng" algn="ctr">
                      <a:solidFill>
                        <a:schemeClr val="tx1"/>
                      </a:solidFill>
                      <a:prstDash val="solid"/>
                      <a:round/>
                      <a:headEnd type="none" w="med" len="med"/>
                      <a:tailEnd type="none" w="med" len="med"/>
                    </a:lnL>
                    <a:noFill/>
                  </a:tcPr>
                </a:tc>
                <a:tc>
                  <a:txBody>
                    <a:bodyPr/>
                    <a:lstStyle/>
                    <a:p>
                      <a:r>
                        <a:rPr lang="en-US" sz="2400" dirty="0"/>
                        <a:t>10</a:t>
                      </a:r>
                    </a:p>
                  </a:txBody>
                  <a:tcPr>
                    <a:noFill/>
                  </a:tcPr>
                </a:tc>
                <a:tc>
                  <a:txBody>
                    <a:bodyPr/>
                    <a:lstStyle/>
                    <a:p>
                      <a:r>
                        <a:rPr lang="en-US" sz="2400" dirty="0"/>
                        <a:t>8.1</a:t>
                      </a:r>
                    </a:p>
                  </a:txBody>
                  <a:tcPr>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4165326171"/>
                  </a:ext>
                </a:extLst>
              </a:tr>
              <a:tr h="450644">
                <a:tc>
                  <a:txBody>
                    <a:bodyPr/>
                    <a:lstStyle/>
                    <a:p>
                      <a:r>
                        <a:rPr lang="en-US" sz="2400" dirty="0"/>
                        <a:t>5</a:t>
                      </a:r>
                    </a:p>
                  </a:txBody>
                  <a:tcPr>
                    <a:lnL w="12700" cap="flat" cmpd="sng" algn="ctr">
                      <a:solidFill>
                        <a:schemeClr val="tx1"/>
                      </a:solidFill>
                      <a:prstDash val="solid"/>
                      <a:round/>
                      <a:headEnd type="none" w="med" len="med"/>
                      <a:tailEnd type="none" w="med" len="med"/>
                    </a:lnL>
                    <a:noFill/>
                  </a:tcPr>
                </a:tc>
                <a:tc>
                  <a:txBody>
                    <a:bodyPr/>
                    <a:lstStyle/>
                    <a:p>
                      <a:r>
                        <a:rPr lang="en-US" sz="2400" dirty="0"/>
                        <a:t>5</a:t>
                      </a:r>
                    </a:p>
                  </a:txBody>
                  <a:tcPr>
                    <a:noFill/>
                  </a:tcPr>
                </a:tc>
                <a:tc>
                  <a:txBody>
                    <a:bodyPr/>
                    <a:lstStyle/>
                    <a:p>
                      <a:r>
                        <a:rPr lang="en-US" sz="2400" dirty="0"/>
                        <a:t>4.1</a:t>
                      </a:r>
                    </a:p>
                  </a:txBody>
                  <a:tcPr>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285453776"/>
                  </a:ext>
                </a:extLst>
              </a:tr>
              <a:tr h="450644">
                <a:tc>
                  <a:txBody>
                    <a:bodyPr/>
                    <a:lstStyle/>
                    <a:p>
                      <a:r>
                        <a:rPr lang="en-US" sz="2400" dirty="0"/>
                        <a:t>6</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a:txBody>
                    <a:bodyPr/>
                    <a:lstStyle/>
                    <a:p>
                      <a:r>
                        <a:rPr lang="en-US" sz="2400" dirty="0"/>
                        <a:t>1</a:t>
                      </a:r>
                    </a:p>
                  </a:txBody>
                  <a:tcPr>
                    <a:lnB w="12700" cap="flat" cmpd="sng" algn="ctr">
                      <a:solidFill>
                        <a:schemeClr val="tx1"/>
                      </a:solidFill>
                      <a:prstDash val="solid"/>
                      <a:round/>
                      <a:headEnd type="none" w="med" len="med"/>
                      <a:tailEnd type="none" w="med" len="med"/>
                    </a:lnB>
                    <a:noFill/>
                  </a:tcPr>
                </a:tc>
                <a:tc>
                  <a:txBody>
                    <a:bodyPr/>
                    <a:lstStyle/>
                    <a:p>
                      <a:r>
                        <a:rPr lang="en-US" sz="2400" dirty="0"/>
                        <a:t>0.8</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0330722"/>
                  </a:ext>
                </a:extLst>
              </a:tr>
            </a:tbl>
          </a:graphicData>
        </a:graphic>
      </p:graphicFrame>
      <p:sp>
        <p:nvSpPr>
          <p:cNvPr id="5" name="Right Arrow 4">
            <a:extLst>
              <a:ext uri="{FF2B5EF4-FFF2-40B4-BE49-F238E27FC236}">
                <a16:creationId xmlns:a16="http://schemas.microsoft.com/office/drawing/2014/main" id="{7F2B239C-4D38-C84C-9E53-3A0214075195}"/>
              </a:ext>
            </a:extLst>
          </p:cNvPr>
          <p:cNvSpPr/>
          <p:nvPr/>
        </p:nvSpPr>
        <p:spPr>
          <a:xfrm>
            <a:off x="5140036" y="1967345"/>
            <a:ext cx="1454728" cy="221673"/>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266A44D-3B21-C743-CFC7-26DB2480DC6A}"/>
              </a:ext>
            </a:extLst>
          </p:cNvPr>
          <p:cNvSpPr txBox="1"/>
          <p:nvPr/>
        </p:nvSpPr>
        <p:spPr>
          <a:xfrm>
            <a:off x="6761024" y="1847442"/>
            <a:ext cx="5363885" cy="461665"/>
          </a:xfrm>
          <a:prstGeom prst="rect">
            <a:avLst/>
          </a:prstGeom>
          <a:noFill/>
        </p:spPr>
        <p:txBody>
          <a:bodyPr wrap="square">
            <a:spAutoFit/>
          </a:bodyPr>
          <a:lstStyle/>
          <a:p>
            <a:r>
              <a:rPr lang="en-GB" sz="2400" i="0" u="none" strike="noStrike" dirty="0">
                <a:effectLst/>
              </a:rPr>
              <a:t>1 is the modal number of metastases.</a:t>
            </a:r>
          </a:p>
        </p:txBody>
      </p:sp>
      <p:sp>
        <p:nvSpPr>
          <p:cNvPr id="10" name="Right Arrow 9">
            <a:extLst>
              <a:ext uri="{FF2B5EF4-FFF2-40B4-BE49-F238E27FC236}">
                <a16:creationId xmlns:a16="http://schemas.microsoft.com/office/drawing/2014/main" id="{9DB9CAA2-23D3-8A66-C28E-C94A9CF36456}"/>
              </a:ext>
            </a:extLst>
          </p:cNvPr>
          <p:cNvSpPr/>
          <p:nvPr/>
        </p:nvSpPr>
        <p:spPr>
          <a:xfrm>
            <a:off x="5153887" y="2355274"/>
            <a:ext cx="1454728" cy="221673"/>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35AF6722-9CC6-2EB8-3AEF-2E5AFCD013A2}"/>
              </a:ext>
            </a:extLst>
          </p:cNvPr>
          <p:cNvSpPr txBox="1"/>
          <p:nvPr/>
        </p:nvSpPr>
        <p:spPr>
          <a:xfrm>
            <a:off x="6770273" y="2251355"/>
            <a:ext cx="5363885" cy="461665"/>
          </a:xfrm>
          <a:prstGeom prst="rect">
            <a:avLst/>
          </a:prstGeom>
          <a:noFill/>
        </p:spPr>
        <p:txBody>
          <a:bodyPr wrap="square">
            <a:spAutoFit/>
          </a:bodyPr>
          <a:lstStyle/>
          <a:p>
            <a:r>
              <a:rPr lang="en-GB" sz="2400" dirty="0"/>
              <a:t>1 is the median number of metastases.</a:t>
            </a:r>
          </a:p>
        </p:txBody>
      </p:sp>
      <p:pic>
        <p:nvPicPr>
          <p:cNvPr id="7" name="Picture 6" descr="A graph with numbers and lines&#10;&#10;Description automatically generated">
            <a:extLst>
              <a:ext uri="{FF2B5EF4-FFF2-40B4-BE49-F238E27FC236}">
                <a16:creationId xmlns:a16="http://schemas.microsoft.com/office/drawing/2014/main" id="{898863BB-B60C-D616-D7CF-E65284040F37}"/>
              </a:ext>
            </a:extLst>
          </p:cNvPr>
          <p:cNvPicPr>
            <a:picLocks noChangeAspect="1"/>
          </p:cNvPicPr>
          <p:nvPr/>
        </p:nvPicPr>
        <p:blipFill>
          <a:blip r:embed="rId3"/>
          <a:stretch>
            <a:fillRect/>
          </a:stretch>
        </p:blipFill>
        <p:spPr>
          <a:xfrm>
            <a:off x="7523018" y="3345872"/>
            <a:ext cx="4620496" cy="3465372"/>
          </a:xfrm>
          <a:prstGeom prst="rect">
            <a:avLst/>
          </a:prstGeom>
        </p:spPr>
      </p:pic>
      <p:sp>
        <p:nvSpPr>
          <p:cNvPr id="8" name="Right Arrow 7">
            <a:extLst>
              <a:ext uri="{FF2B5EF4-FFF2-40B4-BE49-F238E27FC236}">
                <a16:creationId xmlns:a16="http://schemas.microsoft.com/office/drawing/2014/main" id="{5D14203E-3D97-85C4-2B42-D039A1D122FD}"/>
              </a:ext>
            </a:extLst>
          </p:cNvPr>
          <p:cNvSpPr/>
          <p:nvPr/>
        </p:nvSpPr>
        <p:spPr>
          <a:xfrm>
            <a:off x="5167737" y="2770914"/>
            <a:ext cx="1454728" cy="221673"/>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E0406996-78DA-D97A-8014-D6D71B66E3F5}"/>
              </a:ext>
            </a:extLst>
          </p:cNvPr>
          <p:cNvSpPr txBox="1"/>
          <p:nvPr/>
        </p:nvSpPr>
        <p:spPr>
          <a:xfrm>
            <a:off x="6772404" y="2645681"/>
            <a:ext cx="5363885" cy="461665"/>
          </a:xfrm>
          <a:prstGeom prst="rect">
            <a:avLst/>
          </a:prstGeom>
          <a:noFill/>
        </p:spPr>
        <p:txBody>
          <a:bodyPr wrap="square">
            <a:spAutoFit/>
          </a:bodyPr>
          <a:lstStyle/>
          <a:p>
            <a:r>
              <a:rPr lang="en-GB" sz="2400" dirty="0"/>
              <a:t>1.7 is the </a:t>
            </a:r>
            <a:r>
              <a:rPr lang="en-GB" sz="2400" b="1" dirty="0"/>
              <a:t>mean</a:t>
            </a:r>
            <a:r>
              <a:rPr lang="en-GB" sz="2400" dirty="0"/>
              <a:t> number of metastases.</a:t>
            </a:r>
          </a:p>
        </p:txBody>
      </p:sp>
    </p:spTree>
    <p:extLst>
      <p:ext uri="{BB962C8B-B14F-4D97-AF65-F5344CB8AC3E}">
        <p14:creationId xmlns:p14="http://schemas.microsoft.com/office/powerpoint/2010/main" val="1698746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3793136-BC27-4182-1267-1DB66A3357B6}"/>
              </a:ext>
            </a:extLst>
          </p:cNvPr>
          <p:cNvSpPr txBox="1">
            <a:spLocks/>
          </p:cNvSpPr>
          <p:nvPr/>
        </p:nvSpPr>
        <p:spPr>
          <a:xfrm>
            <a:off x="0" y="24068"/>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Descriptive statistics, univariate analysis</a:t>
            </a:r>
          </a:p>
        </p:txBody>
      </p:sp>
      <p:sp>
        <p:nvSpPr>
          <p:cNvPr id="2" name="TextBox 1">
            <a:extLst>
              <a:ext uri="{FF2B5EF4-FFF2-40B4-BE49-F238E27FC236}">
                <a16:creationId xmlns:a16="http://schemas.microsoft.com/office/drawing/2014/main" id="{4A3E0ECF-845C-40E0-5921-C2149E23D3D6}"/>
              </a:ext>
            </a:extLst>
          </p:cNvPr>
          <p:cNvSpPr txBox="1"/>
          <p:nvPr/>
        </p:nvSpPr>
        <p:spPr>
          <a:xfrm>
            <a:off x="5861956" y="942110"/>
            <a:ext cx="6181655" cy="461665"/>
          </a:xfrm>
          <a:prstGeom prst="rect">
            <a:avLst/>
          </a:prstGeom>
          <a:solidFill>
            <a:schemeClr val="accent2"/>
          </a:solidFill>
        </p:spPr>
        <p:txBody>
          <a:bodyPr wrap="square" rtlCol="0">
            <a:spAutoFit/>
          </a:bodyPr>
          <a:lstStyle/>
          <a:p>
            <a:pPr algn="r"/>
            <a:r>
              <a:rPr lang="en-US" sz="2400" b="1" dirty="0"/>
              <a:t>Continuous data</a:t>
            </a:r>
            <a:r>
              <a:rPr lang="en-US" sz="2400" dirty="0"/>
              <a:t>, measures of central tendency </a:t>
            </a:r>
          </a:p>
        </p:txBody>
      </p:sp>
      <p:graphicFrame>
        <p:nvGraphicFramePr>
          <p:cNvPr id="3" name="Table 2">
            <a:extLst>
              <a:ext uri="{FF2B5EF4-FFF2-40B4-BE49-F238E27FC236}">
                <a16:creationId xmlns:a16="http://schemas.microsoft.com/office/drawing/2014/main" id="{2984A6DD-FE57-4B26-8485-FB34AEAFE9AC}"/>
              </a:ext>
            </a:extLst>
          </p:cNvPr>
          <p:cNvGraphicFramePr>
            <a:graphicFrameLocks noGrp="1"/>
          </p:cNvGraphicFramePr>
          <p:nvPr/>
        </p:nvGraphicFramePr>
        <p:xfrm>
          <a:off x="323516" y="1355515"/>
          <a:ext cx="4511718" cy="3200400"/>
        </p:xfrm>
        <a:graphic>
          <a:graphicData uri="http://schemas.openxmlformats.org/drawingml/2006/table">
            <a:tbl>
              <a:tblPr firstRow="1" bandRow="1">
                <a:tableStyleId>{073A0DAA-6AF3-43AB-8588-CEC1D06C72B9}</a:tableStyleId>
              </a:tblPr>
              <a:tblGrid>
                <a:gridCol w="2017902">
                  <a:extLst>
                    <a:ext uri="{9D8B030D-6E8A-4147-A177-3AD203B41FA5}">
                      <a16:colId xmlns:a16="http://schemas.microsoft.com/office/drawing/2014/main" val="1293280914"/>
                    </a:ext>
                  </a:extLst>
                </a:gridCol>
                <a:gridCol w="1373379">
                  <a:extLst>
                    <a:ext uri="{9D8B030D-6E8A-4147-A177-3AD203B41FA5}">
                      <a16:colId xmlns:a16="http://schemas.microsoft.com/office/drawing/2014/main" val="1822612096"/>
                    </a:ext>
                  </a:extLst>
                </a:gridCol>
                <a:gridCol w="1120437">
                  <a:extLst>
                    <a:ext uri="{9D8B030D-6E8A-4147-A177-3AD203B41FA5}">
                      <a16:colId xmlns:a16="http://schemas.microsoft.com/office/drawing/2014/main" val="2518274439"/>
                    </a:ext>
                  </a:extLst>
                </a:gridCol>
              </a:tblGrid>
              <a:tr h="450644">
                <a:tc>
                  <a:txBody>
                    <a:bodyPr/>
                    <a:lstStyle/>
                    <a:p>
                      <a:r>
                        <a:rPr lang="en-US" sz="2400" dirty="0">
                          <a:solidFill>
                            <a:sysClr val="windowText" lastClr="000000"/>
                          </a:solidFill>
                        </a:rPr>
                        <a:t>Weight (kg)</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dirty="0">
                          <a:solidFill>
                            <a:sysClr val="windowText" lastClr="000000"/>
                          </a:solidFill>
                        </a:rPr>
                        <a:t>N (%)</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dirty="0">
                          <a:solidFill>
                            <a:sysClr val="windowText" lastClr="000000"/>
                          </a:solidFill>
                        </a:rPr>
                        <a:t>N/10kg</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63378188"/>
                  </a:ext>
                </a:extLst>
              </a:tr>
              <a:tr h="450644">
                <a:tc>
                  <a:txBody>
                    <a:bodyPr/>
                    <a:lstStyle/>
                    <a:p>
                      <a:r>
                        <a:rPr lang="en-US" sz="2400" dirty="0"/>
                        <a:t>0 -| 50</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a:txBody>
                    <a:bodyPr/>
                    <a:lstStyle/>
                    <a:p>
                      <a:r>
                        <a:rPr lang="en-US" sz="2400" dirty="0"/>
                        <a:t>10 (5.7)</a:t>
                      </a:r>
                    </a:p>
                  </a:txBody>
                  <a:tcPr>
                    <a:lnT w="12700" cap="flat" cmpd="sng" algn="ctr">
                      <a:solidFill>
                        <a:schemeClr val="tx1"/>
                      </a:solidFill>
                      <a:prstDash val="solid"/>
                      <a:round/>
                      <a:headEnd type="none" w="med" len="med"/>
                      <a:tailEnd type="none" w="med" len="med"/>
                    </a:lnT>
                    <a:noFill/>
                  </a:tcPr>
                </a:tc>
                <a:tc>
                  <a:txBody>
                    <a:bodyPr/>
                    <a:lstStyle/>
                    <a:p>
                      <a:r>
                        <a:rPr lang="en-US" sz="2400" dirty="0"/>
                        <a:t>2</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719071018"/>
                  </a:ext>
                </a:extLst>
              </a:tr>
              <a:tr h="450644">
                <a:tc>
                  <a:txBody>
                    <a:bodyPr/>
                    <a:lstStyle/>
                    <a:p>
                      <a:r>
                        <a:rPr lang="en-US" sz="2400" dirty="0"/>
                        <a:t>50 -| 60</a:t>
                      </a:r>
                    </a:p>
                  </a:txBody>
                  <a:tcPr>
                    <a:lnL w="12700" cap="flat" cmpd="sng" algn="ctr">
                      <a:solidFill>
                        <a:schemeClr val="tx1"/>
                      </a:solidFill>
                      <a:prstDash val="solid"/>
                      <a:round/>
                      <a:headEnd type="none" w="med" len="med"/>
                      <a:tailEnd type="none" w="med" len="med"/>
                    </a:lnL>
                    <a:noFill/>
                  </a:tcPr>
                </a:tc>
                <a:tc>
                  <a:txBody>
                    <a:bodyPr/>
                    <a:lstStyle/>
                    <a:p>
                      <a:r>
                        <a:rPr lang="en-US" sz="2400" dirty="0"/>
                        <a:t>10 (5.7)</a:t>
                      </a:r>
                    </a:p>
                  </a:txBody>
                  <a:tcPr>
                    <a:noFill/>
                  </a:tcPr>
                </a:tc>
                <a:tc>
                  <a:txBody>
                    <a:bodyPr/>
                    <a:lstStyle/>
                    <a:p>
                      <a:r>
                        <a:rPr lang="en-US" sz="2400" dirty="0"/>
                        <a:t>10</a:t>
                      </a:r>
                    </a:p>
                  </a:txBody>
                  <a:tcPr>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2056243135"/>
                  </a:ext>
                </a:extLst>
              </a:tr>
              <a:tr h="450644">
                <a:tc>
                  <a:txBody>
                    <a:bodyPr/>
                    <a:lstStyle/>
                    <a:p>
                      <a:r>
                        <a:rPr lang="en-US" sz="2400" dirty="0"/>
                        <a:t>60 -| 70</a:t>
                      </a:r>
                    </a:p>
                  </a:txBody>
                  <a:tcPr>
                    <a:lnL w="12700" cap="flat" cmpd="sng" algn="ctr">
                      <a:solidFill>
                        <a:schemeClr val="tx1"/>
                      </a:solidFill>
                      <a:prstDash val="solid"/>
                      <a:round/>
                      <a:headEnd type="none" w="med" len="med"/>
                      <a:tailEnd type="none" w="med" len="med"/>
                    </a:lnL>
                    <a:noFill/>
                  </a:tcPr>
                </a:tc>
                <a:tc>
                  <a:txBody>
                    <a:bodyPr/>
                    <a:lstStyle/>
                    <a:p>
                      <a:r>
                        <a:rPr lang="en-US" sz="2400" dirty="0"/>
                        <a:t>23 (13.1)</a:t>
                      </a:r>
                    </a:p>
                  </a:txBody>
                  <a:tcPr>
                    <a:noFill/>
                  </a:tcPr>
                </a:tc>
                <a:tc>
                  <a:txBody>
                    <a:bodyPr/>
                    <a:lstStyle/>
                    <a:p>
                      <a:r>
                        <a:rPr lang="en-US" sz="2400" dirty="0"/>
                        <a:t>23</a:t>
                      </a:r>
                    </a:p>
                  </a:txBody>
                  <a:tcPr>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691507401"/>
                  </a:ext>
                </a:extLst>
              </a:tr>
              <a:tr h="450644">
                <a:tc>
                  <a:txBody>
                    <a:bodyPr/>
                    <a:lstStyle/>
                    <a:p>
                      <a:r>
                        <a:rPr lang="en-US" sz="2400" dirty="0"/>
                        <a:t>70 -| 80</a:t>
                      </a:r>
                    </a:p>
                  </a:txBody>
                  <a:tcPr>
                    <a:lnL w="12700" cap="flat" cmpd="sng" algn="ctr">
                      <a:solidFill>
                        <a:schemeClr val="tx1"/>
                      </a:solidFill>
                      <a:prstDash val="solid"/>
                      <a:round/>
                      <a:headEnd type="none" w="med" len="med"/>
                      <a:tailEnd type="none" w="med" len="med"/>
                    </a:lnL>
                    <a:noFill/>
                  </a:tcPr>
                </a:tc>
                <a:tc>
                  <a:txBody>
                    <a:bodyPr/>
                    <a:lstStyle/>
                    <a:p>
                      <a:r>
                        <a:rPr lang="en-US" sz="2400" dirty="0"/>
                        <a:t>45 (25.7)</a:t>
                      </a:r>
                    </a:p>
                  </a:txBody>
                  <a:tcPr>
                    <a:noFill/>
                  </a:tcPr>
                </a:tc>
                <a:tc>
                  <a:txBody>
                    <a:bodyPr/>
                    <a:lstStyle/>
                    <a:p>
                      <a:r>
                        <a:rPr lang="en-US" sz="2400" dirty="0"/>
                        <a:t>45</a:t>
                      </a:r>
                    </a:p>
                  </a:txBody>
                  <a:tcPr>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2090352095"/>
                  </a:ext>
                </a:extLst>
              </a:tr>
              <a:tr h="450644">
                <a:tc>
                  <a:txBody>
                    <a:bodyPr/>
                    <a:lstStyle/>
                    <a:p>
                      <a:r>
                        <a:rPr lang="en-US" sz="2400" dirty="0"/>
                        <a:t>80 -| 90</a:t>
                      </a:r>
                    </a:p>
                  </a:txBody>
                  <a:tcPr>
                    <a:lnL w="12700" cap="flat" cmpd="sng" algn="ctr">
                      <a:solidFill>
                        <a:schemeClr val="tx1"/>
                      </a:solidFill>
                      <a:prstDash val="solid"/>
                      <a:round/>
                      <a:headEnd type="none" w="med" len="med"/>
                      <a:tailEnd type="none" w="med" len="med"/>
                    </a:lnL>
                    <a:noFill/>
                  </a:tcPr>
                </a:tc>
                <a:tc>
                  <a:txBody>
                    <a:bodyPr/>
                    <a:lstStyle/>
                    <a:p>
                      <a:r>
                        <a:rPr lang="en-US" sz="2400" dirty="0"/>
                        <a:t>40 (22.9)</a:t>
                      </a:r>
                    </a:p>
                  </a:txBody>
                  <a:tcPr>
                    <a:noFill/>
                  </a:tcPr>
                </a:tc>
                <a:tc>
                  <a:txBody>
                    <a:bodyPr/>
                    <a:lstStyle/>
                    <a:p>
                      <a:r>
                        <a:rPr lang="en-US" sz="2400" dirty="0"/>
                        <a:t>40</a:t>
                      </a:r>
                    </a:p>
                  </a:txBody>
                  <a:tcPr>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971776572"/>
                  </a:ext>
                </a:extLst>
              </a:tr>
              <a:tr h="450644">
                <a:tc>
                  <a:txBody>
                    <a:bodyPr/>
                    <a:lstStyle/>
                    <a:p>
                      <a:r>
                        <a:rPr lang="en-US" sz="2400" dirty="0"/>
                        <a:t>90 -| 130</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a:txBody>
                    <a:bodyPr/>
                    <a:lstStyle/>
                    <a:p>
                      <a:r>
                        <a:rPr lang="en-US" sz="2400" dirty="0"/>
                        <a:t>47 (26.9)</a:t>
                      </a:r>
                    </a:p>
                  </a:txBody>
                  <a:tcPr>
                    <a:lnB w="12700" cap="flat" cmpd="sng" algn="ctr">
                      <a:solidFill>
                        <a:schemeClr val="tx1"/>
                      </a:solidFill>
                      <a:prstDash val="solid"/>
                      <a:round/>
                      <a:headEnd type="none" w="med" len="med"/>
                      <a:tailEnd type="none" w="med" len="med"/>
                    </a:lnB>
                    <a:noFill/>
                  </a:tcPr>
                </a:tc>
                <a:tc>
                  <a:txBody>
                    <a:bodyPr/>
                    <a:lstStyle/>
                    <a:p>
                      <a:r>
                        <a:rPr lang="en-US" sz="2400" dirty="0"/>
                        <a:t>11.8</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4839485"/>
                  </a:ext>
                </a:extLst>
              </a:tr>
            </a:tbl>
          </a:graphicData>
        </a:graphic>
      </p:graphicFrame>
      <p:sp>
        <p:nvSpPr>
          <p:cNvPr id="5" name="Right Arrow 4">
            <a:extLst>
              <a:ext uri="{FF2B5EF4-FFF2-40B4-BE49-F238E27FC236}">
                <a16:creationId xmlns:a16="http://schemas.microsoft.com/office/drawing/2014/main" id="{7F2B239C-4D38-C84C-9E53-3A0214075195}"/>
              </a:ext>
            </a:extLst>
          </p:cNvPr>
          <p:cNvSpPr/>
          <p:nvPr/>
        </p:nvSpPr>
        <p:spPr>
          <a:xfrm>
            <a:off x="5140036" y="1967345"/>
            <a:ext cx="1454728" cy="221673"/>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266A44D-3B21-C743-CFC7-26DB2480DC6A}"/>
              </a:ext>
            </a:extLst>
          </p:cNvPr>
          <p:cNvSpPr txBox="1"/>
          <p:nvPr/>
        </p:nvSpPr>
        <p:spPr>
          <a:xfrm>
            <a:off x="6774879" y="1847442"/>
            <a:ext cx="5363885" cy="461665"/>
          </a:xfrm>
          <a:prstGeom prst="rect">
            <a:avLst/>
          </a:prstGeom>
          <a:noFill/>
        </p:spPr>
        <p:txBody>
          <a:bodyPr wrap="square">
            <a:spAutoFit/>
          </a:bodyPr>
          <a:lstStyle/>
          <a:p>
            <a:r>
              <a:rPr lang="en-GB" sz="2400" dirty="0"/>
              <a:t>70 -| 80 is </a:t>
            </a:r>
            <a:r>
              <a:rPr lang="en-GB" sz="2400" i="0" u="none" strike="noStrike" dirty="0">
                <a:effectLst/>
              </a:rPr>
              <a:t>the modal interval.</a:t>
            </a:r>
          </a:p>
        </p:txBody>
      </p:sp>
      <p:sp>
        <p:nvSpPr>
          <p:cNvPr id="10" name="Right Arrow 9">
            <a:extLst>
              <a:ext uri="{FF2B5EF4-FFF2-40B4-BE49-F238E27FC236}">
                <a16:creationId xmlns:a16="http://schemas.microsoft.com/office/drawing/2014/main" id="{9DB9CAA2-23D3-8A66-C28E-C94A9CF36456}"/>
              </a:ext>
            </a:extLst>
          </p:cNvPr>
          <p:cNvSpPr/>
          <p:nvPr/>
        </p:nvSpPr>
        <p:spPr>
          <a:xfrm>
            <a:off x="5167742" y="2355274"/>
            <a:ext cx="1454728" cy="221673"/>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35AF6722-9CC6-2EB8-3AEF-2E5AFCD013A2}"/>
              </a:ext>
            </a:extLst>
          </p:cNvPr>
          <p:cNvSpPr txBox="1"/>
          <p:nvPr/>
        </p:nvSpPr>
        <p:spPr>
          <a:xfrm>
            <a:off x="6774879" y="2263078"/>
            <a:ext cx="5363885" cy="461665"/>
          </a:xfrm>
          <a:prstGeom prst="rect">
            <a:avLst/>
          </a:prstGeom>
          <a:noFill/>
        </p:spPr>
        <p:txBody>
          <a:bodyPr wrap="square">
            <a:spAutoFit/>
          </a:bodyPr>
          <a:lstStyle/>
          <a:p>
            <a:r>
              <a:rPr lang="en-GB" sz="2400" dirty="0"/>
              <a:t>70 -| 80 is the median interval.</a:t>
            </a:r>
          </a:p>
        </p:txBody>
      </p:sp>
      <p:pic>
        <p:nvPicPr>
          <p:cNvPr id="7" name="Picture 6" descr="A graph of a person with histogram&#10;&#10;Description automatically generated">
            <a:extLst>
              <a:ext uri="{FF2B5EF4-FFF2-40B4-BE49-F238E27FC236}">
                <a16:creationId xmlns:a16="http://schemas.microsoft.com/office/drawing/2014/main" id="{CF71EA7F-052B-3EAF-2028-96332800D51F}"/>
              </a:ext>
            </a:extLst>
          </p:cNvPr>
          <p:cNvPicPr>
            <a:picLocks noChangeAspect="1"/>
          </p:cNvPicPr>
          <p:nvPr/>
        </p:nvPicPr>
        <p:blipFill>
          <a:blip r:embed="rId3"/>
          <a:stretch>
            <a:fillRect/>
          </a:stretch>
        </p:blipFill>
        <p:spPr>
          <a:xfrm>
            <a:off x="6899574" y="2882383"/>
            <a:ext cx="5268732" cy="3951549"/>
          </a:xfrm>
          <a:prstGeom prst="rect">
            <a:avLst/>
          </a:prstGeom>
        </p:spPr>
      </p:pic>
      <p:sp>
        <p:nvSpPr>
          <p:cNvPr id="8" name="Right Arrow 7">
            <a:extLst>
              <a:ext uri="{FF2B5EF4-FFF2-40B4-BE49-F238E27FC236}">
                <a16:creationId xmlns:a16="http://schemas.microsoft.com/office/drawing/2014/main" id="{F1B3B838-1D1D-9D9D-6B14-2462D75442BE}"/>
              </a:ext>
            </a:extLst>
          </p:cNvPr>
          <p:cNvSpPr/>
          <p:nvPr/>
        </p:nvSpPr>
        <p:spPr>
          <a:xfrm>
            <a:off x="5167737" y="2770914"/>
            <a:ext cx="1454728" cy="221673"/>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2B6DE5E-0608-64DA-C20A-370CBED06A0A}"/>
              </a:ext>
            </a:extLst>
          </p:cNvPr>
          <p:cNvSpPr txBox="1"/>
          <p:nvPr/>
        </p:nvSpPr>
        <p:spPr>
          <a:xfrm>
            <a:off x="6788733" y="2676244"/>
            <a:ext cx="5363885" cy="461665"/>
          </a:xfrm>
          <a:prstGeom prst="rect">
            <a:avLst/>
          </a:prstGeom>
          <a:noFill/>
        </p:spPr>
        <p:txBody>
          <a:bodyPr wrap="square">
            <a:spAutoFit/>
          </a:bodyPr>
          <a:lstStyle/>
          <a:p>
            <a:r>
              <a:rPr lang="en-GB" sz="2400" dirty="0"/>
              <a:t>81.4 kg is the </a:t>
            </a:r>
            <a:r>
              <a:rPr lang="en-GB" sz="2400" b="1" dirty="0"/>
              <a:t>mean</a:t>
            </a:r>
            <a:r>
              <a:rPr lang="en-GB" sz="2400" dirty="0"/>
              <a:t> weight of patients.</a:t>
            </a:r>
          </a:p>
        </p:txBody>
      </p:sp>
    </p:spTree>
    <p:extLst>
      <p:ext uri="{BB962C8B-B14F-4D97-AF65-F5344CB8AC3E}">
        <p14:creationId xmlns:p14="http://schemas.microsoft.com/office/powerpoint/2010/main" val="14626521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3793136-BC27-4182-1267-1DB66A3357B6}"/>
              </a:ext>
            </a:extLst>
          </p:cNvPr>
          <p:cNvSpPr txBox="1">
            <a:spLocks/>
          </p:cNvSpPr>
          <p:nvPr/>
        </p:nvSpPr>
        <p:spPr>
          <a:xfrm>
            <a:off x="0" y="24068"/>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Descriptive statistics, univariate analysis</a:t>
            </a:r>
          </a:p>
        </p:txBody>
      </p:sp>
      <p:sp>
        <p:nvSpPr>
          <p:cNvPr id="2" name="TextBox 1">
            <a:extLst>
              <a:ext uri="{FF2B5EF4-FFF2-40B4-BE49-F238E27FC236}">
                <a16:creationId xmlns:a16="http://schemas.microsoft.com/office/drawing/2014/main" id="{2CD02812-F95A-08FD-7EFC-8601D0EE7E5B}"/>
              </a:ext>
            </a:extLst>
          </p:cNvPr>
          <p:cNvSpPr txBox="1"/>
          <p:nvPr/>
        </p:nvSpPr>
        <p:spPr>
          <a:xfrm>
            <a:off x="5580185" y="1399310"/>
            <a:ext cx="6365453" cy="461665"/>
          </a:xfrm>
          <a:prstGeom prst="rect">
            <a:avLst/>
          </a:prstGeom>
          <a:solidFill>
            <a:schemeClr val="accent2"/>
          </a:solidFill>
        </p:spPr>
        <p:txBody>
          <a:bodyPr wrap="square" rtlCol="0">
            <a:spAutoFit/>
          </a:bodyPr>
          <a:lstStyle/>
          <a:p>
            <a:pPr algn="r"/>
            <a:r>
              <a:rPr lang="en-US" sz="2400" b="1" dirty="0"/>
              <a:t>Quantitative data, measures of central tendency</a:t>
            </a:r>
          </a:p>
        </p:txBody>
      </p:sp>
      <p:sp>
        <p:nvSpPr>
          <p:cNvPr id="3" name="TextBox 2">
            <a:extLst>
              <a:ext uri="{FF2B5EF4-FFF2-40B4-BE49-F238E27FC236}">
                <a16:creationId xmlns:a16="http://schemas.microsoft.com/office/drawing/2014/main" id="{62AC46C8-6080-29BA-6313-918F4058294E}"/>
              </a:ext>
            </a:extLst>
          </p:cNvPr>
          <p:cNvSpPr txBox="1"/>
          <p:nvPr/>
        </p:nvSpPr>
        <p:spPr>
          <a:xfrm>
            <a:off x="176097" y="1331024"/>
            <a:ext cx="4049540" cy="584775"/>
          </a:xfrm>
          <a:prstGeom prst="rect">
            <a:avLst/>
          </a:prstGeom>
          <a:noFill/>
          <a:ln>
            <a:solidFill>
              <a:schemeClr val="accent1">
                <a:shade val="15000"/>
              </a:schemeClr>
            </a:solidFill>
          </a:ln>
        </p:spPr>
        <p:txBody>
          <a:bodyPr wrap="square" rtlCol="0">
            <a:spAutoFit/>
          </a:bodyPr>
          <a:lstStyle/>
          <a:p>
            <a:r>
              <a:rPr lang="en-US" sz="3200" dirty="0"/>
              <a:t>Properties of the mean</a:t>
            </a:r>
          </a:p>
        </p:txBody>
      </p:sp>
      <p:sp>
        <p:nvSpPr>
          <p:cNvPr id="4" name="TextBox 3">
            <a:extLst>
              <a:ext uri="{FF2B5EF4-FFF2-40B4-BE49-F238E27FC236}">
                <a16:creationId xmlns:a16="http://schemas.microsoft.com/office/drawing/2014/main" id="{2AB88DAB-D1E9-B2C8-286B-B161A2CE9865}"/>
              </a:ext>
            </a:extLst>
          </p:cNvPr>
          <p:cNvSpPr txBox="1"/>
          <p:nvPr/>
        </p:nvSpPr>
        <p:spPr>
          <a:xfrm>
            <a:off x="41565" y="2071831"/>
            <a:ext cx="5832764" cy="646331"/>
          </a:xfrm>
          <a:prstGeom prst="rect">
            <a:avLst/>
          </a:prstGeom>
          <a:noFill/>
        </p:spPr>
        <p:txBody>
          <a:bodyPr wrap="square" rtlCol="0">
            <a:spAutoFit/>
          </a:bodyPr>
          <a:lstStyle/>
          <a:p>
            <a:pPr marL="571500" indent="-571500">
              <a:buFont typeface="Courier New" panose="02070309020205020404" pitchFamily="49" charset="0"/>
              <a:buChar char="o"/>
            </a:pPr>
            <a:r>
              <a:rPr lang="en-US" sz="3600" dirty="0"/>
              <a:t>⅀</a:t>
            </a:r>
            <a:r>
              <a:rPr lang="en-US" sz="3600" baseline="-25000" dirty="0" err="1"/>
              <a:t>i</a:t>
            </a:r>
            <a:r>
              <a:rPr lang="en-US" sz="3600" baseline="-25000" dirty="0"/>
              <a:t> </a:t>
            </a:r>
            <a:r>
              <a:rPr lang="en-US" sz="3600" dirty="0"/>
              <a:t>(a</a:t>
            </a:r>
            <a:r>
              <a:rPr lang="en-US" sz="3600" baseline="-25000" dirty="0"/>
              <a:t>i</a:t>
            </a:r>
            <a:r>
              <a:rPr lang="en-US" sz="3600" dirty="0"/>
              <a:t> - 𝞵) = 0</a:t>
            </a:r>
          </a:p>
        </p:txBody>
      </p:sp>
      <p:sp>
        <p:nvSpPr>
          <p:cNvPr id="5" name="TextBox 4">
            <a:extLst>
              <a:ext uri="{FF2B5EF4-FFF2-40B4-BE49-F238E27FC236}">
                <a16:creationId xmlns:a16="http://schemas.microsoft.com/office/drawing/2014/main" id="{A431D769-18A1-41C0-77AA-47E74EACC998}"/>
              </a:ext>
            </a:extLst>
          </p:cNvPr>
          <p:cNvSpPr txBox="1"/>
          <p:nvPr/>
        </p:nvSpPr>
        <p:spPr>
          <a:xfrm>
            <a:off x="55419" y="2981074"/>
            <a:ext cx="6844144" cy="646331"/>
          </a:xfrm>
          <a:prstGeom prst="rect">
            <a:avLst/>
          </a:prstGeom>
          <a:noFill/>
        </p:spPr>
        <p:txBody>
          <a:bodyPr wrap="square" rtlCol="0">
            <a:spAutoFit/>
          </a:bodyPr>
          <a:lstStyle/>
          <a:p>
            <a:pPr marL="571500" indent="-571500">
              <a:buFont typeface="Courier New" panose="02070309020205020404" pitchFamily="49" charset="0"/>
              <a:buChar char="o"/>
            </a:pPr>
            <a:r>
              <a:rPr lang="en-US" sz="3600" dirty="0"/>
              <a:t>⅀</a:t>
            </a:r>
            <a:r>
              <a:rPr lang="en-US" sz="3600" baseline="-25000" dirty="0" err="1"/>
              <a:t>i</a:t>
            </a:r>
            <a:r>
              <a:rPr lang="en-US" sz="3600" baseline="-25000" dirty="0"/>
              <a:t> </a:t>
            </a:r>
            <a:r>
              <a:rPr lang="en-US" sz="3600" dirty="0"/>
              <a:t>(a</a:t>
            </a:r>
            <a:r>
              <a:rPr lang="en-US" sz="3600" baseline="-25000" dirty="0"/>
              <a:t>i</a:t>
            </a:r>
            <a:r>
              <a:rPr lang="en-US" sz="3600" dirty="0"/>
              <a:t> - 𝞵)</a:t>
            </a:r>
            <a:r>
              <a:rPr lang="en-US" sz="3600" baseline="30000" dirty="0"/>
              <a:t>2</a:t>
            </a:r>
            <a:r>
              <a:rPr lang="en-US" sz="3600" dirty="0"/>
              <a:t> &lt; ⅀</a:t>
            </a:r>
            <a:r>
              <a:rPr lang="en-US" sz="3600" baseline="-25000" dirty="0" err="1"/>
              <a:t>i</a:t>
            </a:r>
            <a:r>
              <a:rPr lang="en-US" sz="3600" baseline="-25000" dirty="0"/>
              <a:t> </a:t>
            </a:r>
            <a:r>
              <a:rPr lang="en-US" sz="3600" dirty="0"/>
              <a:t>(a</a:t>
            </a:r>
            <a:r>
              <a:rPr lang="en-US" sz="3600" baseline="-25000" dirty="0"/>
              <a:t>i</a:t>
            </a:r>
            <a:r>
              <a:rPr lang="en-US" sz="3600" dirty="0"/>
              <a:t> - x)</a:t>
            </a:r>
            <a:r>
              <a:rPr lang="en-US" sz="3600" baseline="30000" dirty="0"/>
              <a:t>2</a:t>
            </a:r>
            <a:r>
              <a:rPr lang="en-US" sz="3600" dirty="0"/>
              <a:t>, x ≠ 𝞵   </a:t>
            </a:r>
          </a:p>
        </p:txBody>
      </p:sp>
      <p:sp>
        <p:nvSpPr>
          <p:cNvPr id="8" name="TextBox 7">
            <a:extLst>
              <a:ext uri="{FF2B5EF4-FFF2-40B4-BE49-F238E27FC236}">
                <a16:creationId xmlns:a16="http://schemas.microsoft.com/office/drawing/2014/main" id="{04E30D9F-3A13-E191-613B-00DA1ABAA413}"/>
              </a:ext>
            </a:extLst>
          </p:cNvPr>
          <p:cNvSpPr txBox="1"/>
          <p:nvPr/>
        </p:nvSpPr>
        <p:spPr>
          <a:xfrm>
            <a:off x="55416" y="3944958"/>
            <a:ext cx="11890222" cy="646331"/>
          </a:xfrm>
          <a:prstGeom prst="rect">
            <a:avLst/>
          </a:prstGeom>
          <a:noFill/>
        </p:spPr>
        <p:txBody>
          <a:bodyPr wrap="square" rtlCol="0">
            <a:spAutoFit/>
          </a:bodyPr>
          <a:lstStyle/>
          <a:p>
            <a:pPr marL="571500" indent="-571500">
              <a:buFont typeface="Courier New" panose="02070309020205020404" pitchFamily="49" charset="0"/>
              <a:buChar char="o"/>
            </a:pPr>
            <a:r>
              <a:rPr lang="en-US" sz="3600" dirty="0"/>
              <a:t>Linearity: 			  𝞵(a⋅x</a:t>
            </a:r>
            <a:r>
              <a:rPr lang="en-US" sz="3600" baseline="-25000" dirty="0"/>
              <a:t>1</a:t>
            </a:r>
            <a:r>
              <a:rPr lang="en-US" sz="3600" dirty="0"/>
              <a:t>,…,</a:t>
            </a:r>
            <a:r>
              <a:rPr lang="en-US" sz="3600" dirty="0" err="1"/>
              <a:t>a⋅x</a:t>
            </a:r>
            <a:r>
              <a:rPr lang="en-US" sz="3600" baseline="-25000" dirty="0" err="1"/>
              <a:t>n</a:t>
            </a:r>
            <a:r>
              <a:rPr lang="en-US" sz="3600" dirty="0"/>
              <a:t>) = a⋅𝞵(x</a:t>
            </a:r>
            <a:r>
              <a:rPr lang="en-US" sz="3600" baseline="-25000" dirty="0"/>
              <a:t>1</a:t>
            </a:r>
            <a:r>
              <a:rPr lang="en-US" sz="3600" dirty="0"/>
              <a:t>,…, </a:t>
            </a:r>
            <a:r>
              <a:rPr lang="en-US" sz="3600" dirty="0" err="1"/>
              <a:t>x</a:t>
            </a:r>
            <a:r>
              <a:rPr lang="en-US" sz="3600" baseline="-25000" dirty="0" err="1"/>
              <a:t>n</a:t>
            </a:r>
            <a:r>
              <a:rPr lang="en-US" sz="3600" dirty="0"/>
              <a:t>)   </a:t>
            </a:r>
          </a:p>
        </p:txBody>
      </p:sp>
      <p:sp>
        <p:nvSpPr>
          <p:cNvPr id="9" name="TextBox 8">
            <a:extLst>
              <a:ext uri="{FF2B5EF4-FFF2-40B4-BE49-F238E27FC236}">
                <a16:creationId xmlns:a16="http://schemas.microsoft.com/office/drawing/2014/main" id="{8929C017-791F-BA5B-6746-6DE08B46E2FC}"/>
              </a:ext>
            </a:extLst>
          </p:cNvPr>
          <p:cNvSpPr txBox="1"/>
          <p:nvPr/>
        </p:nvSpPr>
        <p:spPr>
          <a:xfrm>
            <a:off x="83123" y="5449453"/>
            <a:ext cx="5832764" cy="646331"/>
          </a:xfrm>
          <a:prstGeom prst="rect">
            <a:avLst/>
          </a:prstGeom>
          <a:noFill/>
        </p:spPr>
        <p:txBody>
          <a:bodyPr wrap="square" rtlCol="0">
            <a:spAutoFit/>
          </a:bodyPr>
          <a:lstStyle/>
          <a:p>
            <a:pPr marL="571500" indent="-571500">
              <a:buFont typeface="Courier New" panose="02070309020205020404" pitchFamily="49" charset="0"/>
              <a:buChar char="o"/>
            </a:pPr>
            <a:r>
              <a:rPr lang="en-US" sz="3600" dirty="0"/>
              <a:t>Associative property:</a:t>
            </a:r>
          </a:p>
        </p:txBody>
      </p:sp>
      <p:sp>
        <p:nvSpPr>
          <p:cNvPr id="7" name="TextBox 6">
            <a:extLst>
              <a:ext uri="{FF2B5EF4-FFF2-40B4-BE49-F238E27FC236}">
                <a16:creationId xmlns:a16="http://schemas.microsoft.com/office/drawing/2014/main" id="{6EBCF4FD-285D-8A4A-0BA7-2C01E388FF88}"/>
              </a:ext>
            </a:extLst>
          </p:cNvPr>
          <p:cNvSpPr txBox="1"/>
          <p:nvPr/>
        </p:nvSpPr>
        <p:spPr>
          <a:xfrm>
            <a:off x="4857121" y="4504725"/>
            <a:ext cx="7083252" cy="646331"/>
          </a:xfrm>
          <a:prstGeom prst="rect">
            <a:avLst/>
          </a:prstGeom>
          <a:noFill/>
        </p:spPr>
        <p:txBody>
          <a:bodyPr wrap="square" rtlCol="0">
            <a:spAutoFit/>
          </a:bodyPr>
          <a:lstStyle/>
          <a:p>
            <a:r>
              <a:rPr lang="en-US" sz="3600" dirty="0"/>
              <a:t>𝞵(x</a:t>
            </a:r>
            <a:r>
              <a:rPr lang="en-US" sz="3600" baseline="-25000" dirty="0"/>
              <a:t>1</a:t>
            </a:r>
            <a:r>
              <a:rPr lang="en-US" sz="3600" dirty="0"/>
              <a:t>+b,…,</a:t>
            </a:r>
            <a:r>
              <a:rPr lang="en-US" sz="3600" dirty="0" err="1"/>
              <a:t>x</a:t>
            </a:r>
            <a:r>
              <a:rPr lang="en-US" sz="3600" baseline="-25000" dirty="0" err="1"/>
              <a:t>n</a:t>
            </a:r>
            <a:r>
              <a:rPr lang="en-US" sz="3600" dirty="0" err="1"/>
              <a:t>+b</a:t>
            </a:r>
            <a:r>
              <a:rPr lang="en-US" sz="3600" dirty="0"/>
              <a:t>) = 𝞵(x</a:t>
            </a:r>
            <a:r>
              <a:rPr lang="en-US" sz="3600" baseline="-25000" dirty="0"/>
              <a:t>1</a:t>
            </a:r>
            <a:r>
              <a:rPr lang="en-US" sz="3600" dirty="0"/>
              <a:t>,…, </a:t>
            </a:r>
            <a:r>
              <a:rPr lang="en-US" sz="3600" dirty="0" err="1"/>
              <a:t>x</a:t>
            </a:r>
            <a:r>
              <a:rPr lang="en-US" sz="3600" baseline="-25000" dirty="0" err="1"/>
              <a:t>n</a:t>
            </a:r>
            <a:r>
              <a:rPr lang="en-US" sz="3600" dirty="0"/>
              <a:t>)+b  </a:t>
            </a:r>
          </a:p>
        </p:txBody>
      </p:sp>
      <p:sp>
        <p:nvSpPr>
          <p:cNvPr id="10" name="TextBox 9">
            <a:extLst>
              <a:ext uri="{FF2B5EF4-FFF2-40B4-BE49-F238E27FC236}">
                <a16:creationId xmlns:a16="http://schemas.microsoft.com/office/drawing/2014/main" id="{C83C27A0-BC31-CF16-AAFE-63B66A6F42A4}"/>
              </a:ext>
            </a:extLst>
          </p:cNvPr>
          <p:cNvSpPr txBox="1"/>
          <p:nvPr/>
        </p:nvSpPr>
        <p:spPr>
          <a:xfrm>
            <a:off x="4904013" y="5445163"/>
            <a:ext cx="7204864" cy="1200329"/>
          </a:xfrm>
          <a:prstGeom prst="rect">
            <a:avLst/>
          </a:prstGeom>
          <a:noFill/>
        </p:spPr>
        <p:txBody>
          <a:bodyPr wrap="square" rtlCol="0">
            <a:spAutoFit/>
          </a:bodyPr>
          <a:lstStyle/>
          <a:p>
            <a:r>
              <a:rPr lang="en-US" sz="3600" dirty="0"/>
              <a:t>𝞵(x</a:t>
            </a:r>
            <a:r>
              <a:rPr lang="en-US" sz="3600" baseline="-25000" dirty="0"/>
              <a:t>1</a:t>
            </a:r>
            <a:r>
              <a:rPr lang="en-US" sz="3600" dirty="0"/>
              <a:t>,…,</a:t>
            </a:r>
            <a:r>
              <a:rPr lang="en-US" sz="3600" dirty="0" err="1"/>
              <a:t>x</a:t>
            </a:r>
            <a:r>
              <a:rPr lang="en-US" sz="3600" baseline="-25000" dirty="0" err="1"/>
              <a:t>m</a:t>
            </a:r>
            <a:r>
              <a:rPr lang="en-US" sz="3600" dirty="0"/>
              <a:t>; y</a:t>
            </a:r>
            <a:r>
              <a:rPr lang="en-US" sz="3600" baseline="-25000" dirty="0"/>
              <a:t>1</a:t>
            </a:r>
            <a:r>
              <a:rPr lang="en-US" sz="3600" dirty="0"/>
              <a:t>,…,</a:t>
            </a:r>
            <a:r>
              <a:rPr lang="en-US" sz="3600" dirty="0" err="1"/>
              <a:t>y</a:t>
            </a:r>
            <a:r>
              <a:rPr lang="en-US" sz="3600" baseline="-25000" dirty="0" err="1"/>
              <a:t>n</a:t>
            </a:r>
            <a:r>
              <a:rPr lang="en-US" sz="3600" dirty="0"/>
              <a:t>) = </a:t>
            </a:r>
          </a:p>
          <a:p>
            <a:r>
              <a:rPr lang="en-US" sz="3600" dirty="0"/>
              <a:t>{m⋅𝞵(x</a:t>
            </a:r>
            <a:r>
              <a:rPr lang="en-US" sz="3600" baseline="-25000" dirty="0"/>
              <a:t>1</a:t>
            </a:r>
            <a:r>
              <a:rPr lang="en-US" sz="3600" dirty="0"/>
              <a:t>,…, </a:t>
            </a:r>
            <a:r>
              <a:rPr lang="en-US" sz="3600" dirty="0" err="1"/>
              <a:t>x</a:t>
            </a:r>
            <a:r>
              <a:rPr lang="en-US" sz="3600" baseline="-25000" dirty="0" err="1"/>
              <a:t>m</a:t>
            </a:r>
            <a:r>
              <a:rPr lang="en-US" sz="3600" dirty="0"/>
              <a:t>)+n⋅𝞵(y</a:t>
            </a:r>
            <a:r>
              <a:rPr lang="en-US" sz="3600" baseline="-25000" dirty="0"/>
              <a:t>1</a:t>
            </a:r>
            <a:r>
              <a:rPr lang="en-US" sz="3600" dirty="0"/>
              <a:t>,…,</a:t>
            </a:r>
            <a:r>
              <a:rPr lang="en-US" sz="3600" dirty="0" err="1"/>
              <a:t>y</a:t>
            </a:r>
            <a:r>
              <a:rPr lang="en-US" sz="3600" baseline="-25000" dirty="0" err="1"/>
              <a:t>n</a:t>
            </a:r>
            <a:r>
              <a:rPr lang="en-US" sz="3600" dirty="0"/>
              <a:t>)}/(</a:t>
            </a:r>
            <a:r>
              <a:rPr lang="en-US" sz="3600" dirty="0" err="1"/>
              <a:t>m+n</a:t>
            </a:r>
            <a:r>
              <a:rPr lang="en-US" sz="3600" dirty="0"/>
              <a:t>)  </a:t>
            </a:r>
          </a:p>
        </p:txBody>
      </p:sp>
    </p:spTree>
    <p:extLst>
      <p:ext uri="{BB962C8B-B14F-4D97-AF65-F5344CB8AC3E}">
        <p14:creationId xmlns:p14="http://schemas.microsoft.com/office/powerpoint/2010/main" val="7314591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A black and white math symbol&#10;&#10;AI-generated content may be incorrect.">
            <a:extLst>
              <a:ext uri="{FF2B5EF4-FFF2-40B4-BE49-F238E27FC236}">
                <a16:creationId xmlns:a16="http://schemas.microsoft.com/office/drawing/2014/main" id="{90A00BE5-A30D-0229-EDB4-FB0899A81854}"/>
              </a:ext>
            </a:extLst>
          </p:cNvPr>
          <p:cNvPicPr>
            <a:picLocks noChangeAspect="1"/>
          </p:cNvPicPr>
          <p:nvPr/>
        </p:nvPicPr>
        <p:blipFill>
          <a:blip r:embed="rId3"/>
          <a:stretch>
            <a:fillRect/>
          </a:stretch>
        </p:blipFill>
        <p:spPr>
          <a:xfrm>
            <a:off x="649657" y="1616561"/>
            <a:ext cx="3383081" cy="1541181"/>
          </a:xfrm>
          <a:prstGeom prst="rect">
            <a:avLst/>
          </a:prstGeom>
        </p:spPr>
      </p:pic>
      <p:sp>
        <p:nvSpPr>
          <p:cNvPr id="6" name="Title 1">
            <a:extLst>
              <a:ext uri="{FF2B5EF4-FFF2-40B4-BE49-F238E27FC236}">
                <a16:creationId xmlns:a16="http://schemas.microsoft.com/office/drawing/2014/main" id="{43793136-BC27-4182-1267-1DB66A3357B6}"/>
              </a:ext>
            </a:extLst>
          </p:cNvPr>
          <p:cNvSpPr txBox="1">
            <a:spLocks/>
          </p:cNvSpPr>
          <p:nvPr/>
        </p:nvSpPr>
        <p:spPr>
          <a:xfrm>
            <a:off x="0" y="24068"/>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Descriptive statistics, univariate analysis</a:t>
            </a:r>
          </a:p>
        </p:txBody>
      </p:sp>
      <p:sp>
        <p:nvSpPr>
          <p:cNvPr id="2" name="TextBox 1">
            <a:extLst>
              <a:ext uri="{FF2B5EF4-FFF2-40B4-BE49-F238E27FC236}">
                <a16:creationId xmlns:a16="http://schemas.microsoft.com/office/drawing/2014/main" id="{2CD02812-F95A-08FD-7EFC-8601D0EE7E5B}"/>
              </a:ext>
            </a:extLst>
          </p:cNvPr>
          <p:cNvSpPr txBox="1"/>
          <p:nvPr/>
        </p:nvSpPr>
        <p:spPr>
          <a:xfrm>
            <a:off x="6506309" y="3179129"/>
            <a:ext cx="5488320" cy="461665"/>
          </a:xfrm>
          <a:prstGeom prst="rect">
            <a:avLst/>
          </a:prstGeom>
          <a:solidFill>
            <a:schemeClr val="accent2"/>
          </a:solidFill>
        </p:spPr>
        <p:txBody>
          <a:bodyPr wrap="square" rtlCol="0">
            <a:spAutoFit/>
          </a:bodyPr>
          <a:lstStyle/>
          <a:p>
            <a:pPr algn="ctr"/>
            <a:r>
              <a:rPr lang="en-US" sz="2400" b="1" dirty="0"/>
              <a:t>Quantitative data, measures of dispersion</a:t>
            </a:r>
          </a:p>
        </p:txBody>
      </p:sp>
      <p:sp>
        <p:nvSpPr>
          <p:cNvPr id="3" name="TextBox 2">
            <a:extLst>
              <a:ext uri="{FF2B5EF4-FFF2-40B4-BE49-F238E27FC236}">
                <a16:creationId xmlns:a16="http://schemas.microsoft.com/office/drawing/2014/main" id="{62AC46C8-6080-29BA-6313-918F4058294E}"/>
              </a:ext>
            </a:extLst>
          </p:cNvPr>
          <p:cNvSpPr txBox="1"/>
          <p:nvPr/>
        </p:nvSpPr>
        <p:spPr>
          <a:xfrm>
            <a:off x="176097" y="3110851"/>
            <a:ext cx="4049540" cy="584775"/>
          </a:xfrm>
          <a:prstGeom prst="rect">
            <a:avLst/>
          </a:prstGeom>
          <a:noFill/>
          <a:ln>
            <a:solidFill>
              <a:schemeClr val="accent1">
                <a:shade val="15000"/>
              </a:schemeClr>
            </a:solidFill>
          </a:ln>
        </p:spPr>
        <p:txBody>
          <a:bodyPr wrap="square" rtlCol="0">
            <a:spAutoFit/>
          </a:bodyPr>
          <a:lstStyle/>
          <a:p>
            <a:r>
              <a:rPr lang="en-US" sz="3200" dirty="0"/>
              <a:t>Measures of variability</a:t>
            </a:r>
          </a:p>
        </p:txBody>
      </p:sp>
      <p:sp>
        <p:nvSpPr>
          <p:cNvPr id="4" name="TextBox 3">
            <a:extLst>
              <a:ext uri="{FF2B5EF4-FFF2-40B4-BE49-F238E27FC236}">
                <a16:creationId xmlns:a16="http://schemas.microsoft.com/office/drawing/2014/main" id="{2AB88DAB-D1E9-B2C8-286B-B161A2CE9865}"/>
              </a:ext>
            </a:extLst>
          </p:cNvPr>
          <p:cNvSpPr txBox="1"/>
          <p:nvPr/>
        </p:nvSpPr>
        <p:spPr>
          <a:xfrm>
            <a:off x="41565" y="3900644"/>
            <a:ext cx="11513126" cy="646331"/>
          </a:xfrm>
          <a:prstGeom prst="rect">
            <a:avLst/>
          </a:prstGeom>
          <a:noFill/>
        </p:spPr>
        <p:txBody>
          <a:bodyPr wrap="square" rtlCol="0">
            <a:spAutoFit/>
          </a:bodyPr>
          <a:lstStyle/>
          <a:p>
            <a:pPr marL="571500" indent="-571500">
              <a:buFont typeface="Courier New" panose="02070309020205020404" pitchFamily="49" charset="0"/>
              <a:buChar char="o"/>
            </a:pPr>
            <a:r>
              <a:rPr lang="en-US" sz="3600" dirty="0"/>
              <a:t>(⅀</a:t>
            </a:r>
            <a:r>
              <a:rPr lang="en-US" sz="3600" baseline="-25000" dirty="0" err="1"/>
              <a:t>i</a:t>
            </a:r>
            <a:r>
              <a:rPr lang="en-US" sz="3600" baseline="-25000" dirty="0"/>
              <a:t> </a:t>
            </a:r>
            <a:r>
              <a:rPr lang="en-US" sz="3600" dirty="0"/>
              <a:t>|a</a:t>
            </a:r>
            <a:r>
              <a:rPr lang="en-US" sz="3600" baseline="-25000" dirty="0"/>
              <a:t>i</a:t>
            </a:r>
            <a:r>
              <a:rPr lang="en-US" sz="3600" dirty="0"/>
              <a:t> - M|)/n, where M is a measure of central tendency</a:t>
            </a:r>
          </a:p>
        </p:txBody>
      </p:sp>
      <p:sp>
        <p:nvSpPr>
          <p:cNvPr id="5" name="TextBox 4">
            <a:extLst>
              <a:ext uri="{FF2B5EF4-FFF2-40B4-BE49-F238E27FC236}">
                <a16:creationId xmlns:a16="http://schemas.microsoft.com/office/drawing/2014/main" id="{A431D769-18A1-41C0-77AA-47E74EACC998}"/>
              </a:ext>
            </a:extLst>
          </p:cNvPr>
          <p:cNvSpPr txBox="1"/>
          <p:nvPr/>
        </p:nvSpPr>
        <p:spPr>
          <a:xfrm>
            <a:off x="55419" y="5053100"/>
            <a:ext cx="11988192" cy="1754326"/>
          </a:xfrm>
          <a:prstGeom prst="rect">
            <a:avLst/>
          </a:prstGeom>
          <a:noFill/>
        </p:spPr>
        <p:txBody>
          <a:bodyPr wrap="square" rtlCol="0">
            <a:spAutoFit/>
          </a:bodyPr>
          <a:lstStyle/>
          <a:p>
            <a:pPr marL="571500" indent="-571500">
              <a:buFont typeface="Courier New" panose="02070309020205020404" pitchFamily="49" charset="0"/>
              <a:buChar char="o"/>
            </a:pPr>
            <a:r>
              <a:rPr lang="en-US" sz="3600" dirty="0"/>
              <a:t>√[(⅀</a:t>
            </a:r>
            <a:r>
              <a:rPr lang="en-US" sz="3600" baseline="-25000" dirty="0" err="1"/>
              <a:t>i</a:t>
            </a:r>
            <a:r>
              <a:rPr lang="en-US" sz="3600" baseline="-25000" dirty="0"/>
              <a:t> </a:t>
            </a:r>
            <a:r>
              <a:rPr lang="en-US" sz="3600" dirty="0"/>
              <a:t>|a</a:t>
            </a:r>
            <a:r>
              <a:rPr lang="en-US" sz="3600" baseline="-25000" dirty="0"/>
              <a:t>i</a:t>
            </a:r>
            <a:r>
              <a:rPr lang="en-US" sz="3600" dirty="0"/>
              <a:t> - M|</a:t>
            </a:r>
            <a:r>
              <a:rPr lang="en-US" sz="3600" baseline="30000" dirty="0"/>
              <a:t>2</a:t>
            </a:r>
            <a:r>
              <a:rPr lang="en-US" sz="3600" dirty="0"/>
              <a:t>)/n], if M = 𝞵, it is called standard deviation (𝛔)</a:t>
            </a:r>
          </a:p>
          <a:p>
            <a:endParaRPr lang="en-US" sz="3600" dirty="0"/>
          </a:p>
          <a:p>
            <a:pPr marL="571500" indent="-571500">
              <a:buFont typeface="Courier New" panose="02070309020205020404" pitchFamily="49" charset="0"/>
              <a:buChar char="o"/>
            </a:pPr>
            <a:r>
              <a:rPr lang="en-US" sz="3600" dirty="0"/>
              <a:t>Interquartile range (IQR)    </a:t>
            </a:r>
          </a:p>
        </p:txBody>
      </p:sp>
      <p:sp>
        <p:nvSpPr>
          <p:cNvPr id="7" name="TextBox 6">
            <a:extLst>
              <a:ext uri="{FF2B5EF4-FFF2-40B4-BE49-F238E27FC236}">
                <a16:creationId xmlns:a16="http://schemas.microsoft.com/office/drawing/2014/main" id="{3D465542-81BB-8536-E37D-A0DAF9C84E48}"/>
              </a:ext>
            </a:extLst>
          </p:cNvPr>
          <p:cNvSpPr txBox="1"/>
          <p:nvPr/>
        </p:nvSpPr>
        <p:spPr>
          <a:xfrm>
            <a:off x="6623538" y="1127171"/>
            <a:ext cx="5343871" cy="461665"/>
          </a:xfrm>
          <a:prstGeom prst="rect">
            <a:avLst/>
          </a:prstGeom>
          <a:solidFill>
            <a:schemeClr val="accent4">
              <a:lumMod val="20000"/>
              <a:lumOff val="80000"/>
            </a:schemeClr>
          </a:solidFill>
        </p:spPr>
        <p:txBody>
          <a:bodyPr wrap="square" rtlCol="0">
            <a:spAutoFit/>
          </a:bodyPr>
          <a:lstStyle/>
          <a:p>
            <a:pPr algn="ctr"/>
            <a:r>
              <a:rPr lang="en-US" sz="2400" b="1" dirty="0"/>
              <a:t>Qualitative data, measures of dispersion</a:t>
            </a:r>
          </a:p>
        </p:txBody>
      </p:sp>
      <p:sp>
        <p:nvSpPr>
          <p:cNvPr id="8" name="TextBox 7">
            <a:extLst>
              <a:ext uri="{FF2B5EF4-FFF2-40B4-BE49-F238E27FC236}">
                <a16:creationId xmlns:a16="http://schemas.microsoft.com/office/drawing/2014/main" id="{11270A58-BF2E-9EF9-21D3-F3D37C477370}"/>
              </a:ext>
            </a:extLst>
          </p:cNvPr>
          <p:cNvSpPr txBox="1"/>
          <p:nvPr/>
        </p:nvSpPr>
        <p:spPr>
          <a:xfrm>
            <a:off x="197866" y="1058896"/>
            <a:ext cx="4733363" cy="584775"/>
          </a:xfrm>
          <a:prstGeom prst="rect">
            <a:avLst/>
          </a:prstGeom>
          <a:noFill/>
          <a:ln>
            <a:solidFill>
              <a:schemeClr val="accent1">
                <a:shade val="15000"/>
              </a:schemeClr>
            </a:solidFill>
          </a:ln>
        </p:spPr>
        <p:txBody>
          <a:bodyPr wrap="square" rtlCol="0">
            <a:spAutoFit/>
          </a:bodyPr>
          <a:lstStyle/>
          <a:p>
            <a:r>
              <a:rPr lang="en-US" sz="3200" dirty="0"/>
              <a:t>Measures of heterogeneity</a:t>
            </a:r>
          </a:p>
        </p:txBody>
      </p:sp>
      <p:sp>
        <p:nvSpPr>
          <p:cNvPr id="10" name="TextBox 9">
            <a:extLst>
              <a:ext uri="{FF2B5EF4-FFF2-40B4-BE49-F238E27FC236}">
                <a16:creationId xmlns:a16="http://schemas.microsoft.com/office/drawing/2014/main" id="{969DB5D3-40DC-C4EA-E559-41F2A4F810D4}"/>
              </a:ext>
            </a:extLst>
          </p:cNvPr>
          <p:cNvSpPr txBox="1"/>
          <p:nvPr/>
        </p:nvSpPr>
        <p:spPr>
          <a:xfrm>
            <a:off x="43150" y="1961437"/>
            <a:ext cx="11853921" cy="646331"/>
          </a:xfrm>
          <a:prstGeom prst="rect">
            <a:avLst/>
          </a:prstGeom>
          <a:noFill/>
        </p:spPr>
        <p:txBody>
          <a:bodyPr wrap="square" rtlCol="0">
            <a:spAutoFit/>
          </a:bodyPr>
          <a:lstStyle/>
          <a:p>
            <a:pPr marL="571500" indent="-571500">
              <a:buFont typeface="Courier New" panose="02070309020205020404" pitchFamily="49" charset="0"/>
              <a:buChar char="o"/>
            </a:pPr>
            <a:r>
              <a:rPr lang="en-US" sz="3600" dirty="0"/>
              <a:t>                                  , Shannon diversity index</a:t>
            </a:r>
          </a:p>
        </p:txBody>
      </p:sp>
    </p:spTree>
    <p:extLst>
      <p:ext uri="{BB962C8B-B14F-4D97-AF65-F5344CB8AC3E}">
        <p14:creationId xmlns:p14="http://schemas.microsoft.com/office/powerpoint/2010/main" val="41184151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3793136-BC27-4182-1267-1DB66A3357B6}"/>
              </a:ext>
            </a:extLst>
          </p:cNvPr>
          <p:cNvSpPr txBox="1">
            <a:spLocks/>
          </p:cNvSpPr>
          <p:nvPr/>
        </p:nvSpPr>
        <p:spPr>
          <a:xfrm>
            <a:off x="0" y="24068"/>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Descriptive statistics, bivariate analysis</a:t>
            </a:r>
          </a:p>
        </p:txBody>
      </p:sp>
      <p:pic>
        <p:nvPicPr>
          <p:cNvPr id="1026" name="Picture 2" descr="IJMS | Free Full-Text | Intratumoral Administration of a Novel Cytotoxic  Formulation with Strong Tissue Dispersive Properties Regresses Tumor Growth  and Elicits Systemic Adaptive Immunity in In Vivo Models">
            <a:extLst>
              <a:ext uri="{FF2B5EF4-FFF2-40B4-BE49-F238E27FC236}">
                <a16:creationId xmlns:a16="http://schemas.microsoft.com/office/drawing/2014/main" id="{13E7FF9A-C8BA-DF5D-3050-0DA55A271A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613" y="1724396"/>
            <a:ext cx="5288134" cy="306532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graphicFrame>
        <p:nvGraphicFramePr>
          <p:cNvPr id="7" name="Table 6">
            <a:extLst>
              <a:ext uri="{FF2B5EF4-FFF2-40B4-BE49-F238E27FC236}">
                <a16:creationId xmlns:a16="http://schemas.microsoft.com/office/drawing/2014/main" id="{2B81BAE8-87F9-891C-819D-33ABFB552693}"/>
              </a:ext>
            </a:extLst>
          </p:cNvPr>
          <p:cNvGraphicFramePr>
            <a:graphicFrameLocks noGrp="1"/>
          </p:cNvGraphicFramePr>
          <p:nvPr/>
        </p:nvGraphicFramePr>
        <p:xfrm>
          <a:off x="6077531" y="1747300"/>
          <a:ext cx="5643420" cy="2966720"/>
        </p:xfrm>
        <a:graphic>
          <a:graphicData uri="http://schemas.openxmlformats.org/drawingml/2006/table">
            <a:tbl>
              <a:tblPr firstRow="1" bandRow="1">
                <a:tableStyleId>{5C22544A-7EE6-4342-B048-85BDC9FD1C3A}</a:tableStyleId>
              </a:tblPr>
              <a:tblGrid>
                <a:gridCol w="1881140">
                  <a:extLst>
                    <a:ext uri="{9D8B030D-6E8A-4147-A177-3AD203B41FA5}">
                      <a16:colId xmlns:a16="http://schemas.microsoft.com/office/drawing/2014/main" val="467497599"/>
                    </a:ext>
                  </a:extLst>
                </a:gridCol>
                <a:gridCol w="1881140">
                  <a:extLst>
                    <a:ext uri="{9D8B030D-6E8A-4147-A177-3AD203B41FA5}">
                      <a16:colId xmlns:a16="http://schemas.microsoft.com/office/drawing/2014/main" val="3844693986"/>
                    </a:ext>
                  </a:extLst>
                </a:gridCol>
                <a:gridCol w="1881140">
                  <a:extLst>
                    <a:ext uri="{9D8B030D-6E8A-4147-A177-3AD203B41FA5}">
                      <a16:colId xmlns:a16="http://schemas.microsoft.com/office/drawing/2014/main" val="3753546311"/>
                    </a:ext>
                  </a:extLst>
                </a:gridCol>
              </a:tblGrid>
              <a:tr h="370840">
                <a:tc>
                  <a:txBody>
                    <a:bodyPr/>
                    <a:lstStyle/>
                    <a:p>
                      <a:r>
                        <a:rPr lang="en-US" dirty="0"/>
                        <a:t>ID mouse</a:t>
                      </a:r>
                    </a:p>
                  </a:txBody>
                  <a:tcPr/>
                </a:tc>
                <a:tc>
                  <a:txBody>
                    <a:bodyPr/>
                    <a:lstStyle/>
                    <a:p>
                      <a:r>
                        <a:rPr lang="en-US" dirty="0"/>
                        <a:t>Day 21, </a:t>
                      </a:r>
                      <a:r>
                        <a:rPr lang="en-US" baseline="0" dirty="0"/>
                        <a:t>mm</a:t>
                      </a:r>
                      <a:r>
                        <a:rPr lang="en-US" baseline="30000" dirty="0"/>
                        <a:t> 3</a:t>
                      </a:r>
                    </a:p>
                  </a:txBody>
                  <a:tcPr/>
                </a:tc>
                <a:tc>
                  <a:txBody>
                    <a:bodyPr/>
                    <a:lstStyle/>
                    <a:p>
                      <a:r>
                        <a:rPr lang="en-US" dirty="0"/>
                        <a:t>Day 23, mm </a:t>
                      </a:r>
                      <a:r>
                        <a:rPr lang="en-US" baseline="30000" dirty="0"/>
                        <a:t>3</a:t>
                      </a:r>
                    </a:p>
                  </a:txBody>
                  <a:tcPr/>
                </a:tc>
                <a:extLst>
                  <a:ext uri="{0D108BD9-81ED-4DB2-BD59-A6C34878D82A}">
                    <a16:rowId xmlns:a16="http://schemas.microsoft.com/office/drawing/2014/main" val="1822286148"/>
                  </a:ext>
                </a:extLst>
              </a:tr>
              <a:tr h="370840">
                <a:tc>
                  <a:txBody>
                    <a:bodyPr/>
                    <a:lstStyle/>
                    <a:p>
                      <a:r>
                        <a:rPr lang="en-US" dirty="0"/>
                        <a:t>M101</a:t>
                      </a:r>
                    </a:p>
                  </a:txBody>
                  <a:tcPr/>
                </a:tc>
                <a:tc>
                  <a:txBody>
                    <a:bodyPr/>
                    <a:lstStyle/>
                    <a:p>
                      <a:r>
                        <a:rPr lang="en-US" dirty="0"/>
                        <a:t>260</a:t>
                      </a:r>
                    </a:p>
                  </a:txBody>
                  <a:tcPr/>
                </a:tc>
                <a:tc>
                  <a:txBody>
                    <a:bodyPr/>
                    <a:lstStyle/>
                    <a:p>
                      <a:r>
                        <a:rPr lang="en-US" dirty="0"/>
                        <a:t>270</a:t>
                      </a:r>
                    </a:p>
                  </a:txBody>
                  <a:tcPr/>
                </a:tc>
                <a:extLst>
                  <a:ext uri="{0D108BD9-81ED-4DB2-BD59-A6C34878D82A}">
                    <a16:rowId xmlns:a16="http://schemas.microsoft.com/office/drawing/2014/main" val="3962141363"/>
                  </a:ext>
                </a:extLst>
              </a:tr>
              <a:tr h="370840">
                <a:tc>
                  <a:txBody>
                    <a:bodyPr/>
                    <a:lstStyle/>
                    <a:p>
                      <a:r>
                        <a:rPr lang="en-US" dirty="0"/>
                        <a:t>M102</a:t>
                      </a:r>
                    </a:p>
                  </a:txBody>
                  <a:tcPr/>
                </a:tc>
                <a:tc>
                  <a:txBody>
                    <a:bodyPr/>
                    <a:lstStyle/>
                    <a:p>
                      <a:r>
                        <a:rPr lang="en-US" dirty="0"/>
                        <a:t>234</a:t>
                      </a:r>
                    </a:p>
                  </a:txBody>
                  <a:tcPr/>
                </a:tc>
                <a:tc>
                  <a:txBody>
                    <a:bodyPr/>
                    <a:lstStyle/>
                    <a:p>
                      <a:r>
                        <a:rPr lang="en-US" dirty="0"/>
                        <a:t>240</a:t>
                      </a:r>
                    </a:p>
                  </a:txBody>
                  <a:tcPr/>
                </a:tc>
                <a:extLst>
                  <a:ext uri="{0D108BD9-81ED-4DB2-BD59-A6C34878D82A}">
                    <a16:rowId xmlns:a16="http://schemas.microsoft.com/office/drawing/2014/main" val="2075368724"/>
                  </a:ext>
                </a:extLst>
              </a:tr>
              <a:tr h="370840">
                <a:tc>
                  <a:txBody>
                    <a:bodyPr/>
                    <a:lstStyle/>
                    <a:p>
                      <a:r>
                        <a:rPr lang="en-US" dirty="0"/>
                        <a:t>M103</a:t>
                      </a:r>
                    </a:p>
                  </a:txBody>
                  <a:tcPr/>
                </a:tc>
                <a:tc>
                  <a:txBody>
                    <a:bodyPr/>
                    <a:lstStyle/>
                    <a:p>
                      <a:r>
                        <a:rPr lang="en-US" dirty="0"/>
                        <a:t>400</a:t>
                      </a:r>
                    </a:p>
                  </a:txBody>
                  <a:tcPr/>
                </a:tc>
                <a:tc>
                  <a:txBody>
                    <a:bodyPr/>
                    <a:lstStyle/>
                    <a:p>
                      <a:r>
                        <a:rPr lang="en-US" dirty="0"/>
                        <a:t>470</a:t>
                      </a:r>
                    </a:p>
                  </a:txBody>
                  <a:tcPr/>
                </a:tc>
                <a:extLst>
                  <a:ext uri="{0D108BD9-81ED-4DB2-BD59-A6C34878D82A}">
                    <a16:rowId xmlns:a16="http://schemas.microsoft.com/office/drawing/2014/main" val="4179262156"/>
                  </a:ext>
                </a:extLst>
              </a:tr>
              <a:tr h="370840">
                <a:tc>
                  <a:txBody>
                    <a:bodyPr/>
                    <a:lstStyle/>
                    <a:p>
                      <a:r>
                        <a:rPr lang="en-US" dirty="0"/>
                        <a:t>M104</a:t>
                      </a:r>
                    </a:p>
                  </a:txBody>
                  <a:tcPr/>
                </a:tc>
                <a:tc>
                  <a:txBody>
                    <a:bodyPr/>
                    <a:lstStyle/>
                    <a:p>
                      <a:r>
                        <a:rPr lang="en-US" dirty="0"/>
                        <a:t>345</a:t>
                      </a:r>
                    </a:p>
                  </a:txBody>
                  <a:tcPr/>
                </a:tc>
                <a:tc>
                  <a:txBody>
                    <a:bodyPr/>
                    <a:lstStyle/>
                    <a:p>
                      <a:r>
                        <a:rPr lang="en-US" dirty="0"/>
                        <a:t>350</a:t>
                      </a:r>
                    </a:p>
                  </a:txBody>
                  <a:tcPr/>
                </a:tc>
                <a:extLst>
                  <a:ext uri="{0D108BD9-81ED-4DB2-BD59-A6C34878D82A}">
                    <a16:rowId xmlns:a16="http://schemas.microsoft.com/office/drawing/2014/main" val="1763446108"/>
                  </a:ext>
                </a:extLst>
              </a:tr>
              <a:tr h="370840">
                <a:tc>
                  <a:txBody>
                    <a:bodyPr/>
                    <a:lstStyle/>
                    <a:p>
                      <a:r>
                        <a:rPr lang="en-US" dirty="0"/>
                        <a:t>M105</a:t>
                      </a:r>
                    </a:p>
                  </a:txBody>
                  <a:tcPr/>
                </a:tc>
                <a:tc>
                  <a:txBody>
                    <a:bodyPr/>
                    <a:lstStyle/>
                    <a:p>
                      <a:r>
                        <a:rPr lang="en-US" dirty="0"/>
                        <a:t>450</a:t>
                      </a:r>
                    </a:p>
                  </a:txBody>
                  <a:tcPr/>
                </a:tc>
                <a:tc>
                  <a:txBody>
                    <a:bodyPr/>
                    <a:lstStyle/>
                    <a:p>
                      <a:r>
                        <a:rPr lang="en-US" dirty="0"/>
                        <a:t>460</a:t>
                      </a:r>
                    </a:p>
                  </a:txBody>
                  <a:tcPr/>
                </a:tc>
                <a:extLst>
                  <a:ext uri="{0D108BD9-81ED-4DB2-BD59-A6C34878D82A}">
                    <a16:rowId xmlns:a16="http://schemas.microsoft.com/office/drawing/2014/main" val="2310057311"/>
                  </a:ext>
                </a:extLst>
              </a:tr>
              <a:tr h="370840">
                <a:tc>
                  <a:txBody>
                    <a:bodyPr/>
                    <a:lstStyle/>
                    <a:p>
                      <a:r>
                        <a:rPr lang="en-US" dirty="0"/>
                        <a:t>M106</a:t>
                      </a:r>
                    </a:p>
                  </a:txBody>
                  <a:tcPr/>
                </a:tc>
                <a:tc>
                  <a:txBody>
                    <a:bodyPr/>
                    <a:lstStyle/>
                    <a:p>
                      <a:r>
                        <a:rPr lang="en-US" dirty="0"/>
                        <a:t>200</a:t>
                      </a:r>
                    </a:p>
                  </a:txBody>
                  <a:tcPr/>
                </a:tc>
                <a:tc>
                  <a:txBody>
                    <a:bodyPr/>
                    <a:lstStyle/>
                    <a:p>
                      <a:r>
                        <a:rPr lang="en-US" dirty="0"/>
                        <a:t>250</a:t>
                      </a:r>
                    </a:p>
                  </a:txBody>
                  <a:tcPr/>
                </a:tc>
                <a:extLst>
                  <a:ext uri="{0D108BD9-81ED-4DB2-BD59-A6C34878D82A}">
                    <a16:rowId xmlns:a16="http://schemas.microsoft.com/office/drawing/2014/main" val="2985435582"/>
                  </a:ext>
                </a:extLst>
              </a:tr>
              <a:tr h="370840">
                <a:tc>
                  <a:txBody>
                    <a:bodyPr/>
                    <a:lstStyle/>
                    <a:p>
                      <a:r>
                        <a:rPr lang="en-US" dirty="0"/>
                        <a:t>M107</a:t>
                      </a:r>
                    </a:p>
                  </a:txBody>
                  <a:tcPr/>
                </a:tc>
                <a:tc>
                  <a:txBody>
                    <a:bodyPr/>
                    <a:lstStyle/>
                    <a:p>
                      <a:r>
                        <a:rPr lang="en-US" dirty="0"/>
                        <a:t>500</a:t>
                      </a:r>
                    </a:p>
                  </a:txBody>
                  <a:tcPr/>
                </a:tc>
                <a:tc>
                  <a:txBody>
                    <a:bodyPr/>
                    <a:lstStyle/>
                    <a:p>
                      <a:r>
                        <a:rPr lang="en-US" dirty="0"/>
                        <a:t>510</a:t>
                      </a:r>
                    </a:p>
                  </a:txBody>
                  <a:tcPr/>
                </a:tc>
                <a:extLst>
                  <a:ext uri="{0D108BD9-81ED-4DB2-BD59-A6C34878D82A}">
                    <a16:rowId xmlns:a16="http://schemas.microsoft.com/office/drawing/2014/main" val="1552258484"/>
                  </a:ext>
                </a:extLst>
              </a:tr>
            </a:tbl>
          </a:graphicData>
        </a:graphic>
      </p:graphicFrame>
    </p:spTree>
    <p:extLst>
      <p:ext uri="{BB962C8B-B14F-4D97-AF65-F5344CB8AC3E}">
        <p14:creationId xmlns:p14="http://schemas.microsoft.com/office/powerpoint/2010/main" val="18201738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3793136-BC27-4182-1267-1DB66A3357B6}"/>
              </a:ext>
            </a:extLst>
          </p:cNvPr>
          <p:cNvSpPr txBox="1">
            <a:spLocks/>
          </p:cNvSpPr>
          <p:nvPr/>
        </p:nvSpPr>
        <p:spPr>
          <a:xfrm>
            <a:off x="0" y="24068"/>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Descriptive statistics, bivariate analysis</a:t>
            </a:r>
          </a:p>
        </p:txBody>
      </p:sp>
      <p:pic>
        <p:nvPicPr>
          <p:cNvPr id="1026" name="Picture 2" descr="IJMS | Free Full-Text | Intratumoral Administration of a Novel Cytotoxic  Formulation with Strong Tissue Dispersive Properties Regresses Tumor Growth  and Elicits Systemic Adaptive Immunity in In Vivo Models">
            <a:extLst>
              <a:ext uri="{FF2B5EF4-FFF2-40B4-BE49-F238E27FC236}">
                <a16:creationId xmlns:a16="http://schemas.microsoft.com/office/drawing/2014/main" id="{13E7FF9A-C8BA-DF5D-3050-0DA55A271A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4620" y="1760022"/>
            <a:ext cx="5288134" cy="306532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5" name="Picture 4" descr="A graph with red dots&#10;&#10;Description automatically generated">
            <a:extLst>
              <a:ext uri="{FF2B5EF4-FFF2-40B4-BE49-F238E27FC236}">
                <a16:creationId xmlns:a16="http://schemas.microsoft.com/office/drawing/2014/main" id="{AF3B9427-73E4-51FD-7F99-0BD0E9BD9006}"/>
              </a:ext>
            </a:extLst>
          </p:cNvPr>
          <p:cNvPicPr>
            <a:picLocks noChangeAspect="1"/>
          </p:cNvPicPr>
          <p:nvPr/>
        </p:nvPicPr>
        <p:blipFill>
          <a:blip r:embed="rId4"/>
          <a:stretch>
            <a:fillRect/>
          </a:stretch>
        </p:blipFill>
        <p:spPr>
          <a:xfrm>
            <a:off x="6255594" y="980209"/>
            <a:ext cx="4731326" cy="4731326"/>
          </a:xfrm>
          <a:prstGeom prst="rect">
            <a:avLst/>
          </a:prstGeom>
        </p:spPr>
      </p:pic>
      <p:sp>
        <p:nvSpPr>
          <p:cNvPr id="8" name="TextBox 7">
            <a:extLst>
              <a:ext uri="{FF2B5EF4-FFF2-40B4-BE49-F238E27FC236}">
                <a16:creationId xmlns:a16="http://schemas.microsoft.com/office/drawing/2014/main" id="{8D181622-0375-487A-0B23-8EF31D9566C1}"/>
              </a:ext>
            </a:extLst>
          </p:cNvPr>
          <p:cNvSpPr txBox="1"/>
          <p:nvPr/>
        </p:nvSpPr>
        <p:spPr>
          <a:xfrm>
            <a:off x="232630" y="5553140"/>
            <a:ext cx="8038532" cy="954107"/>
          </a:xfrm>
          <a:prstGeom prst="rect">
            <a:avLst/>
          </a:prstGeom>
          <a:noFill/>
        </p:spPr>
        <p:txBody>
          <a:bodyPr wrap="square" rtlCol="0">
            <a:spAutoFit/>
          </a:bodyPr>
          <a:lstStyle/>
          <a:p>
            <a:r>
              <a:rPr lang="en-US" sz="2800" b="1" dirty="0"/>
              <a:t>Take home message:</a:t>
            </a:r>
          </a:p>
          <a:p>
            <a:r>
              <a:rPr lang="en-US" sz="2800" dirty="0"/>
              <a:t>Paired data are not independent. They correlate.</a:t>
            </a:r>
          </a:p>
        </p:txBody>
      </p:sp>
    </p:spTree>
    <p:extLst>
      <p:ext uri="{BB962C8B-B14F-4D97-AF65-F5344CB8AC3E}">
        <p14:creationId xmlns:p14="http://schemas.microsoft.com/office/powerpoint/2010/main" val="40552461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4E5FB8B-D8FE-4D25-5D4A-0355A286331A}"/>
              </a:ext>
            </a:extLst>
          </p:cNvPr>
          <p:cNvSpPr txBox="1"/>
          <p:nvPr/>
        </p:nvSpPr>
        <p:spPr>
          <a:xfrm>
            <a:off x="184922" y="2657616"/>
            <a:ext cx="11520238" cy="492443"/>
          </a:xfrm>
          <a:prstGeom prst="rect">
            <a:avLst/>
          </a:prstGeom>
          <a:noFill/>
        </p:spPr>
        <p:txBody>
          <a:bodyPr wrap="square">
            <a:spAutoFit/>
          </a:bodyPr>
          <a:lstStyle/>
          <a:p>
            <a:r>
              <a:rPr lang="en-GB" sz="2600" dirty="0">
                <a:effectLst/>
              </a:rPr>
              <a:t>http://bioinformatics-core-shared-</a:t>
            </a:r>
            <a:r>
              <a:rPr lang="en-GB" sz="2600" dirty="0" err="1">
                <a:effectLst/>
              </a:rPr>
              <a:t>training.github.io</a:t>
            </a:r>
            <a:r>
              <a:rPr lang="en-GB" sz="2600" dirty="0">
                <a:effectLst/>
              </a:rPr>
              <a:t>/</a:t>
            </a:r>
            <a:r>
              <a:rPr lang="en-GB" sz="2600" dirty="0" err="1">
                <a:effectLst/>
              </a:rPr>
              <a:t>IntroductionToStats</a:t>
            </a:r>
            <a:endParaRPr lang="en-GB" sz="2600" dirty="0">
              <a:effectLst/>
            </a:endParaRPr>
          </a:p>
        </p:txBody>
      </p:sp>
      <p:sp>
        <p:nvSpPr>
          <p:cNvPr id="8" name="Title 1">
            <a:extLst>
              <a:ext uri="{FF2B5EF4-FFF2-40B4-BE49-F238E27FC236}">
                <a16:creationId xmlns:a16="http://schemas.microsoft.com/office/drawing/2014/main" id="{E285C570-5CC2-650C-8474-D67489B2E390}"/>
              </a:ext>
            </a:extLst>
          </p:cNvPr>
          <p:cNvSpPr txBox="1">
            <a:spLocks/>
          </p:cNvSpPr>
          <p:nvPr/>
        </p:nvSpPr>
        <p:spPr>
          <a:xfrm>
            <a:off x="0" y="24068"/>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Online quiz</a:t>
            </a:r>
          </a:p>
        </p:txBody>
      </p:sp>
    </p:spTree>
    <p:extLst>
      <p:ext uri="{BB962C8B-B14F-4D97-AF65-F5344CB8AC3E}">
        <p14:creationId xmlns:p14="http://schemas.microsoft.com/office/powerpoint/2010/main" val="32398072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5F8BA-A1E1-8AED-8822-5DDEC913DA8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982897A-EF71-344D-B314-18E384C2AA9C}"/>
              </a:ext>
            </a:extLst>
          </p:cNvPr>
          <p:cNvSpPr>
            <a:spLocks noGrp="1"/>
          </p:cNvSpPr>
          <p:nvPr>
            <p:ph type="title"/>
          </p:nvPr>
        </p:nvSpPr>
        <p:spPr>
          <a:xfrm>
            <a:off x="7273101" y="2281573"/>
            <a:ext cx="2752638" cy="1033123"/>
          </a:xfrm>
        </p:spPr>
        <p:txBody>
          <a:bodyPr>
            <a:normAutofit fontScale="90000"/>
          </a:bodyPr>
          <a:lstStyle/>
          <a:p>
            <a:pPr algn="ctr"/>
            <a:r>
              <a:rPr lang="en-US" sz="3600" dirty="0"/>
              <a:t>Inferential Statistics</a:t>
            </a:r>
          </a:p>
        </p:txBody>
      </p:sp>
      <p:sp>
        <p:nvSpPr>
          <p:cNvPr id="5" name="Text Placeholder 4">
            <a:extLst>
              <a:ext uri="{FF2B5EF4-FFF2-40B4-BE49-F238E27FC236}">
                <a16:creationId xmlns:a16="http://schemas.microsoft.com/office/drawing/2014/main" id="{EDC2C91E-DCF6-B34B-8276-43D48C5A4A73}"/>
              </a:ext>
            </a:extLst>
          </p:cNvPr>
          <p:cNvSpPr>
            <a:spLocks noGrp="1"/>
          </p:cNvSpPr>
          <p:nvPr>
            <p:ph type="body" sz="quarter" idx="22"/>
          </p:nvPr>
        </p:nvSpPr>
        <p:spPr>
          <a:xfrm>
            <a:off x="7920000" y="5328000"/>
            <a:ext cx="2947523" cy="569080"/>
          </a:xfrm>
        </p:spPr>
        <p:txBody>
          <a:bodyPr>
            <a:noAutofit/>
          </a:bodyPr>
          <a:lstStyle/>
          <a:p>
            <a:r>
              <a:rPr lang="en-US" sz="2500" dirty="0"/>
              <a:t>11.10 - 11.20</a:t>
            </a:r>
          </a:p>
        </p:txBody>
      </p:sp>
      <p:sp>
        <p:nvSpPr>
          <p:cNvPr id="13" name="Text Placeholder 2">
            <a:extLst>
              <a:ext uri="{FF2B5EF4-FFF2-40B4-BE49-F238E27FC236}">
                <a16:creationId xmlns:a16="http://schemas.microsoft.com/office/drawing/2014/main" id="{2C5046BB-CC8B-F32B-D432-1030C8DEBDA3}"/>
              </a:ext>
            </a:extLst>
          </p:cNvPr>
          <p:cNvSpPr>
            <a:spLocks noGrp="1"/>
          </p:cNvSpPr>
          <p:nvPr>
            <p:ph type="body" sz="quarter" idx="11"/>
          </p:nvPr>
        </p:nvSpPr>
        <p:spPr>
          <a:xfrm>
            <a:off x="7920000" y="4500000"/>
            <a:ext cx="3225109" cy="566630"/>
          </a:xfrm>
        </p:spPr>
        <p:txBody>
          <a:bodyPr vert="horz" lIns="91440" tIns="45720" rIns="91440" bIns="45720" rtlCol="0">
            <a:normAutofit/>
          </a:bodyPr>
          <a:lstStyle/>
          <a:p>
            <a:r>
              <a:rPr lang="en-US" sz="2500" dirty="0"/>
              <a:t>Basic concepts</a:t>
            </a:r>
          </a:p>
        </p:txBody>
      </p:sp>
      <p:sp>
        <p:nvSpPr>
          <p:cNvPr id="18" name="TextBox 17">
            <a:extLst>
              <a:ext uri="{FF2B5EF4-FFF2-40B4-BE49-F238E27FC236}">
                <a16:creationId xmlns:a16="http://schemas.microsoft.com/office/drawing/2014/main" id="{806AF4C8-5517-BBC4-CA6A-79DC85CE8393}"/>
              </a:ext>
            </a:extLst>
          </p:cNvPr>
          <p:cNvSpPr txBox="1"/>
          <p:nvPr/>
        </p:nvSpPr>
        <p:spPr>
          <a:xfrm>
            <a:off x="127712" y="920464"/>
            <a:ext cx="3195887" cy="461665"/>
          </a:xfrm>
          <a:prstGeom prst="rect">
            <a:avLst/>
          </a:prstGeom>
          <a:noFill/>
        </p:spPr>
        <p:txBody>
          <a:bodyPr wrap="square" rtlCol="0">
            <a:spAutoFit/>
          </a:bodyPr>
          <a:lstStyle/>
          <a:p>
            <a:pPr algn="ctr"/>
            <a:r>
              <a:rPr lang="en-US" sz="2400" dirty="0"/>
              <a:t>1) Statistical distribution </a:t>
            </a:r>
          </a:p>
        </p:txBody>
      </p:sp>
      <p:pic>
        <p:nvPicPr>
          <p:cNvPr id="19" name="Picture 2" descr="Binomial distribution - Wikipedia">
            <a:extLst>
              <a:ext uri="{FF2B5EF4-FFF2-40B4-BE49-F238E27FC236}">
                <a16:creationId xmlns:a16="http://schemas.microsoft.com/office/drawing/2014/main" id="{61ADAA10-4DAF-52A5-9013-86CBDA0752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60421" y="592072"/>
            <a:ext cx="2176908" cy="1449482"/>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4" descr="The History of the Coin Flip – Heads or Tails? - Hattons of London">
            <a:extLst>
              <a:ext uri="{FF2B5EF4-FFF2-40B4-BE49-F238E27FC236}">
                <a16:creationId xmlns:a16="http://schemas.microsoft.com/office/drawing/2014/main" id="{353B69DE-F2CF-36E0-515A-4916B2CFD1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04311" y="3738321"/>
            <a:ext cx="2187508" cy="1455687"/>
          </a:xfrm>
          <a:prstGeom prst="rect">
            <a:avLst/>
          </a:prstGeom>
          <a:noFill/>
          <a:extLst>
            <a:ext uri="{909E8E84-426E-40DD-AFC4-6F175D3DCCD1}">
              <a14:hiddenFill xmlns:a14="http://schemas.microsoft.com/office/drawing/2010/main">
                <a:solidFill>
                  <a:srgbClr val="FFFFFF"/>
                </a:solidFill>
              </a14:hiddenFill>
            </a:ext>
          </a:extLst>
        </p:spPr>
      </p:pic>
      <p:cxnSp>
        <p:nvCxnSpPr>
          <p:cNvPr id="23" name="Straight Arrow Connector 22">
            <a:extLst>
              <a:ext uri="{FF2B5EF4-FFF2-40B4-BE49-F238E27FC236}">
                <a16:creationId xmlns:a16="http://schemas.microsoft.com/office/drawing/2014/main" id="{40929F8A-66C5-18DA-5965-3A1A098D621E}"/>
              </a:ext>
            </a:extLst>
          </p:cNvPr>
          <p:cNvCxnSpPr>
            <a:cxnSpLocks/>
          </p:cNvCxnSpPr>
          <p:nvPr/>
        </p:nvCxnSpPr>
        <p:spPr>
          <a:xfrm>
            <a:off x="4848875" y="2232586"/>
            <a:ext cx="0" cy="1327041"/>
          </a:xfrm>
          <a:prstGeom prst="straightConnector1">
            <a:avLst/>
          </a:prstGeom>
          <a:ln w="25400">
            <a:solidFill>
              <a:schemeClr val="tx1"/>
            </a:solidFill>
            <a:prstDash val="sysDash"/>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F52BB94-AF71-1F57-E827-9D54201AB30C}"/>
              </a:ext>
            </a:extLst>
          </p:cNvPr>
          <p:cNvCxnSpPr>
            <a:cxnSpLocks/>
          </p:cNvCxnSpPr>
          <p:nvPr/>
        </p:nvCxnSpPr>
        <p:spPr>
          <a:xfrm>
            <a:off x="1828798" y="4466164"/>
            <a:ext cx="1690460" cy="0"/>
          </a:xfrm>
          <a:prstGeom prst="line">
            <a:avLst/>
          </a:prstGeom>
          <a:ln w="63500">
            <a:solidFill>
              <a:schemeClr val="accent2"/>
            </a:solidFill>
            <a:headEnd type="none"/>
            <a:tailEnd type="ova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EBB84C3D-5860-9E0F-592A-15227AD48427}"/>
              </a:ext>
            </a:extLst>
          </p:cNvPr>
          <p:cNvSpPr txBox="1"/>
          <p:nvPr/>
        </p:nvSpPr>
        <p:spPr>
          <a:xfrm>
            <a:off x="293418" y="4631939"/>
            <a:ext cx="3201392" cy="461665"/>
          </a:xfrm>
          <a:prstGeom prst="rect">
            <a:avLst/>
          </a:prstGeom>
          <a:solidFill>
            <a:schemeClr val="accent2"/>
          </a:solidFill>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r"/>
            <a:r>
              <a:rPr lang="en-US" sz="2400" b="1" dirty="0"/>
              <a:t>3) Frequentist inference</a:t>
            </a:r>
          </a:p>
        </p:txBody>
      </p:sp>
      <p:sp>
        <p:nvSpPr>
          <p:cNvPr id="29" name="TextBox 28">
            <a:extLst>
              <a:ext uri="{FF2B5EF4-FFF2-40B4-BE49-F238E27FC236}">
                <a16:creationId xmlns:a16="http://schemas.microsoft.com/office/drawing/2014/main" id="{A1E6F78D-3138-2231-FFFA-59E2DB68D95D}"/>
              </a:ext>
            </a:extLst>
          </p:cNvPr>
          <p:cNvSpPr txBox="1"/>
          <p:nvPr/>
        </p:nvSpPr>
        <p:spPr>
          <a:xfrm>
            <a:off x="5016191" y="2434146"/>
            <a:ext cx="1653075" cy="830997"/>
          </a:xfrm>
          <a:prstGeom prst="rect">
            <a:avLst/>
          </a:prstGeom>
          <a:noFill/>
        </p:spPr>
        <p:txBody>
          <a:bodyPr wrap="square" rtlCol="0">
            <a:spAutoFit/>
          </a:bodyPr>
          <a:lstStyle/>
          <a:p>
            <a:r>
              <a:rPr lang="en-US" sz="2400" dirty="0"/>
              <a:t>2) Data generation</a:t>
            </a:r>
          </a:p>
        </p:txBody>
      </p:sp>
      <p:cxnSp>
        <p:nvCxnSpPr>
          <p:cNvPr id="36" name="Straight Arrow Connector 35">
            <a:extLst>
              <a:ext uri="{FF2B5EF4-FFF2-40B4-BE49-F238E27FC236}">
                <a16:creationId xmlns:a16="http://schemas.microsoft.com/office/drawing/2014/main" id="{420F5876-F966-3E53-B672-767D81610982}"/>
              </a:ext>
            </a:extLst>
          </p:cNvPr>
          <p:cNvCxnSpPr/>
          <p:nvPr/>
        </p:nvCxnSpPr>
        <p:spPr>
          <a:xfrm flipV="1">
            <a:off x="1828798" y="1518556"/>
            <a:ext cx="0" cy="2988000"/>
          </a:xfrm>
          <a:prstGeom prst="straightConnector1">
            <a:avLst/>
          </a:prstGeom>
          <a:ln w="635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49306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2AECD0-D662-C9FE-373F-F5D34CEA47AE}"/>
              </a:ext>
            </a:extLst>
          </p:cNvPr>
          <p:cNvSpPr txBox="1"/>
          <p:nvPr/>
        </p:nvSpPr>
        <p:spPr>
          <a:xfrm>
            <a:off x="108270" y="1000713"/>
            <a:ext cx="11947373" cy="3816429"/>
          </a:xfrm>
          <a:prstGeom prst="rect">
            <a:avLst/>
          </a:prstGeom>
          <a:noFill/>
        </p:spPr>
        <p:txBody>
          <a:bodyPr wrap="square" rtlCol="0">
            <a:spAutoFit/>
          </a:bodyPr>
          <a:lstStyle/>
          <a:p>
            <a:r>
              <a:rPr lang="en-US" sz="4400" b="1" dirty="0"/>
              <a:t>Random events.</a:t>
            </a:r>
            <a:endParaRPr lang="en-US" sz="4400" dirty="0"/>
          </a:p>
          <a:p>
            <a:pPr>
              <a:lnSpc>
                <a:spcPct val="150000"/>
              </a:lnSpc>
            </a:pPr>
            <a:r>
              <a:rPr lang="en-US" sz="3600" dirty="0"/>
              <a:t>Empirical phenomena which have the following two features:</a:t>
            </a:r>
          </a:p>
          <a:p>
            <a:pPr indent="311150"/>
            <a:r>
              <a:rPr lang="en-US" sz="3600" dirty="0"/>
              <a:t>1. They do not have deterministic regularity (i.e. observations</a:t>
            </a:r>
          </a:p>
          <a:p>
            <a:pPr marL="682625" indent="-58738"/>
            <a:r>
              <a:rPr lang="en-US" sz="3600" dirty="0"/>
              <a:t> of them do not always yield the same outcome)</a:t>
            </a:r>
          </a:p>
          <a:p>
            <a:pPr marL="762000" indent="-450850"/>
            <a:r>
              <a:rPr lang="en-US" sz="3600" dirty="0"/>
              <a:t>2. They possess some statistical regularity, indicated by the statistical stability of their frequencies.</a:t>
            </a:r>
          </a:p>
        </p:txBody>
      </p:sp>
      <p:sp>
        <p:nvSpPr>
          <p:cNvPr id="4" name="TextBox 3">
            <a:extLst>
              <a:ext uri="{FF2B5EF4-FFF2-40B4-BE49-F238E27FC236}">
                <a16:creationId xmlns:a16="http://schemas.microsoft.com/office/drawing/2014/main" id="{2E7D885C-D02D-4291-DE7D-2B0EAA8D03DC}"/>
              </a:ext>
            </a:extLst>
          </p:cNvPr>
          <p:cNvSpPr txBox="1"/>
          <p:nvPr/>
        </p:nvSpPr>
        <p:spPr>
          <a:xfrm>
            <a:off x="-1" y="6502795"/>
            <a:ext cx="4699591" cy="377026"/>
          </a:xfrm>
          <a:prstGeom prst="rect">
            <a:avLst/>
          </a:prstGeom>
          <a:noFill/>
        </p:spPr>
        <p:txBody>
          <a:bodyPr wrap="square" rtlCol="0">
            <a:spAutoFit/>
          </a:bodyPr>
          <a:lstStyle/>
          <a:p>
            <a:r>
              <a:rPr lang="en-US" sz="1850" dirty="0"/>
              <a:t>Shiryaev Albert N., Probability-1, Third Edition</a:t>
            </a:r>
          </a:p>
        </p:txBody>
      </p:sp>
      <p:sp>
        <p:nvSpPr>
          <p:cNvPr id="7" name="Title 1">
            <a:extLst>
              <a:ext uri="{FF2B5EF4-FFF2-40B4-BE49-F238E27FC236}">
                <a16:creationId xmlns:a16="http://schemas.microsoft.com/office/drawing/2014/main" id="{D0F3FF4A-016D-E78B-F30D-AB9FCC2385FB}"/>
              </a:ext>
            </a:extLst>
          </p:cNvPr>
          <p:cNvSpPr txBox="1">
            <a:spLocks/>
          </p:cNvSpPr>
          <p:nvPr/>
        </p:nvSpPr>
        <p:spPr>
          <a:xfrm>
            <a:off x="18661" y="62168"/>
            <a:ext cx="12192000" cy="721895"/>
          </a:xfrm>
          <a:prstGeom prst="rect">
            <a:avLst/>
          </a:prstGeom>
          <a:no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5000" b="1" dirty="0"/>
              <a:t>Frequentist inference</a:t>
            </a:r>
          </a:p>
        </p:txBody>
      </p:sp>
      <p:pic>
        <p:nvPicPr>
          <p:cNvPr id="9" name="Picture 8" descr="A hand reaching for a coin&#10;&#10;Description automatically generated">
            <a:extLst>
              <a:ext uri="{FF2B5EF4-FFF2-40B4-BE49-F238E27FC236}">
                <a16:creationId xmlns:a16="http://schemas.microsoft.com/office/drawing/2014/main" id="{C645BFAB-B7DA-96EB-674D-652AAC4C0100}"/>
              </a:ext>
            </a:extLst>
          </p:cNvPr>
          <p:cNvPicPr>
            <a:picLocks noChangeAspect="1"/>
          </p:cNvPicPr>
          <p:nvPr/>
        </p:nvPicPr>
        <p:blipFill>
          <a:blip r:embed="rId3"/>
          <a:stretch>
            <a:fillRect/>
          </a:stretch>
        </p:blipFill>
        <p:spPr>
          <a:xfrm>
            <a:off x="8945218" y="4719622"/>
            <a:ext cx="3110426" cy="2076210"/>
          </a:xfrm>
          <a:prstGeom prst="rect">
            <a:avLst/>
          </a:prstGeom>
        </p:spPr>
      </p:pic>
      <p:sp>
        <p:nvSpPr>
          <p:cNvPr id="6" name="TextBox 5">
            <a:extLst>
              <a:ext uri="{FF2B5EF4-FFF2-40B4-BE49-F238E27FC236}">
                <a16:creationId xmlns:a16="http://schemas.microsoft.com/office/drawing/2014/main" id="{7180B280-D732-C5D1-8F28-855511EFFFFE}"/>
              </a:ext>
            </a:extLst>
          </p:cNvPr>
          <p:cNvSpPr txBox="1"/>
          <p:nvPr/>
        </p:nvSpPr>
        <p:spPr>
          <a:xfrm>
            <a:off x="9883943" y="149400"/>
            <a:ext cx="2171700" cy="892552"/>
          </a:xfrm>
          <a:prstGeom prst="rect">
            <a:avLst/>
          </a:prstGeom>
          <a:solidFill>
            <a:schemeClr val="accent4">
              <a:lumMod val="40000"/>
              <a:lumOff val="60000"/>
            </a:schemeClr>
          </a:solidFill>
        </p:spPr>
        <p:txBody>
          <a:bodyPr wrap="square" rtlCol="0">
            <a:spAutoFit/>
          </a:bodyPr>
          <a:lstStyle/>
          <a:p>
            <a:pPr algn="ctr"/>
            <a:r>
              <a:rPr lang="en-US" sz="2600" dirty="0">
                <a:solidFill>
                  <a:srgbClr val="FF0000"/>
                </a:solidFill>
                <a:latin typeface="American Typewriter" panose="02090604020004020304" pitchFamily="18" charset="77"/>
              </a:rPr>
              <a:t>Additional slide</a:t>
            </a:r>
          </a:p>
        </p:txBody>
      </p:sp>
    </p:spTree>
    <p:extLst>
      <p:ext uri="{BB962C8B-B14F-4D97-AF65-F5344CB8AC3E}">
        <p14:creationId xmlns:p14="http://schemas.microsoft.com/office/powerpoint/2010/main" val="22551578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2AECD0-D662-C9FE-373F-F5D34CEA47AE}"/>
              </a:ext>
            </a:extLst>
          </p:cNvPr>
          <p:cNvSpPr txBox="1"/>
          <p:nvPr/>
        </p:nvSpPr>
        <p:spPr>
          <a:xfrm>
            <a:off x="108270" y="1080227"/>
            <a:ext cx="11947373" cy="4047262"/>
          </a:xfrm>
          <a:prstGeom prst="rect">
            <a:avLst/>
          </a:prstGeom>
          <a:noFill/>
        </p:spPr>
        <p:txBody>
          <a:bodyPr wrap="square" rtlCol="0">
            <a:spAutoFit/>
          </a:bodyPr>
          <a:lstStyle/>
          <a:p>
            <a:r>
              <a:rPr lang="en-US" sz="4400" b="1" dirty="0"/>
              <a:t>Mathematical analysis of random events.</a:t>
            </a:r>
            <a:endParaRPr lang="en-US" sz="4400" dirty="0"/>
          </a:p>
          <a:p>
            <a:endParaRPr lang="en-US" sz="600" dirty="0"/>
          </a:p>
          <a:p>
            <a:pPr marL="571500" indent="-571500">
              <a:spcBef>
                <a:spcPts val="600"/>
              </a:spcBef>
              <a:buFont typeface="Wingdings" pitchFamily="2" charset="2"/>
              <a:buChar char="§"/>
            </a:pPr>
            <a:r>
              <a:rPr lang="en-US" sz="3600" dirty="0"/>
              <a:t>Random events are </a:t>
            </a:r>
            <a:r>
              <a:rPr lang="en-US" sz="3600" b="1" dirty="0"/>
              <a:t>more or less adequately</a:t>
            </a:r>
            <a:r>
              <a:rPr lang="en-US" sz="3600" dirty="0"/>
              <a:t> described by statistical distributions (e.g. normal distribution).</a:t>
            </a:r>
          </a:p>
          <a:p>
            <a:endParaRPr lang="en-US" sz="2200" dirty="0"/>
          </a:p>
          <a:p>
            <a:pPr marL="571500" indent="-571500">
              <a:buFont typeface="Wingdings" pitchFamily="2" charset="2"/>
              <a:buChar char="§"/>
            </a:pPr>
            <a:r>
              <a:rPr lang="en-US" sz="3600" dirty="0"/>
              <a:t>Statistical regularity is captured by </a:t>
            </a:r>
            <a:r>
              <a:rPr lang="en-US" sz="3600" b="1" dirty="0"/>
              <a:t>parameters of statistical distributions</a:t>
            </a:r>
            <a:r>
              <a:rPr lang="en-US" sz="3600" dirty="0"/>
              <a:t> (e.g. mean and standard deviation of the normal distribution).</a:t>
            </a:r>
          </a:p>
        </p:txBody>
      </p:sp>
      <p:sp>
        <p:nvSpPr>
          <p:cNvPr id="7" name="Title 1">
            <a:extLst>
              <a:ext uri="{FF2B5EF4-FFF2-40B4-BE49-F238E27FC236}">
                <a16:creationId xmlns:a16="http://schemas.microsoft.com/office/drawing/2014/main" id="{D0F3FF4A-016D-E78B-F30D-AB9FCC2385FB}"/>
              </a:ext>
            </a:extLst>
          </p:cNvPr>
          <p:cNvSpPr txBox="1">
            <a:spLocks/>
          </p:cNvSpPr>
          <p:nvPr/>
        </p:nvSpPr>
        <p:spPr>
          <a:xfrm>
            <a:off x="18661" y="62168"/>
            <a:ext cx="12192000" cy="721895"/>
          </a:xfrm>
          <a:prstGeom prst="rect">
            <a:avLst/>
          </a:prstGeom>
          <a:no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5000" b="1" dirty="0"/>
              <a:t>Frequentist inference</a:t>
            </a:r>
          </a:p>
        </p:txBody>
      </p:sp>
      <p:sp>
        <p:nvSpPr>
          <p:cNvPr id="5" name="TextBox 4">
            <a:extLst>
              <a:ext uri="{FF2B5EF4-FFF2-40B4-BE49-F238E27FC236}">
                <a16:creationId xmlns:a16="http://schemas.microsoft.com/office/drawing/2014/main" id="{EC1A0EB5-8117-6EDE-13B2-DADE7672F896}"/>
              </a:ext>
            </a:extLst>
          </p:cNvPr>
          <p:cNvSpPr txBox="1"/>
          <p:nvPr/>
        </p:nvSpPr>
        <p:spPr>
          <a:xfrm>
            <a:off x="9883943" y="149400"/>
            <a:ext cx="2171700" cy="892552"/>
          </a:xfrm>
          <a:prstGeom prst="rect">
            <a:avLst/>
          </a:prstGeom>
          <a:solidFill>
            <a:schemeClr val="accent4">
              <a:lumMod val="40000"/>
              <a:lumOff val="60000"/>
            </a:schemeClr>
          </a:solidFill>
        </p:spPr>
        <p:txBody>
          <a:bodyPr wrap="square" rtlCol="0">
            <a:spAutoFit/>
          </a:bodyPr>
          <a:lstStyle/>
          <a:p>
            <a:pPr algn="ctr"/>
            <a:r>
              <a:rPr lang="en-US" sz="2600" dirty="0">
                <a:solidFill>
                  <a:srgbClr val="FF0000"/>
                </a:solidFill>
                <a:latin typeface="American Typewriter" panose="02090604020004020304" pitchFamily="18" charset="77"/>
              </a:rPr>
              <a:t>Additional slide</a:t>
            </a:r>
          </a:p>
        </p:txBody>
      </p:sp>
    </p:spTree>
    <p:extLst>
      <p:ext uri="{BB962C8B-B14F-4D97-AF65-F5344CB8AC3E}">
        <p14:creationId xmlns:p14="http://schemas.microsoft.com/office/powerpoint/2010/main" val="10804565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57610854-7463-EA40-8DE4-4B7BC2B48214}"/>
              </a:ext>
            </a:extLst>
          </p:cNvPr>
          <p:cNvSpPr/>
          <p:nvPr/>
        </p:nvSpPr>
        <p:spPr>
          <a:xfrm>
            <a:off x="2044428" y="3902728"/>
            <a:ext cx="5250305" cy="2304728"/>
          </a:xfrm>
          <a:custGeom>
            <a:avLst/>
            <a:gdLst>
              <a:gd name="connsiteX0" fmla="*/ 2551243 w 5250305"/>
              <a:gd name="connsiteY0" fmla="*/ 49629 h 2304728"/>
              <a:gd name="connsiteX1" fmla="*/ 548 w 5250305"/>
              <a:gd name="connsiteY1" fmla="*/ 494797 h 2304728"/>
              <a:gd name="connsiteX2" fmla="*/ 2779843 w 5250305"/>
              <a:gd name="connsiteY2" fmla="*/ 2299534 h 2304728"/>
              <a:gd name="connsiteX3" fmla="*/ 5234285 w 5250305"/>
              <a:gd name="connsiteY3" fmla="*/ 1012155 h 2304728"/>
              <a:gd name="connsiteX4" fmla="*/ 3778464 w 5250305"/>
              <a:gd name="connsiteY4" fmla="*/ 121818 h 2304728"/>
              <a:gd name="connsiteX5" fmla="*/ 2551243 w 5250305"/>
              <a:gd name="connsiteY5" fmla="*/ 49629 h 230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50305" h="2304728">
                <a:moveTo>
                  <a:pt x="2551243" y="49629"/>
                </a:moveTo>
                <a:cubicBezTo>
                  <a:pt x="1921590" y="111792"/>
                  <a:pt x="-37552" y="119813"/>
                  <a:pt x="548" y="494797"/>
                </a:cubicBezTo>
                <a:cubicBezTo>
                  <a:pt x="38648" y="869781"/>
                  <a:pt x="1907553" y="2213308"/>
                  <a:pt x="2779843" y="2299534"/>
                </a:cubicBezTo>
                <a:cubicBezTo>
                  <a:pt x="3652133" y="2385760"/>
                  <a:pt x="5067848" y="1375108"/>
                  <a:pt x="5234285" y="1012155"/>
                </a:cubicBezTo>
                <a:cubicBezTo>
                  <a:pt x="5400722" y="649202"/>
                  <a:pt x="4225638" y="286250"/>
                  <a:pt x="3778464" y="121818"/>
                </a:cubicBezTo>
                <a:cubicBezTo>
                  <a:pt x="3331290" y="-42614"/>
                  <a:pt x="3180896" y="-12534"/>
                  <a:pt x="2551243" y="49629"/>
                </a:cubicBezTo>
                <a:close/>
              </a:path>
            </a:pathLst>
          </a:cu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Title 1">
            <a:extLst>
              <a:ext uri="{FF2B5EF4-FFF2-40B4-BE49-F238E27FC236}">
                <a16:creationId xmlns:a16="http://schemas.microsoft.com/office/drawing/2014/main" id="{3861EAD3-5382-2D86-4EAB-13A85CBE78DD}"/>
              </a:ext>
            </a:extLst>
          </p:cNvPr>
          <p:cNvSpPr txBox="1">
            <a:spLocks/>
          </p:cNvSpPr>
          <p:nvPr/>
        </p:nvSpPr>
        <p:spPr>
          <a:xfrm>
            <a:off x="18661" y="74041"/>
            <a:ext cx="12192000" cy="690605"/>
          </a:xfrm>
          <a:prstGeom prst="rect">
            <a:avLst/>
          </a:prstGeom>
          <a:no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5000" b="1" dirty="0"/>
              <a:t>Probability distribution</a:t>
            </a:r>
          </a:p>
        </p:txBody>
      </p:sp>
      <p:sp>
        <p:nvSpPr>
          <p:cNvPr id="9" name="TextBox 8">
            <a:extLst>
              <a:ext uri="{FF2B5EF4-FFF2-40B4-BE49-F238E27FC236}">
                <a16:creationId xmlns:a16="http://schemas.microsoft.com/office/drawing/2014/main" id="{1F6D4438-9D59-43B3-4BF5-9A7C0B3E11C7}"/>
              </a:ext>
            </a:extLst>
          </p:cNvPr>
          <p:cNvSpPr txBox="1"/>
          <p:nvPr/>
        </p:nvSpPr>
        <p:spPr>
          <a:xfrm>
            <a:off x="92590" y="1124506"/>
            <a:ext cx="12072905" cy="1606209"/>
          </a:xfrm>
          <a:prstGeom prst="rect">
            <a:avLst/>
          </a:prstGeom>
          <a:noFill/>
        </p:spPr>
        <p:txBody>
          <a:bodyPr wrap="square">
            <a:spAutoFit/>
          </a:bodyPr>
          <a:lstStyle/>
          <a:p>
            <a:pPr>
              <a:lnSpc>
                <a:spcPct val="120000"/>
              </a:lnSpc>
            </a:pPr>
            <a:r>
              <a:rPr lang="en-GB" sz="2800" b="1" i="0" u="none" strike="noStrike" dirty="0">
                <a:solidFill>
                  <a:srgbClr val="202122"/>
                </a:solidFill>
                <a:effectLst/>
                <a:latin typeface="Arial" panose="020B0604020202020204" pitchFamily="34" charset="0"/>
              </a:rPr>
              <a:t>Def:</a:t>
            </a:r>
            <a:r>
              <a:rPr lang="en-GB" sz="2800" b="0" i="0" u="none" strike="noStrike" dirty="0">
                <a:solidFill>
                  <a:srgbClr val="202122"/>
                </a:solidFill>
                <a:effectLst/>
                <a:latin typeface="Arial" panose="020B0604020202020204" pitchFamily="34" charset="0"/>
              </a:rPr>
              <a:t> In probability theory and statistics, a </a:t>
            </a:r>
            <a:r>
              <a:rPr lang="en-GB" sz="2800" b="1" i="0" u="none" strike="noStrike" dirty="0">
                <a:solidFill>
                  <a:srgbClr val="202122"/>
                </a:solidFill>
                <a:effectLst/>
                <a:latin typeface="Arial" panose="020B0604020202020204" pitchFamily="34" charset="0"/>
              </a:rPr>
              <a:t>probability distribution</a:t>
            </a:r>
            <a:r>
              <a:rPr lang="en-GB" sz="2800" b="0" i="0" u="none" strike="noStrike" dirty="0">
                <a:solidFill>
                  <a:srgbClr val="202122"/>
                </a:solidFill>
                <a:effectLst/>
                <a:latin typeface="Arial" panose="020B0604020202020204" pitchFamily="34" charset="0"/>
              </a:rPr>
              <a:t> is the </a:t>
            </a:r>
            <a:r>
              <a:rPr lang="en-GB" sz="2800" b="0" i="1" u="none" strike="noStrike" dirty="0">
                <a:solidFill>
                  <a:schemeClr val="accent1"/>
                </a:solidFill>
                <a:effectLst/>
                <a:latin typeface="Arial" panose="020B0604020202020204" pitchFamily="34" charset="0"/>
              </a:rPr>
              <a:t>mathematical function </a:t>
            </a:r>
            <a:r>
              <a:rPr lang="en-GB" sz="2800" b="0" i="0" u="none" strike="noStrike" dirty="0">
                <a:solidFill>
                  <a:srgbClr val="202122"/>
                </a:solidFill>
                <a:effectLst/>
                <a:latin typeface="Arial" panose="020B0604020202020204" pitchFamily="34" charset="0"/>
              </a:rPr>
              <a:t>that gives the </a:t>
            </a:r>
            <a:r>
              <a:rPr lang="en-GB" sz="2800" b="0" i="1" u="none" strike="noStrike" dirty="0">
                <a:solidFill>
                  <a:schemeClr val="accent1"/>
                </a:solidFill>
                <a:effectLst/>
                <a:latin typeface="Arial" panose="020B0604020202020204" pitchFamily="34" charset="0"/>
              </a:rPr>
              <a:t>probabilities</a:t>
            </a:r>
            <a:r>
              <a:rPr lang="en-GB" sz="2800" b="0" i="0" u="none" strike="noStrike" dirty="0">
                <a:solidFill>
                  <a:srgbClr val="202122"/>
                </a:solidFill>
                <a:effectLst/>
                <a:latin typeface="Arial" panose="020B0604020202020204" pitchFamily="34" charset="0"/>
              </a:rPr>
              <a:t> of occurrence of different possible </a:t>
            </a:r>
            <a:r>
              <a:rPr lang="en-GB" sz="2800" i="1" u="none" strike="noStrike" dirty="0">
                <a:solidFill>
                  <a:schemeClr val="accent1"/>
                </a:solidFill>
                <a:effectLst/>
                <a:latin typeface="Arial" panose="020B0604020202020204" pitchFamily="34" charset="0"/>
              </a:rPr>
              <a:t>outcomes</a:t>
            </a:r>
            <a:r>
              <a:rPr lang="en-GB" sz="2800" b="0" i="0" u="none" strike="noStrike" dirty="0">
                <a:solidFill>
                  <a:srgbClr val="202122"/>
                </a:solidFill>
                <a:effectLst/>
                <a:latin typeface="Arial" panose="020B0604020202020204" pitchFamily="34" charset="0"/>
              </a:rPr>
              <a:t> for an experiment.</a:t>
            </a:r>
            <a:endParaRPr lang="en-US" sz="2800" dirty="0"/>
          </a:p>
        </p:txBody>
      </p:sp>
      <p:sp>
        <p:nvSpPr>
          <p:cNvPr id="2" name="Oval 1">
            <a:extLst>
              <a:ext uri="{FF2B5EF4-FFF2-40B4-BE49-F238E27FC236}">
                <a16:creationId xmlns:a16="http://schemas.microsoft.com/office/drawing/2014/main" id="{B90010BB-96E2-8390-4123-7A24E3620D91}"/>
              </a:ext>
            </a:extLst>
          </p:cNvPr>
          <p:cNvSpPr/>
          <p:nvPr/>
        </p:nvSpPr>
        <p:spPr>
          <a:xfrm>
            <a:off x="3208523" y="4829821"/>
            <a:ext cx="397042" cy="397042"/>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A1E41ACB-6731-D45C-BE45-51685609A441}"/>
              </a:ext>
            </a:extLst>
          </p:cNvPr>
          <p:cNvSpPr/>
          <p:nvPr/>
        </p:nvSpPr>
        <p:spPr>
          <a:xfrm>
            <a:off x="3848816" y="4277770"/>
            <a:ext cx="397042" cy="397042"/>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8F962910-7DFA-4F34-6B42-14AFC90CFF79}"/>
              </a:ext>
            </a:extLst>
          </p:cNvPr>
          <p:cNvSpPr/>
          <p:nvPr/>
        </p:nvSpPr>
        <p:spPr>
          <a:xfrm>
            <a:off x="3929026" y="4951539"/>
            <a:ext cx="397042" cy="397042"/>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48240DC-D5E9-8E7B-BDFF-E435D41AB2C6}"/>
              </a:ext>
            </a:extLst>
          </p:cNvPr>
          <p:cNvSpPr/>
          <p:nvPr/>
        </p:nvSpPr>
        <p:spPr>
          <a:xfrm>
            <a:off x="4569319" y="4614654"/>
            <a:ext cx="397042" cy="397042"/>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77C3555-F29F-E2AA-BD35-01378CC9C9E5}"/>
              </a:ext>
            </a:extLst>
          </p:cNvPr>
          <p:cNvSpPr/>
          <p:nvPr/>
        </p:nvSpPr>
        <p:spPr>
          <a:xfrm>
            <a:off x="4669581" y="5241019"/>
            <a:ext cx="397042" cy="397042"/>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725038A-AC56-5666-E345-71CC71FFD3EC}"/>
              </a:ext>
            </a:extLst>
          </p:cNvPr>
          <p:cNvSpPr/>
          <p:nvPr/>
        </p:nvSpPr>
        <p:spPr>
          <a:xfrm>
            <a:off x="5297148" y="4249093"/>
            <a:ext cx="397042" cy="397042"/>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8F6D6780-4624-6A0F-7697-3EA99DCCB3D7}"/>
              </a:ext>
            </a:extLst>
          </p:cNvPr>
          <p:cNvSpPr/>
          <p:nvPr/>
        </p:nvSpPr>
        <p:spPr>
          <a:xfrm>
            <a:off x="5309874" y="4951539"/>
            <a:ext cx="397042" cy="397042"/>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475FCE5-4747-4AC8-CA74-AA46F19EACA4}"/>
              </a:ext>
            </a:extLst>
          </p:cNvPr>
          <p:cNvSpPr/>
          <p:nvPr/>
        </p:nvSpPr>
        <p:spPr>
          <a:xfrm>
            <a:off x="8216546" y="4989052"/>
            <a:ext cx="397042" cy="397042"/>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84DA4615-0FBF-8D44-8FD1-E12B7E4C3BF7}"/>
              </a:ext>
            </a:extLst>
          </p:cNvPr>
          <p:cNvSpPr txBox="1"/>
          <p:nvPr/>
        </p:nvSpPr>
        <p:spPr>
          <a:xfrm>
            <a:off x="8663786" y="4885536"/>
            <a:ext cx="1643996" cy="523220"/>
          </a:xfrm>
          <a:prstGeom prst="rect">
            <a:avLst/>
          </a:prstGeom>
          <a:noFill/>
        </p:spPr>
        <p:txBody>
          <a:bodyPr wrap="square" rtlCol="0">
            <a:spAutoFit/>
          </a:bodyPr>
          <a:lstStyle/>
          <a:p>
            <a:r>
              <a:rPr lang="en-US" sz="2800" dirty="0"/>
              <a:t>Outcome</a:t>
            </a:r>
          </a:p>
        </p:txBody>
      </p:sp>
      <p:cxnSp>
        <p:nvCxnSpPr>
          <p:cNvPr id="19" name="Straight Arrow Connector 18">
            <a:extLst>
              <a:ext uri="{FF2B5EF4-FFF2-40B4-BE49-F238E27FC236}">
                <a16:creationId xmlns:a16="http://schemas.microsoft.com/office/drawing/2014/main" id="{9C6C534B-E340-04E8-1A4D-2AD4AB33C0F5}"/>
              </a:ext>
            </a:extLst>
          </p:cNvPr>
          <p:cNvCxnSpPr/>
          <p:nvPr/>
        </p:nvCxnSpPr>
        <p:spPr>
          <a:xfrm flipV="1">
            <a:off x="5495669" y="3325874"/>
            <a:ext cx="0" cy="77002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76C974CD-B68C-1E92-62EC-FBEC5B4AEFDF}"/>
              </a:ext>
            </a:extLst>
          </p:cNvPr>
          <p:cNvCxnSpPr/>
          <p:nvPr/>
        </p:nvCxnSpPr>
        <p:spPr>
          <a:xfrm flipV="1">
            <a:off x="4775228" y="3616821"/>
            <a:ext cx="0" cy="77002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4735DB90-19B2-EA51-905F-5ADF29D02472}"/>
              </a:ext>
            </a:extLst>
          </p:cNvPr>
          <p:cNvCxnSpPr/>
          <p:nvPr/>
        </p:nvCxnSpPr>
        <p:spPr>
          <a:xfrm flipV="1">
            <a:off x="4082506" y="3325872"/>
            <a:ext cx="0" cy="77002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184DB52-02B6-191B-D2D5-7671610B1B73}"/>
              </a:ext>
            </a:extLst>
          </p:cNvPr>
          <p:cNvSpPr txBox="1"/>
          <p:nvPr/>
        </p:nvSpPr>
        <p:spPr>
          <a:xfrm>
            <a:off x="4953731" y="2906099"/>
            <a:ext cx="1146150" cy="461665"/>
          </a:xfrm>
          <a:prstGeom prst="rect">
            <a:avLst/>
          </a:prstGeom>
          <a:noFill/>
        </p:spPr>
        <p:txBody>
          <a:bodyPr wrap="square" rtlCol="0">
            <a:spAutoFit/>
          </a:bodyPr>
          <a:lstStyle/>
          <a:p>
            <a:pPr algn="ctr"/>
            <a:r>
              <a:rPr lang="en-US" sz="2400" dirty="0" err="1"/>
              <a:t>Prob</a:t>
            </a:r>
            <a:r>
              <a:rPr lang="en-US" sz="2400" baseline="-25000" dirty="0" err="1"/>
              <a:t>i</a:t>
            </a:r>
            <a:endParaRPr lang="en-US" sz="2400" baseline="-25000" dirty="0"/>
          </a:p>
        </p:txBody>
      </p:sp>
      <p:sp>
        <p:nvSpPr>
          <p:cNvPr id="23" name="TextBox 22">
            <a:extLst>
              <a:ext uri="{FF2B5EF4-FFF2-40B4-BE49-F238E27FC236}">
                <a16:creationId xmlns:a16="http://schemas.microsoft.com/office/drawing/2014/main" id="{80BF4367-0D88-B6C9-FC1C-9C9EC0D69537}"/>
              </a:ext>
            </a:extLst>
          </p:cNvPr>
          <p:cNvSpPr txBox="1"/>
          <p:nvPr/>
        </p:nvSpPr>
        <p:spPr>
          <a:xfrm>
            <a:off x="4220036" y="3251859"/>
            <a:ext cx="1146150" cy="461665"/>
          </a:xfrm>
          <a:prstGeom prst="rect">
            <a:avLst/>
          </a:prstGeom>
          <a:noFill/>
        </p:spPr>
        <p:txBody>
          <a:bodyPr wrap="square" rtlCol="0">
            <a:spAutoFit/>
          </a:bodyPr>
          <a:lstStyle/>
          <a:p>
            <a:pPr algn="ctr"/>
            <a:r>
              <a:rPr lang="en-US" sz="2400" dirty="0" err="1"/>
              <a:t>Prob</a:t>
            </a:r>
            <a:r>
              <a:rPr lang="en-US" sz="2400" baseline="-25000" dirty="0" err="1"/>
              <a:t>j</a:t>
            </a:r>
            <a:endParaRPr lang="en-US" sz="2400" baseline="-25000" dirty="0"/>
          </a:p>
        </p:txBody>
      </p:sp>
      <p:sp>
        <p:nvSpPr>
          <p:cNvPr id="24" name="TextBox 23">
            <a:extLst>
              <a:ext uri="{FF2B5EF4-FFF2-40B4-BE49-F238E27FC236}">
                <a16:creationId xmlns:a16="http://schemas.microsoft.com/office/drawing/2014/main" id="{06CE3073-5583-E356-6379-9E64FA1A9194}"/>
              </a:ext>
            </a:extLst>
          </p:cNvPr>
          <p:cNvSpPr txBox="1"/>
          <p:nvPr/>
        </p:nvSpPr>
        <p:spPr>
          <a:xfrm>
            <a:off x="3555015" y="2905495"/>
            <a:ext cx="1146150" cy="461665"/>
          </a:xfrm>
          <a:prstGeom prst="rect">
            <a:avLst/>
          </a:prstGeom>
          <a:noFill/>
        </p:spPr>
        <p:txBody>
          <a:bodyPr wrap="square" rtlCol="0">
            <a:spAutoFit/>
          </a:bodyPr>
          <a:lstStyle/>
          <a:p>
            <a:pPr algn="ctr"/>
            <a:r>
              <a:rPr lang="en-US" sz="2400" dirty="0" err="1"/>
              <a:t>Prob</a:t>
            </a:r>
            <a:r>
              <a:rPr lang="en-US" sz="2400" baseline="-25000" dirty="0" err="1"/>
              <a:t>k</a:t>
            </a:r>
            <a:endParaRPr lang="en-US" sz="2400" baseline="-25000" dirty="0"/>
          </a:p>
        </p:txBody>
      </p:sp>
      <p:sp>
        <p:nvSpPr>
          <p:cNvPr id="3" name="Rounded Rectangle 2">
            <a:extLst>
              <a:ext uri="{FF2B5EF4-FFF2-40B4-BE49-F238E27FC236}">
                <a16:creationId xmlns:a16="http://schemas.microsoft.com/office/drawing/2014/main" id="{BFE0C1A1-7D35-9656-0D84-A6170FB378B5}"/>
              </a:ext>
            </a:extLst>
          </p:cNvPr>
          <p:cNvSpPr/>
          <p:nvPr/>
        </p:nvSpPr>
        <p:spPr>
          <a:xfrm>
            <a:off x="6739244" y="2871709"/>
            <a:ext cx="5169308" cy="997233"/>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err="1">
                <a:solidFill>
                  <a:schemeClr val="tx1"/>
                </a:solidFill>
              </a:rPr>
              <a:t>Prob</a:t>
            </a:r>
            <a:r>
              <a:rPr lang="en-US" sz="2200" baseline="-25000" dirty="0" err="1">
                <a:solidFill>
                  <a:schemeClr val="tx1"/>
                </a:solidFill>
              </a:rPr>
              <a:t>i</a:t>
            </a:r>
            <a:r>
              <a:rPr lang="en-US" sz="2200" dirty="0">
                <a:solidFill>
                  <a:schemeClr val="tx1"/>
                </a:solidFill>
              </a:rPr>
              <a:t> could be interpreted as parameters of a general statistical distribution</a:t>
            </a:r>
          </a:p>
        </p:txBody>
      </p:sp>
      <p:sp>
        <p:nvSpPr>
          <p:cNvPr id="4" name="TextBox 3">
            <a:extLst>
              <a:ext uri="{FF2B5EF4-FFF2-40B4-BE49-F238E27FC236}">
                <a16:creationId xmlns:a16="http://schemas.microsoft.com/office/drawing/2014/main" id="{7E31C470-A026-F986-6E00-88CE6DF9BF7C}"/>
              </a:ext>
            </a:extLst>
          </p:cNvPr>
          <p:cNvSpPr txBox="1"/>
          <p:nvPr/>
        </p:nvSpPr>
        <p:spPr>
          <a:xfrm>
            <a:off x="18661" y="6478996"/>
            <a:ext cx="7105153" cy="379004"/>
          </a:xfrm>
          <a:prstGeom prst="rect">
            <a:avLst/>
          </a:prstGeom>
          <a:noFill/>
        </p:spPr>
        <p:txBody>
          <a:bodyPr wrap="square" rtlCol="0">
            <a:spAutoFit/>
          </a:bodyPr>
          <a:lstStyle/>
          <a:p>
            <a:r>
              <a:rPr lang="en-US" sz="1850" dirty="0"/>
              <a:t>https://</a:t>
            </a:r>
            <a:r>
              <a:rPr lang="en-US" sz="1850" dirty="0" err="1"/>
              <a:t>en.Wikipedia.org</a:t>
            </a:r>
            <a:r>
              <a:rPr lang="en-US" sz="1850" dirty="0"/>
              <a:t>/wiki/</a:t>
            </a:r>
            <a:r>
              <a:rPr lang="en-US" sz="1850" dirty="0" err="1"/>
              <a:t>Probability_distribution</a:t>
            </a:r>
            <a:r>
              <a:rPr lang="en-US" sz="1850" dirty="0"/>
              <a:t>, 15</a:t>
            </a:r>
            <a:r>
              <a:rPr lang="en-US" sz="1850" baseline="30000" dirty="0"/>
              <a:t>th</a:t>
            </a:r>
            <a:r>
              <a:rPr lang="en-US" sz="1850" dirty="0"/>
              <a:t> August 2024 </a:t>
            </a:r>
          </a:p>
        </p:txBody>
      </p:sp>
      <p:sp>
        <p:nvSpPr>
          <p:cNvPr id="11" name="TextBox 10">
            <a:extLst>
              <a:ext uri="{FF2B5EF4-FFF2-40B4-BE49-F238E27FC236}">
                <a16:creationId xmlns:a16="http://schemas.microsoft.com/office/drawing/2014/main" id="{397351D8-3877-51BB-45CD-CFEFB86F816C}"/>
              </a:ext>
            </a:extLst>
          </p:cNvPr>
          <p:cNvSpPr txBox="1"/>
          <p:nvPr/>
        </p:nvSpPr>
        <p:spPr>
          <a:xfrm>
            <a:off x="9883943" y="149400"/>
            <a:ext cx="2171700" cy="892552"/>
          </a:xfrm>
          <a:prstGeom prst="rect">
            <a:avLst/>
          </a:prstGeom>
          <a:solidFill>
            <a:schemeClr val="accent4">
              <a:lumMod val="40000"/>
              <a:lumOff val="60000"/>
            </a:schemeClr>
          </a:solidFill>
          <a:ln>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p:spPr>
        <p:txBody>
          <a:bodyPr wrap="square" rtlCol="0">
            <a:spAutoFit/>
          </a:bodyPr>
          <a:lstStyle/>
          <a:p>
            <a:pPr algn="ctr"/>
            <a:r>
              <a:rPr lang="en-US" sz="2600" dirty="0">
                <a:solidFill>
                  <a:srgbClr val="FF0000"/>
                </a:solidFill>
                <a:latin typeface="American Typewriter" panose="02090604020004020304" pitchFamily="18" charset="77"/>
              </a:rPr>
              <a:t>Additional slide</a:t>
            </a:r>
          </a:p>
        </p:txBody>
      </p:sp>
    </p:spTree>
    <p:extLst>
      <p:ext uri="{BB962C8B-B14F-4D97-AF65-F5344CB8AC3E}">
        <p14:creationId xmlns:p14="http://schemas.microsoft.com/office/powerpoint/2010/main" val="4749552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32BDB-8646-EBAE-A1B7-4DED8CF1A527}"/>
              </a:ext>
            </a:extLst>
          </p:cNvPr>
          <p:cNvSpPr txBox="1">
            <a:spLocks/>
          </p:cNvSpPr>
          <p:nvPr/>
        </p:nvSpPr>
        <p:spPr>
          <a:xfrm>
            <a:off x="18661" y="17198"/>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Binomial distribution</a:t>
            </a:r>
          </a:p>
        </p:txBody>
      </p:sp>
      <p:sp>
        <p:nvSpPr>
          <p:cNvPr id="4" name="TextBox 3">
            <a:extLst>
              <a:ext uri="{FF2B5EF4-FFF2-40B4-BE49-F238E27FC236}">
                <a16:creationId xmlns:a16="http://schemas.microsoft.com/office/drawing/2014/main" id="{83D195C7-A6BF-B52A-624B-A987129C5249}"/>
              </a:ext>
            </a:extLst>
          </p:cNvPr>
          <p:cNvSpPr txBox="1"/>
          <p:nvPr/>
        </p:nvSpPr>
        <p:spPr>
          <a:xfrm>
            <a:off x="51312" y="909305"/>
            <a:ext cx="12052456" cy="1824346"/>
          </a:xfrm>
          <a:prstGeom prst="rect">
            <a:avLst/>
          </a:prstGeom>
          <a:noFill/>
        </p:spPr>
        <p:txBody>
          <a:bodyPr wrap="square">
            <a:spAutoFit/>
          </a:bodyPr>
          <a:lstStyle/>
          <a:p>
            <a:pPr algn="just">
              <a:lnSpc>
                <a:spcPct val="120000"/>
              </a:lnSpc>
            </a:pPr>
            <a:r>
              <a:rPr lang="en-GB" sz="2400" b="1" dirty="0">
                <a:solidFill>
                  <a:srgbClr val="202122"/>
                </a:solidFill>
                <a:latin typeface="Arial" panose="020B0604020202020204" pitchFamily="34" charset="0"/>
              </a:rPr>
              <a:t>Def: </a:t>
            </a:r>
            <a:r>
              <a:rPr lang="en-GB" sz="2400" dirty="0">
                <a:solidFill>
                  <a:srgbClr val="202122"/>
                </a:solidFill>
                <a:latin typeface="Arial" panose="020B0604020202020204" pitchFamily="34" charset="0"/>
              </a:rPr>
              <a:t>t</a:t>
            </a:r>
            <a:r>
              <a:rPr lang="en-GB" sz="2400" b="0" i="0" strike="noStrike" dirty="0">
                <a:solidFill>
                  <a:srgbClr val="202122"/>
                </a:solidFill>
                <a:effectLst/>
                <a:latin typeface="Arial" panose="020B0604020202020204" pitchFamily="34" charset="0"/>
              </a:rPr>
              <a:t>he </a:t>
            </a:r>
            <a:r>
              <a:rPr lang="en-GB" sz="2400" b="1" i="0" strike="noStrike" dirty="0">
                <a:solidFill>
                  <a:srgbClr val="202122"/>
                </a:solidFill>
                <a:effectLst/>
                <a:latin typeface="Arial" panose="020B0604020202020204" pitchFamily="34" charset="0"/>
              </a:rPr>
              <a:t>binomial distribution</a:t>
            </a:r>
            <a:r>
              <a:rPr lang="en-GB" sz="2400" b="0" i="0" strike="noStrike" dirty="0">
                <a:solidFill>
                  <a:srgbClr val="202122"/>
                </a:solidFill>
                <a:effectLst/>
                <a:latin typeface="Arial" panose="020B0604020202020204" pitchFamily="34" charset="0"/>
              </a:rPr>
              <a:t> with parameters </a:t>
            </a:r>
            <a:r>
              <a:rPr lang="en-GB" sz="2400" b="0" i="1" strike="noStrike" dirty="0">
                <a:solidFill>
                  <a:srgbClr val="202122"/>
                </a:solidFill>
                <a:effectLst/>
                <a:latin typeface="Arial" panose="020B0604020202020204" pitchFamily="34" charset="0"/>
              </a:rPr>
              <a:t>n</a:t>
            </a:r>
            <a:r>
              <a:rPr lang="en-GB" sz="2400" b="0" i="0" strike="noStrike" dirty="0">
                <a:solidFill>
                  <a:srgbClr val="202122"/>
                </a:solidFill>
                <a:effectLst/>
                <a:latin typeface="Arial" panose="020B0604020202020204" pitchFamily="34" charset="0"/>
              </a:rPr>
              <a:t> and </a:t>
            </a:r>
            <a:r>
              <a:rPr lang="en-GB" sz="2400" b="0" i="1" strike="noStrike" dirty="0">
                <a:solidFill>
                  <a:srgbClr val="202122"/>
                </a:solidFill>
                <a:effectLst/>
                <a:latin typeface="Arial" panose="020B0604020202020204" pitchFamily="34" charset="0"/>
              </a:rPr>
              <a:t>p</a:t>
            </a:r>
            <a:r>
              <a:rPr lang="en-GB" sz="2400" b="0" i="0" strike="noStrike" dirty="0">
                <a:solidFill>
                  <a:srgbClr val="202122"/>
                </a:solidFill>
                <a:effectLst/>
                <a:latin typeface="Arial" panose="020B0604020202020204" pitchFamily="34" charset="0"/>
              </a:rPr>
              <a:t> is the discrete statistical distribution of the number of successes in a sequence of </a:t>
            </a:r>
            <a:r>
              <a:rPr lang="en-GB" sz="2400" b="0" i="1" strike="noStrike" dirty="0">
                <a:solidFill>
                  <a:srgbClr val="202122"/>
                </a:solidFill>
                <a:effectLst/>
                <a:latin typeface="Arial" panose="020B0604020202020204" pitchFamily="34" charset="0"/>
              </a:rPr>
              <a:t>n</a:t>
            </a:r>
            <a:r>
              <a:rPr lang="en-GB" sz="2400" b="0" i="0" strike="noStrike" dirty="0">
                <a:solidFill>
                  <a:srgbClr val="202122"/>
                </a:solidFill>
                <a:effectLst/>
                <a:latin typeface="Arial" panose="020B0604020202020204" pitchFamily="34" charset="0"/>
              </a:rPr>
              <a:t> independent trials. Each trial (Bernoulli trial) has a binary outcome: success with probability </a:t>
            </a:r>
            <a:r>
              <a:rPr lang="en-GB" sz="2400" b="0" i="1" strike="noStrike" dirty="0">
                <a:solidFill>
                  <a:srgbClr val="202122"/>
                </a:solidFill>
                <a:effectLst/>
                <a:latin typeface="Arial" panose="020B0604020202020204" pitchFamily="34" charset="0"/>
              </a:rPr>
              <a:t>p</a:t>
            </a:r>
            <a:r>
              <a:rPr lang="en-GB" sz="2400" b="0" i="0" strike="noStrike" dirty="0">
                <a:solidFill>
                  <a:srgbClr val="202122"/>
                </a:solidFill>
                <a:effectLst/>
                <a:latin typeface="Arial" panose="020B0604020202020204" pitchFamily="34" charset="0"/>
              </a:rPr>
              <a:t> and failure with probability 1-</a:t>
            </a:r>
            <a:r>
              <a:rPr lang="en-GB" sz="2400" b="0" i="1" strike="noStrike" dirty="0">
                <a:solidFill>
                  <a:srgbClr val="202122"/>
                </a:solidFill>
                <a:effectLst/>
                <a:latin typeface="Arial" panose="020B0604020202020204" pitchFamily="34" charset="0"/>
              </a:rPr>
              <a:t>p</a:t>
            </a:r>
            <a:r>
              <a:rPr lang="en-GB" sz="2400" b="0" i="0" strike="noStrike" dirty="0">
                <a:solidFill>
                  <a:srgbClr val="202122"/>
                </a:solidFill>
                <a:effectLst/>
                <a:latin typeface="Arial" panose="020B0604020202020204" pitchFamily="34" charset="0"/>
              </a:rPr>
              <a:t>.</a:t>
            </a:r>
          </a:p>
        </p:txBody>
      </p:sp>
      <p:sp>
        <p:nvSpPr>
          <p:cNvPr id="5" name="TextBox 4">
            <a:extLst>
              <a:ext uri="{FF2B5EF4-FFF2-40B4-BE49-F238E27FC236}">
                <a16:creationId xmlns:a16="http://schemas.microsoft.com/office/drawing/2014/main" id="{B7E6866A-4592-42FE-3DAD-C929746AC496}"/>
              </a:ext>
            </a:extLst>
          </p:cNvPr>
          <p:cNvSpPr txBox="1"/>
          <p:nvPr/>
        </p:nvSpPr>
        <p:spPr>
          <a:xfrm>
            <a:off x="39218" y="4673703"/>
            <a:ext cx="12064550" cy="2162195"/>
          </a:xfrm>
          <a:prstGeom prst="rect">
            <a:avLst/>
          </a:prstGeom>
          <a:noFill/>
        </p:spPr>
        <p:txBody>
          <a:bodyPr wrap="square">
            <a:spAutoFit/>
          </a:bodyPr>
          <a:lstStyle/>
          <a:p>
            <a:pPr algn="just">
              <a:lnSpc>
                <a:spcPct val="114000"/>
              </a:lnSpc>
            </a:pPr>
            <a:r>
              <a:rPr lang="en-GB" sz="2400" b="1" dirty="0">
                <a:solidFill>
                  <a:srgbClr val="202122"/>
                </a:solidFill>
                <a:latin typeface="Arial" panose="020B0604020202020204" pitchFamily="34" charset="0"/>
              </a:rPr>
              <a:t>Assumptions of the binomial distribution</a:t>
            </a:r>
          </a:p>
          <a:p>
            <a:pPr algn="just">
              <a:lnSpc>
                <a:spcPct val="114000"/>
              </a:lnSpc>
            </a:pPr>
            <a:r>
              <a:rPr lang="en-GB" sz="2400" b="0" i="0" strike="noStrike" dirty="0">
                <a:solidFill>
                  <a:srgbClr val="202122"/>
                </a:solidFill>
                <a:effectLst/>
                <a:latin typeface="Arial" panose="020B0604020202020204" pitchFamily="34" charset="0"/>
              </a:rPr>
              <a:t>- The outcome of each </a:t>
            </a:r>
            <a:r>
              <a:rPr lang="en-GB" sz="2400" dirty="0">
                <a:solidFill>
                  <a:srgbClr val="202122"/>
                </a:solidFill>
                <a:latin typeface="Arial" panose="020B0604020202020204" pitchFamily="34" charset="0"/>
              </a:rPr>
              <a:t>trial is binary (0/1)</a:t>
            </a:r>
          </a:p>
          <a:p>
            <a:pPr algn="just">
              <a:lnSpc>
                <a:spcPct val="114000"/>
              </a:lnSpc>
            </a:pPr>
            <a:r>
              <a:rPr lang="en-GB" sz="2400" b="0" i="0" strike="noStrike" dirty="0">
                <a:solidFill>
                  <a:srgbClr val="202122"/>
                </a:solidFill>
                <a:effectLst/>
                <a:latin typeface="Arial" panose="020B0604020202020204" pitchFamily="34" charset="0"/>
              </a:rPr>
              <a:t>- Each Bernoulli trial is independent (i.e. the outcome of each trial does not depend on the outcome of the other trials)</a:t>
            </a:r>
          </a:p>
          <a:p>
            <a:pPr algn="just">
              <a:lnSpc>
                <a:spcPct val="114000"/>
              </a:lnSpc>
            </a:pPr>
            <a:r>
              <a:rPr lang="en-GB" sz="2400" b="0" i="0" strike="noStrike" dirty="0">
                <a:solidFill>
                  <a:srgbClr val="202122"/>
                </a:solidFill>
                <a:effectLst/>
                <a:latin typeface="Arial" panose="020B0604020202020204" pitchFamily="34" charset="0"/>
              </a:rPr>
              <a:t>- The probability of success </a:t>
            </a:r>
            <a:r>
              <a:rPr lang="en-GB" sz="2400" b="0" i="1" strike="noStrike" dirty="0">
                <a:solidFill>
                  <a:srgbClr val="202122"/>
                </a:solidFill>
                <a:effectLst/>
                <a:latin typeface="Arial" panose="020B0604020202020204" pitchFamily="34" charset="0"/>
              </a:rPr>
              <a:t>p</a:t>
            </a:r>
            <a:r>
              <a:rPr lang="en-GB" sz="2400" b="0" i="0" strike="noStrike" dirty="0">
                <a:solidFill>
                  <a:srgbClr val="202122"/>
                </a:solidFill>
                <a:effectLst/>
                <a:latin typeface="Arial" panose="020B0604020202020204" pitchFamily="34" charset="0"/>
              </a:rPr>
              <a:t> is constant (</a:t>
            </a:r>
            <a:r>
              <a:rPr lang="en-GB" sz="2400" dirty="0">
                <a:solidFill>
                  <a:srgbClr val="202122"/>
                </a:solidFill>
                <a:latin typeface="Arial" panose="020B0604020202020204" pitchFamily="34" charset="0"/>
              </a:rPr>
              <a:t>i.e. </a:t>
            </a:r>
            <a:r>
              <a:rPr lang="en-GB" sz="2400" b="0" i="0" strike="noStrike" dirty="0">
                <a:solidFill>
                  <a:srgbClr val="202122"/>
                </a:solidFill>
                <a:effectLst/>
                <a:latin typeface="Arial" panose="020B0604020202020204" pitchFamily="34" charset="0"/>
              </a:rPr>
              <a:t>it does not change for each trial)</a:t>
            </a:r>
          </a:p>
        </p:txBody>
      </p:sp>
      <p:pic>
        <p:nvPicPr>
          <p:cNvPr id="7" name="Picture 6" descr="A graph with numbers and lines&#10;&#10;Description automatically generated">
            <a:extLst>
              <a:ext uri="{FF2B5EF4-FFF2-40B4-BE49-F238E27FC236}">
                <a16:creationId xmlns:a16="http://schemas.microsoft.com/office/drawing/2014/main" id="{38A4818D-21A1-0E73-AF8E-AA891509D15F}"/>
              </a:ext>
            </a:extLst>
          </p:cNvPr>
          <p:cNvPicPr>
            <a:picLocks noChangeAspect="1"/>
          </p:cNvPicPr>
          <p:nvPr/>
        </p:nvPicPr>
        <p:blipFill>
          <a:blip r:embed="rId3"/>
          <a:stretch>
            <a:fillRect/>
          </a:stretch>
        </p:blipFill>
        <p:spPr>
          <a:xfrm>
            <a:off x="7747424" y="2337634"/>
            <a:ext cx="4257251" cy="3192938"/>
          </a:xfrm>
          <a:prstGeom prst="rect">
            <a:avLst/>
          </a:prstGeom>
          <a:ln>
            <a:solidFill>
              <a:schemeClr val="tx1"/>
            </a:solidFill>
          </a:ln>
        </p:spPr>
      </p:pic>
      <p:sp>
        <p:nvSpPr>
          <p:cNvPr id="9" name="TextBox 8">
            <a:extLst>
              <a:ext uri="{FF2B5EF4-FFF2-40B4-BE49-F238E27FC236}">
                <a16:creationId xmlns:a16="http://schemas.microsoft.com/office/drawing/2014/main" id="{13F9E9EB-3874-D13F-42DA-4A6849B9A517}"/>
              </a:ext>
            </a:extLst>
          </p:cNvPr>
          <p:cNvSpPr txBox="1"/>
          <p:nvPr/>
        </p:nvSpPr>
        <p:spPr>
          <a:xfrm>
            <a:off x="10541945" y="2337605"/>
            <a:ext cx="1472045" cy="954107"/>
          </a:xfrm>
          <a:prstGeom prst="rect">
            <a:avLst/>
          </a:prstGeom>
          <a:noFill/>
        </p:spPr>
        <p:txBody>
          <a:bodyPr wrap="square" rtlCol="0">
            <a:spAutoFit/>
          </a:bodyPr>
          <a:lstStyle/>
          <a:p>
            <a:pPr algn="r"/>
            <a:r>
              <a:rPr lang="en-US" sz="2800" dirty="0"/>
              <a:t>n = 20</a:t>
            </a:r>
          </a:p>
          <a:p>
            <a:pPr algn="r"/>
            <a:r>
              <a:rPr lang="en-US" sz="2800" dirty="0"/>
              <a:t>p = 0.40</a:t>
            </a:r>
          </a:p>
        </p:txBody>
      </p:sp>
    </p:spTree>
    <p:extLst>
      <p:ext uri="{BB962C8B-B14F-4D97-AF65-F5344CB8AC3E}">
        <p14:creationId xmlns:p14="http://schemas.microsoft.com/office/powerpoint/2010/main" val="42858421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32BDB-8646-EBAE-A1B7-4DED8CF1A527}"/>
              </a:ext>
            </a:extLst>
          </p:cNvPr>
          <p:cNvSpPr txBox="1">
            <a:spLocks/>
          </p:cNvSpPr>
          <p:nvPr/>
        </p:nvSpPr>
        <p:spPr>
          <a:xfrm>
            <a:off x="30172" y="28918"/>
            <a:ext cx="12056303"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Poisson distribution</a:t>
            </a:r>
          </a:p>
        </p:txBody>
      </p:sp>
      <p:sp>
        <p:nvSpPr>
          <p:cNvPr id="4" name="TextBox 3">
            <a:extLst>
              <a:ext uri="{FF2B5EF4-FFF2-40B4-BE49-F238E27FC236}">
                <a16:creationId xmlns:a16="http://schemas.microsoft.com/office/drawing/2014/main" id="{83D195C7-A6BF-B52A-624B-A987129C5249}"/>
              </a:ext>
            </a:extLst>
          </p:cNvPr>
          <p:cNvSpPr txBox="1"/>
          <p:nvPr/>
        </p:nvSpPr>
        <p:spPr>
          <a:xfrm>
            <a:off x="123824" y="958393"/>
            <a:ext cx="11979276" cy="1381147"/>
          </a:xfrm>
          <a:prstGeom prst="rect">
            <a:avLst/>
          </a:prstGeom>
          <a:noFill/>
        </p:spPr>
        <p:txBody>
          <a:bodyPr wrap="square">
            <a:spAutoFit/>
          </a:bodyPr>
          <a:lstStyle/>
          <a:p>
            <a:pPr algn="just">
              <a:lnSpc>
                <a:spcPct val="120000"/>
              </a:lnSpc>
            </a:pPr>
            <a:r>
              <a:rPr lang="en-GB" sz="2400" b="1" dirty="0">
                <a:solidFill>
                  <a:srgbClr val="202122"/>
                </a:solidFill>
                <a:latin typeface="Arial" panose="020B0604020202020204" pitchFamily="34" charset="0"/>
              </a:rPr>
              <a:t>Def:</a:t>
            </a:r>
            <a:r>
              <a:rPr lang="en-GB" sz="2400" dirty="0">
                <a:solidFill>
                  <a:srgbClr val="202122"/>
                </a:solidFill>
                <a:latin typeface="Arial" panose="020B0604020202020204" pitchFamily="34" charset="0"/>
              </a:rPr>
              <a:t> t</a:t>
            </a:r>
            <a:r>
              <a:rPr lang="en-GB" sz="2400" b="0" i="0" strike="noStrike" dirty="0">
                <a:solidFill>
                  <a:srgbClr val="202122"/>
                </a:solidFill>
                <a:effectLst/>
                <a:latin typeface="Arial" panose="020B0604020202020204" pitchFamily="34" charset="0"/>
              </a:rPr>
              <a:t>he </a:t>
            </a:r>
            <a:r>
              <a:rPr lang="en-GB" sz="2400" b="1" i="0" strike="noStrike" dirty="0">
                <a:solidFill>
                  <a:srgbClr val="202122"/>
                </a:solidFill>
                <a:effectLst/>
                <a:latin typeface="Arial" panose="020B0604020202020204" pitchFamily="34" charset="0"/>
              </a:rPr>
              <a:t>Poisson distribution</a:t>
            </a:r>
            <a:r>
              <a:rPr lang="en-GB" sz="2400" b="0" i="0" strike="noStrike" dirty="0">
                <a:solidFill>
                  <a:srgbClr val="202122"/>
                </a:solidFill>
                <a:effectLst/>
                <a:latin typeface="Arial" panose="020B0604020202020204" pitchFamily="34" charset="0"/>
              </a:rPr>
              <a:t> with parameter </a:t>
            </a:r>
            <a:r>
              <a:rPr lang="en-GB" sz="2400" strike="noStrike" dirty="0">
                <a:solidFill>
                  <a:srgbClr val="202122"/>
                </a:solidFill>
                <a:effectLst/>
                <a:latin typeface="Arial" panose="020B0604020202020204" pitchFamily="34" charset="0"/>
              </a:rPr>
              <a:t>𝞴</a:t>
            </a:r>
            <a:r>
              <a:rPr lang="en-GB" sz="2400" dirty="0">
                <a:solidFill>
                  <a:srgbClr val="202122"/>
                </a:solidFill>
                <a:latin typeface="Arial" panose="020B0604020202020204" pitchFamily="34" charset="0"/>
              </a:rPr>
              <a:t> </a:t>
            </a:r>
            <a:r>
              <a:rPr lang="en-GB" sz="2400" b="0" i="0" strike="noStrike" dirty="0">
                <a:solidFill>
                  <a:srgbClr val="202122"/>
                </a:solidFill>
                <a:effectLst/>
                <a:latin typeface="Arial" panose="020B0604020202020204" pitchFamily="34" charset="0"/>
              </a:rPr>
              <a:t>is the discrete probability distribution of the number of events that occur randomly and uniformly in a fixed time interval or in a given area.</a:t>
            </a:r>
          </a:p>
        </p:txBody>
      </p:sp>
      <p:sp>
        <p:nvSpPr>
          <p:cNvPr id="5" name="TextBox 4">
            <a:extLst>
              <a:ext uri="{FF2B5EF4-FFF2-40B4-BE49-F238E27FC236}">
                <a16:creationId xmlns:a16="http://schemas.microsoft.com/office/drawing/2014/main" id="{B7E6866A-4592-42FE-3DAD-C929746AC496}"/>
              </a:ext>
            </a:extLst>
          </p:cNvPr>
          <p:cNvSpPr txBox="1"/>
          <p:nvPr/>
        </p:nvSpPr>
        <p:spPr>
          <a:xfrm>
            <a:off x="68591" y="2845958"/>
            <a:ext cx="7764162" cy="2173737"/>
          </a:xfrm>
          <a:prstGeom prst="rect">
            <a:avLst/>
          </a:prstGeom>
          <a:noFill/>
        </p:spPr>
        <p:txBody>
          <a:bodyPr wrap="square">
            <a:spAutoFit/>
          </a:bodyPr>
          <a:lstStyle/>
          <a:p>
            <a:pPr algn="just">
              <a:spcAft>
                <a:spcPts val="600"/>
              </a:spcAft>
            </a:pPr>
            <a:r>
              <a:rPr lang="en-GB" sz="2400" b="1" dirty="0">
                <a:solidFill>
                  <a:srgbClr val="202122"/>
                </a:solidFill>
                <a:latin typeface="Arial" panose="020B0604020202020204" pitchFamily="34" charset="0"/>
              </a:rPr>
              <a:t>Assumptions of the Poisson distribution</a:t>
            </a:r>
          </a:p>
          <a:p>
            <a:pPr marL="342900" indent="-342900" algn="just">
              <a:lnSpc>
                <a:spcPct val="113000"/>
              </a:lnSpc>
              <a:buFont typeface="Courier New" panose="02070309020205020404" pitchFamily="49" charset="0"/>
              <a:buChar char="o"/>
            </a:pPr>
            <a:r>
              <a:rPr lang="en-GB" sz="2400" b="0" i="0" strike="noStrike" dirty="0">
                <a:solidFill>
                  <a:srgbClr val="202122"/>
                </a:solidFill>
                <a:effectLst/>
                <a:latin typeface="Arial" panose="020B0604020202020204" pitchFamily="34" charset="0"/>
              </a:rPr>
              <a:t>The outcome is a count [0,1,…,k,…]</a:t>
            </a:r>
          </a:p>
          <a:p>
            <a:pPr marL="342900" indent="-342900" algn="just">
              <a:lnSpc>
                <a:spcPct val="113000"/>
              </a:lnSpc>
              <a:buFont typeface="Courier New" panose="02070309020205020404" pitchFamily="49" charset="0"/>
              <a:buChar char="o"/>
            </a:pPr>
            <a:r>
              <a:rPr lang="en-GB" sz="2400" b="0" i="0" strike="noStrike" dirty="0">
                <a:solidFill>
                  <a:srgbClr val="202122"/>
                </a:solidFill>
                <a:effectLst/>
                <a:latin typeface="Arial" panose="020B0604020202020204" pitchFamily="34" charset="0"/>
                <a:cs typeface="Arial" panose="020B0604020202020204" pitchFamily="34" charset="0"/>
              </a:rPr>
              <a:t>Independence of events: </a:t>
            </a:r>
            <a:r>
              <a:rPr lang="en-GB" sz="2400" b="0" i="0" strike="noStrike" dirty="0">
                <a:solidFill>
                  <a:srgbClr val="000000"/>
                </a:solidFill>
                <a:effectLst/>
                <a:latin typeface="Arial" panose="020B0604020202020204" pitchFamily="34" charset="0"/>
                <a:cs typeface="Arial" panose="020B0604020202020204" pitchFamily="34" charset="0"/>
              </a:rPr>
              <a:t>t</a:t>
            </a:r>
            <a:r>
              <a:rPr lang="en-GB" sz="2400" b="0" i="0" u="none" strike="noStrike" dirty="0">
                <a:solidFill>
                  <a:srgbClr val="000000"/>
                </a:solidFill>
                <a:effectLst/>
                <a:latin typeface="Arial" panose="020B0604020202020204" pitchFamily="34" charset="0"/>
                <a:cs typeface="Arial" panose="020B0604020202020204" pitchFamily="34" charset="0"/>
              </a:rPr>
              <a:t>he occurrence of one event does not affect the probability that another event will occur</a:t>
            </a:r>
          </a:p>
        </p:txBody>
      </p:sp>
      <p:pic>
        <p:nvPicPr>
          <p:cNvPr id="6" name="Picture 5" descr="A graph with numbers and lines&#10;&#10;Description automatically generated">
            <a:extLst>
              <a:ext uri="{FF2B5EF4-FFF2-40B4-BE49-F238E27FC236}">
                <a16:creationId xmlns:a16="http://schemas.microsoft.com/office/drawing/2014/main" id="{DD5C5FFD-7DEE-6836-B5ED-3086C2160C6F}"/>
              </a:ext>
            </a:extLst>
          </p:cNvPr>
          <p:cNvPicPr>
            <a:picLocks noChangeAspect="1"/>
          </p:cNvPicPr>
          <p:nvPr/>
        </p:nvPicPr>
        <p:blipFill>
          <a:blip r:embed="rId3"/>
          <a:stretch>
            <a:fillRect/>
          </a:stretch>
        </p:blipFill>
        <p:spPr>
          <a:xfrm>
            <a:off x="7952399" y="1921688"/>
            <a:ext cx="4079183" cy="3059387"/>
          </a:xfrm>
          <a:prstGeom prst="rect">
            <a:avLst/>
          </a:prstGeom>
          <a:noFill/>
          <a:ln>
            <a:solidFill>
              <a:schemeClr val="tx1"/>
            </a:solidFill>
          </a:ln>
        </p:spPr>
      </p:pic>
      <p:sp>
        <p:nvSpPr>
          <p:cNvPr id="9" name="TextBox 8">
            <a:extLst>
              <a:ext uri="{FF2B5EF4-FFF2-40B4-BE49-F238E27FC236}">
                <a16:creationId xmlns:a16="http://schemas.microsoft.com/office/drawing/2014/main" id="{13F9E9EB-3874-D13F-42DA-4A6849B9A517}"/>
              </a:ext>
            </a:extLst>
          </p:cNvPr>
          <p:cNvSpPr txBox="1"/>
          <p:nvPr/>
        </p:nvSpPr>
        <p:spPr>
          <a:xfrm>
            <a:off x="10734181" y="1919842"/>
            <a:ext cx="1295400" cy="523220"/>
          </a:xfrm>
          <a:prstGeom prst="rect">
            <a:avLst/>
          </a:prstGeom>
          <a:noFill/>
        </p:spPr>
        <p:txBody>
          <a:bodyPr wrap="square" rtlCol="0">
            <a:spAutoFit/>
          </a:bodyPr>
          <a:lstStyle/>
          <a:p>
            <a:pPr algn="r"/>
            <a:r>
              <a:rPr lang="en-GB" sz="2800" strike="noStrike" dirty="0">
                <a:solidFill>
                  <a:srgbClr val="202122"/>
                </a:solidFill>
                <a:effectLst/>
              </a:rPr>
              <a:t>𝞴</a:t>
            </a:r>
            <a:r>
              <a:rPr lang="en-US" sz="2800" dirty="0"/>
              <a:t> = 4</a:t>
            </a:r>
          </a:p>
        </p:txBody>
      </p:sp>
      <p:sp>
        <p:nvSpPr>
          <p:cNvPr id="3" name="TextBox 2">
            <a:extLst>
              <a:ext uri="{FF2B5EF4-FFF2-40B4-BE49-F238E27FC236}">
                <a16:creationId xmlns:a16="http://schemas.microsoft.com/office/drawing/2014/main" id="{FA111FDA-87CD-4994-376B-552DFCCC5D79}"/>
              </a:ext>
            </a:extLst>
          </p:cNvPr>
          <p:cNvSpPr txBox="1"/>
          <p:nvPr/>
        </p:nvSpPr>
        <p:spPr>
          <a:xfrm>
            <a:off x="44044" y="4961388"/>
            <a:ext cx="12015604" cy="1713546"/>
          </a:xfrm>
          <a:prstGeom prst="rect">
            <a:avLst/>
          </a:prstGeom>
          <a:noFill/>
        </p:spPr>
        <p:txBody>
          <a:bodyPr wrap="square">
            <a:spAutoFit/>
          </a:bodyPr>
          <a:lstStyle/>
          <a:p>
            <a:pPr marL="342900" indent="-342900" algn="just">
              <a:lnSpc>
                <a:spcPct val="112000"/>
              </a:lnSpc>
              <a:buFont typeface="Courier New" panose="02070309020205020404" pitchFamily="49" charset="0"/>
              <a:buChar char="o"/>
            </a:pPr>
            <a:r>
              <a:rPr lang="en-GB" sz="2400" dirty="0">
                <a:solidFill>
                  <a:srgbClr val="202122"/>
                </a:solidFill>
                <a:latin typeface="Arial" panose="020B0604020202020204" pitchFamily="34" charset="0"/>
              </a:rPr>
              <a:t>Two events cannot occur at exactly the same instant in time or at the same point of  </a:t>
            </a:r>
          </a:p>
          <a:p>
            <a:pPr algn="just">
              <a:lnSpc>
                <a:spcPct val="112000"/>
              </a:lnSpc>
            </a:pPr>
            <a:r>
              <a:rPr lang="en-GB" sz="2400" dirty="0">
                <a:solidFill>
                  <a:srgbClr val="202122"/>
                </a:solidFill>
                <a:latin typeface="Arial" panose="020B0604020202020204" pitchFamily="34" charset="0"/>
              </a:rPr>
              <a:t>     the given area</a:t>
            </a:r>
          </a:p>
          <a:p>
            <a:pPr marL="342900" indent="-342900" algn="just">
              <a:lnSpc>
                <a:spcPct val="112000"/>
              </a:lnSpc>
              <a:buFont typeface="Courier New" panose="02070309020205020404" pitchFamily="49" charset="0"/>
              <a:buChar char="o"/>
            </a:pPr>
            <a:r>
              <a:rPr lang="en-GB" sz="2400" dirty="0">
                <a:solidFill>
                  <a:srgbClr val="202122"/>
                </a:solidFill>
                <a:latin typeface="Arial" panose="020B0604020202020204" pitchFamily="34" charset="0"/>
              </a:rPr>
              <a:t>Events occur at a uniform rate over the entire time period or area. 𝞴 is the expected (mean) number of events per time/area unit</a:t>
            </a:r>
          </a:p>
        </p:txBody>
      </p:sp>
    </p:spTree>
    <p:extLst>
      <p:ext uri="{BB962C8B-B14F-4D97-AF65-F5344CB8AC3E}">
        <p14:creationId xmlns:p14="http://schemas.microsoft.com/office/powerpoint/2010/main" val="4501536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285C570-5CC2-650C-8474-D67489B2E390}"/>
              </a:ext>
            </a:extLst>
          </p:cNvPr>
          <p:cNvSpPr txBox="1">
            <a:spLocks/>
          </p:cNvSpPr>
          <p:nvPr/>
        </p:nvSpPr>
        <p:spPr>
          <a:xfrm>
            <a:off x="14068" y="13567"/>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Normal distribution</a:t>
            </a:r>
          </a:p>
        </p:txBody>
      </p:sp>
      <p:sp>
        <p:nvSpPr>
          <p:cNvPr id="9" name="TextBox 8">
            <a:extLst>
              <a:ext uri="{FF2B5EF4-FFF2-40B4-BE49-F238E27FC236}">
                <a16:creationId xmlns:a16="http://schemas.microsoft.com/office/drawing/2014/main" id="{76B889A3-4D3F-2C32-888B-E7726BBE4FA5}"/>
              </a:ext>
            </a:extLst>
          </p:cNvPr>
          <p:cNvSpPr txBox="1"/>
          <p:nvPr/>
        </p:nvSpPr>
        <p:spPr>
          <a:xfrm>
            <a:off x="123824" y="1030585"/>
            <a:ext cx="11979276" cy="947375"/>
          </a:xfrm>
          <a:prstGeom prst="rect">
            <a:avLst/>
          </a:prstGeom>
          <a:noFill/>
        </p:spPr>
        <p:txBody>
          <a:bodyPr wrap="square">
            <a:spAutoFit/>
          </a:bodyPr>
          <a:lstStyle/>
          <a:p>
            <a:pPr algn="just">
              <a:lnSpc>
                <a:spcPct val="120000"/>
              </a:lnSpc>
            </a:pPr>
            <a:r>
              <a:rPr lang="en-GB" sz="2400" b="1" dirty="0">
                <a:solidFill>
                  <a:srgbClr val="202122"/>
                </a:solidFill>
                <a:latin typeface="Arial" panose="020B0604020202020204" pitchFamily="34" charset="0"/>
              </a:rPr>
              <a:t>Def:</a:t>
            </a:r>
            <a:r>
              <a:rPr lang="en-GB" sz="2400" dirty="0">
                <a:solidFill>
                  <a:srgbClr val="202122"/>
                </a:solidFill>
                <a:latin typeface="Arial" panose="020B0604020202020204" pitchFamily="34" charset="0"/>
              </a:rPr>
              <a:t> </a:t>
            </a:r>
            <a:r>
              <a:rPr lang="en-GB" sz="2400" b="0" i="0" u="none" strike="noStrike" dirty="0">
                <a:solidFill>
                  <a:srgbClr val="202122"/>
                </a:solidFill>
                <a:effectLst/>
                <a:latin typeface="Arial" panose="020B0604020202020204" pitchFamily="34" charset="0"/>
              </a:rPr>
              <a:t>a </a:t>
            </a:r>
            <a:r>
              <a:rPr lang="en-GB" sz="2400" b="1" i="0" u="none" strike="noStrike" dirty="0">
                <a:solidFill>
                  <a:srgbClr val="202122"/>
                </a:solidFill>
                <a:effectLst/>
                <a:latin typeface="Arial" panose="020B0604020202020204" pitchFamily="34" charset="0"/>
              </a:rPr>
              <a:t>normal distribution</a:t>
            </a:r>
            <a:r>
              <a:rPr lang="en-GB" sz="2400" b="0" i="0" u="none" strike="noStrike" dirty="0">
                <a:solidFill>
                  <a:srgbClr val="202122"/>
                </a:solidFill>
                <a:effectLst/>
                <a:latin typeface="Arial" panose="020B0604020202020204" pitchFamily="34" charset="0"/>
              </a:rPr>
              <a:t> or </a:t>
            </a:r>
            <a:r>
              <a:rPr lang="en-GB" sz="2400" b="1" dirty="0">
                <a:solidFill>
                  <a:srgbClr val="202122"/>
                </a:solidFill>
                <a:latin typeface="Arial" panose="020B0604020202020204" pitchFamily="34" charset="0"/>
              </a:rPr>
              <a:t>G</a:t>
            </a:r>
            <a:r>
              <a:rPr lang="en-GB" sz="2400" b="1" i="0" u="none" strike="noStrike" dirty="0">
                <a:solidFill>
                  <a:srgbClr val="202122"/>
                </a:solidFill>
                <a:effectLst/>
                <a:latin typeface="Arial" panose="020B0604020202020204" pitchFamily="34" charset="0"/>
              </a:rPr>
              <a:t>aussian distribution</a:t>
            </a:r>
            <a:r>
              <a:rPr lang="en-GB" sz="2400" b="0" i="0" u="none" strike="noStrike" dirty="0">
                <a:solidFill>
                  <a:srgbClr val="202122"/>
                </a:solidFill>
                <a:effectLst/>
                <a:latin typeface="Arial" panose="020B0604020202020204" pitchFamily="34" charset="0"/>
              </a:rPr>
              <a:t> is a type of continuous probability distribution. It is determined by two parameters (</a:t>
            </a:r>
            <a:r>
              <a:rPr lang="en-US" sz="2400" dirty="0"/>
              <a:t>𝛍, 𝛔).</a:t>
            </a:r>
            <a:endParaRPr lang="en-GB" sz="2400" b="0" i="0" strike="noStrike" dirty="0">
              <a:solidFill>
                <a:srgbClr val="202122"/>
              </a:solidFill>
              <a:effectLst/>
              <a:latin typeface="Arial" panose="020B0604020202020204" pitchFamily="34" charset="0"/>
            </a:endParaRPr>
          </a:p>
        </p:txBody>
      </p:sp>
      <p:pic>
        <p:nvPicPr>
          <p:cNvPr id="2050" name="Picture 2">
            <a:extLst>
              <a:ext uri="{FF2B5EF4-FFF2-40B4-BE49-F238E27FC236}">
                <a16:creationId xmlns:a16="http://schemas.microsoft.com/office/drawing/2014/main" id="{7C16F07C-1B3E-FE99-FCA7-D844A1549C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8781" y="2092094"/>
            <a:ext cx="5412183" cy="3468718"/>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4">
            <a:extLst>
              <a:ext uri="{FF2B5EF4-FFF2-40B4-BE49-F238E27FC236}">
                <a16:creationId xmlns:a16="http://schemas.microsoft.com/office/drawing/2014/main" id="{806FB4B2-698C-D44C-B7A8-09CCAA1DBC1D}"/>
              </a:ext>
            </a:extLst>
          </p:cNvPr>
          <p:cNvSpPr>
            <a:spLocks noChangeArrowheads="1"/>
          </p:cNvSpPr>
          <p:nvPr/>
        </p:nvSpPr>
        <p:spPr bwMode="auto">
          <a:xfrm>
            <a:off x="105295" y="2081542"/>
            <a:ext cx="6765057" cy="17229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457200" marR="0" lvl="0" indent="-457200" algn="l" defTabSz="914400" rtl="0" eaLnBrk="0" fontAlgn="base" latinLnBrk="0" hangingPunct="0">
              <a:lnSpc>
                <a:spcPct val="112000"/>
              </a:lnSpc>
              <a:spcBef>
                <a:spcPct val="0"/>
              </a:spcBef>
              <a:spcAft>
                <a:spcPct val="0"/>
              </a:spcAft>
              <a:buClrTx/>
              <a:buSzTx/>
              <a:buFont typeface="+mj-lt"/>
              <a:buAutoNum type="arabicParenR"/>
              <a:tabLst/>
            </a:pPr>
            <a:r>
              <a:rPr kumimoji="0" lang="en-US" altLang="en-US" sz="2400" b="0" i="0" u="none" strike="noStrike" cap="none" normalizeH="0" baseline="0" dirty="0">
                <a:ln>
                  <a:noFill/>
                </a:ln>
                <a:solidFill>
                  <a:srgbClr val="202122"/>
                </a:solidFill>
                <a:effectLst/>
              </a:rPr>
              <a:t>the parameter </a:t>
            </a:r>
            <a:r>
              <a:rPr lang="en-US" sz="2400" dirty="0"/>
              <a:t>𝛍 is</a:t>
            </a:r>
            <a:r>
              <a:rPr kumimoji="0" lang="en-US" altLang="en-US" sz="2400" b="0" i="0" u="none" strike="noStrike" cap="none" normalizeH="0" baseline="0" dirty="0">
                <a:ln>
                  <a:noFill/>
                </a:ln>
                <a:solidFill>
                  <a:srgbClr val="202122"/>
                </a:solidFill>
                <a:effectLst/>
                <a:cs typeface="Arial" panose="020B0604020202020204" pitchFamily="34" charset="0"/>
              </a:rPr>
              <a:t> the mean or expectation</a:t>
            </a:r>
            <a:r>
              <a:rPr lang="en-US" altLang="en-US" sz="2400" dirty="0">
                <a:solidFill>
                  <a:srgbClr val="795CB2"/>
                </a:solidFill>
                <a:cs typeface="Arial" panose="020B0604020202020204" pitchFamily="34" charset="0"/>
              </a:rPr>
              <a:t> </a:t>
            </a:r>
            <a:r>
              <a:rPr kumimoji="0" lang="en-US" altLang="en-US" sz="2400" b="0" i="0" u="none" strike="noStrike" cap="none" normalizeH="0" baseline="0" dirty="0">
                <a:ln>
                  <a:noFill/>
                </a:ln>
                <a:solidFill>
                  <a:srgbClr val="202122"/>
                </a:solidFill>
                <a:effectLst/>
                <a:cs typeface="Arial" panose="020B0604020202020204" pitchFamily="34" charset="0"/>
              </a:rPr>
              <a:t>of the distribution (and also its median and mode)</a:t>
            </a:r>
          </a:p>
          <a:p>
            <a:pPr marL="457200" marR="0" lvl="0" indent="-457200" algn="l" defTabSz="914400" rtl="0" eaLnBrk="0" fontAlgn="base" latinLnBrk="0" hangingPunct="0">
              <a:lnSpc>
                <a:spcPct val="112000"/>
              </a:lnSpc>
              <a:spcBef>
                <a:spcPct val="0"/>
              </a:spcBef>
              <a:spcAft>
                <a:spcPct val="0"/>
              </a:spcAft>
              <a:buClrTx/>
              <a:buSzTx/>
              <a:buFont typeface="+mj-lt"/>
              <a:buAutoNum type="arabicParenR"/>
              <a:tabLst/>
            </a:pPr>
            <a:r>
              <a:rPr kumimoji="0" lang="en-US" altLang="en-US" sz="2400" b="0" i="0" u="none" strike="noStrike" cap="none" normalizeH="0" baseline="0" dirty="0">
                <a:ln>
                  <a:noFill/>
                </a:ln>
                <a:solidFill>
                  <a:srgbClr val="202122"/>
                </a:solidFill>
                <a:effectLst/>
                <a:cs typeface="Arial" panose="020B0604020202020204" pitchFamily="34" charset="0"/>
              </a:rPr>
              <a:t>the parameter </a:t>
            </a:r>
            <a:r>
              <a:rPr lang="en-US" sz="2400" dirty="0"/>
              <a:t>𝛔 </a:t>
            </a:r>
            <a:r>
              <a:rPr kumimoji="0" lang="en-US" altLang="en-US" sz="2400" b="0" i="0" u="none" strike="noStrike" cap="none" normalizeH="0" baseline="0" dirty="0">
                <a:ln>
                  <a:noFill/>
                </a:ln>
                <a:solidFill>
                  <a:srgbClr val="202122"/>
                </a:solidFill>
                <a:effectLst/>
                <a:cs typeface="Arial" panose="020B0604020202020204" pitchFamily="34" charset="0"/>
              </a:rPr>
              <a:t>is its standard deviation</a:t>
            </a:r>
            <a:endParaRPr kumimoji="0" lang="en-US" altLang="en-US" sz="2400" b="0" i="0" u="none" strike="noStrike" cap="none" normalizeH="0" baseline="0" dirty="0">
              <a:ln>
                <a:noFill/>
              </a:ln>
              <a:solidFill>
                <a:schemeClr val="tx1"/>
              </a:solidFill>
              <a:effectLst/>
            </a:endParaRPr>
          </a:p>
        </p:txBody>
      </p:sp>
      <p:sp>
        <p:nvSpPr>
          <p:cNvPr id="15" name="AutoShape 5" descr="\mu ">
            <a:extLst>
              <a:ext uri="{FF2B5EF4-FFF2-40B4-BE49-F238E27FC236}">
                <a16:creationId xmlns:a16="http://schemas.microsoft.com/office/drawing/2014/main" id="{3DEF99D5-DE4F-BB4E-2FA4-B95A2A9E5256}"/>
              </a:ext>
            </a:extLst>
          </p:cNvPr>
          <p:cNvSpPr>
            <a:spLocks noChangeAspect="1" noChangeArrowheads="1"/>
          </p:cNvSpPr>
          <p:nvPr/>
        </p:nvSpPr>
        <p:spPr bwMode="auto">
          <a:xfrm>
            <a:off x="1313278" y="247212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6" descr="\sigma ">
            <a:extLst>
              <a:ext uri="{FF2B5EF4-FFF2-40B4-BE49-F238E27FC236}">
                <a16:creationId xmlns:a16="http://schemas.microsoft.com/office/drawing/2014/main" id="{5CEA708B-E68C-8EA1-3DD3-B3EEAC013880}"/>
              </a:ext>
            </a:extLst>
          </p:cNvPr>
          <p:cNvSpPr>
            <a:spLocks noChangeAspect="1" noChangeArrowheads="1"/>
          </p:cNvSpPr>
          <p:nvPr/>
        </p:nvSpPr>
        <p:spPr bwMode="auto">
          <a:xfrm>
            <a:off x="7244178" y="247212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7" descr="\sigma ^{2}">
            <a:extLst>
              <a:ext uri="{FF2B5EF4-FFF2-40B4-BE49-F238E27FC236}">
                <a16:creationId xmlns:a16="http://schemas.microsoft.com/office/drawing/2014/main" id="{27BA1AD0-CB64-5A45-9578-C0EAAF17DD17}"/>
              </a:ext>
            </a:extLst>
          </p:cNvPr>
          <p:cNvSpPr>
            <a:spLocks noChangeAspect="1" noChangeArrowheads="1"/>
          </p:cNvSpPr>
          <p:nvPr/>
        </p:nvSpPr>
        <p:spPr bwMode="auto">
          <a:xfrm>
            <a:off x="10958928" y="247212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83BAC53B-EF3E-24EC-95E3-F609E0BA9DEF}"/>
              </a:ext>
            </a:extLst>
          </p:cNvPr>
          <p:cNvSpPr txBox="1"/>
          <p:nvPr/>
        </p:nvSpPr>
        <p:spPr>
          <a:xfrm>
            <a:off x="0" y="6475101"/>
            <a:ext cx="12080964" cy="377026"/>
          </a:xfrm>
          <a:prstGeom prst="rect">
            <a:avLst/>
          </a:prstGeom>
          <a:noFill/>
        </p:spPr>
        <p:txBody>
          <a:bodyPr wrap="square">
            <a:spAutoFit/>
          </a:bodyPr>
          <a:lstStyle/>
          <a:p>
            <a:r>
              <a:rPr lang="en-GB" sz="1850" b="0" i="0" u="none" strike="noStrike" dirty="0">
                <a:effectLst/>
              </a:rPr>
              <a:t>Aidan Lyon, Why are Normal Distributions Normal?, The</a:t>
            </a:r>
            <a:r>
              <a:rPr lang="en-GB" sz="1850" b="0" i="0" u="none" strike="noStrike" dirty="0">
                <a:solidFill>
                  <a:srgbClr val="000000"/>
                </a:solidFill>
                <a:effectLst/>
              </a:rPr>
              <a:t> British Journal for the Philosophy of Science</a:t>
            </a:r>
            <a:r>
              <a:rPr lang="en-GB" sz="1850" b="0" i="0" u="none" strike="noStrike" dirty="0">
                <a:solidFill>
                  <a:srgbClr val="000000"/>
                </a:solidFill>
                <a:effectLst/>
                <a:highlight>
                  <a:srgbClr val="FFFFFF"/>
                </a:highlight>
              </a:rPr>
              <a:t> </a:t>
            </a:r>
            <a:r>
              <a:rPr lang="en-GB" sz="1850" b="0" i="0" u="none" strike="noStrike" dirty="0">
                <a:solidFill>
                  <a:srgbClr val="000000"/>
                </a:solidFill>
                <a:effectLst/>
              </a:rPr>
              <a:t>2014</a:t>
            </a:r>
            <a:r>
              <a:rPr lang="en-GB" sz="1850" b="0" i="0" u="none" strike="noStrike" dirty="0">
                <a:solidFill>
                  <a:srgbClr val="000000"/>
                </a:solidFill>
                <a:effectLst/>
                <a:highlight>
                  <a:srgbClr val="FFFFFF"/>
                </a:highlight>
              </a:rPr>
              <a:t> </a:t>
            </a:r>
            <a:r>
              <a:rPr lang="en-GB" sz="1850" b="0" i="0" u="none" strike="noStrike" dirty="0">
                <a:solidFill>
                  <a:srgbClr val="000000"/>
                </a:solidFill>
                <a:effectLst/>
              </a:rPr>
              <a:t>65</a:t>
            </a:r>
            <a:r>
              <a:rPr lang="en-GB" sz="1850" b="0" i="0" u="none" strike="noStrike" dirty="0">
                <a:solidFill>
                  <a:srgbClr val="000000"/>
                </a:solidFill>
                <a:effectLst/>
                <a:highlight>
                  <a:srgbClr val="FFFFFF"/>
                </a:highlight>
              </a:rPr>
              <a:t>:</a:t>
            </a:r>
            <a:r>
              <a:rPr lang="en-GB" sz="1850" b="0" i="0" u="none" strike="noStrike" dirty="0">
                <a:solidFill>
                  <a:srgbClr val="000000"/>
                </a:solidFill>
                <a:effectLst/>
              </a:rPr>
              <a:t>3</a:t>
            </a:r>
            <a:r>
              <a:rPr lang="en-GB" sz="1850" b="0" i="0" u="none" strike="noStrike" dirty="0">
                <a:solidFill>
                  <a:srgbClr val="000000"/>
                </a:solidFill>
                <a:effectLst/>
                <a:highlight>
                  <a:srgbClr val="FFFFFF"/>
                </a:highlight>
              </a:rPr>
              <a:t>, </a:t>
            </a:r>
            <a:r>
              <a:rPr lang="en-GB" sz="1850" b="0" i="0" u="none" strike="noStrike" dirty="0">
                <a:solidFill>
                  <a:srgbClr val="000000"/>
                </a:solidFill>
                <a:effectLst/>
              </a:rPr>
              <a:t>621-649</a:t>
            </a:r>
            <a:endParaRPr lang="en-US" sz="1850" dirty="0"/>
          </a:p>
        </p:txBody>
      </p:sp>
    </p:spTree>
    <p:extLst>
      <p:ext uri="{BB962C8B-B14F-4D97-AF65-F5344CB8AC3E}">
        <p14:creationId xmlns:p14="http://schemas.microsoft.com/office/powerpoint/2010/main" val="23243925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utoShape 5" descr="\mu ">
            <a:extLst>
              <a:ext uri="{FF2B5EF4-FFF2-40B4-BE49-F238E27FC236}">
                <a16:creationId xmlns:a16="http://schemas.microsoft.com/office/drawing/2014/main" id="{3DEF99D5-DE4F-BB4E-2FA4-B95A2A9E5256}"/>
              </a:ext>
            </a:extLst>
          </p:cNvPr>
          <p:cNvSpPr>
            <a:spLocks noChangeAspect="1" noChangeArrowheads="1"/>
          </p:cNvSpPr>
          <p:nvPr/>
        </p:nvSpPr>
        <p:spPr bwMode="auto">
          <a:xfrm>
            <a:off x="1313278" y="2329625"/>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6" descr="\sigma ">
            <a:extLst>
              <a:ext uri="{FF2B5EF4-FFF2-40B4-BE49-F238E27FC236}">
                <a16:creationId xmlns:a16="http://schemas.microsoft.com/office/drawing/2014/main" id="{5CEA708B-E68C-8EA1-3DD3-B3EEAC013880}"/>
              </a:ext>
            </a:extLst>
          </p:cNvPr>
          <p:cNvSpPr>
            <a:spLocks noChangeAspect="1" noChangeArrowheads="1"/>
          </p:cNvSpPr>
          <p:nvPr/>
        </p:nvSpPr>
        <p:spPr bwMode="auto">
          <a:xfrm>
            <a:off x="7244178" y="247212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7" descr="\sigma ^{2}">
            <a:extLst>
              <a:ext uri="{FF2B5EF4-FFF2-40B4-BE49-F238E27FC236}">
                <a16:creationId xmlns:a16="http://schemas.microsoft.com/office/drawing/2014/main" id="{27BA1AD0-CB64-5A45-9578-C0EAAF17DD17}"/>
              </a:ext>
            </a:extLst>
          </p:cNvPr>
          <p:cNvSpPr>
            <a:spLocks noChangeAspect="1" noChangeArrowheads="1"/>
          </p:cNvSpPr>
          <p:nvPr/>
        </p:nvSpPr>
        <p:spPr bwMode="auto">
          <a:xfrm>
            <a:off x="10958928" y="247212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descr="A graph of colored lines&#10;&#10;Description automatically generated">
            <a:extLst>
              <a:ext uri="{FF2B5EF4-FFF2-40B4-BE49-F238E27FC236}">
                <a16:creationId xmlns:a16="http://schemas.microsoft.com/office/drawing/2014/main" id="{54F78F7D-7A4F-3C7E-76FE-65AFE1CA51DC}"/>
              </a:ext>
            </a:extLst>
          </p:cNvPr>
          <p:cNvPicPr>
            <a:picLocks noChangeAspect="1"/>
          </p:cNvPicPr>
          <p:nvPr/>
        </p:nvPicPr>
        <p:blipFill>
          <a:blip r:embed="rId3"/>
          <a:stretch>
            <a:fillRect/>
          </a:stretch>
        </p:blipFill>
        <p:spPr>
          <a:xfrm>
            <a:off x="7742602" y="1631864"/>
            <a:ext cx="3463264" cy="2600112"/>
          </a:xfrm>
          <a:prstGeom prst="rect">
            <a:avLst/>
          </a:prstGeom>
        </p:spPr>
      </p:pic>
      <p:sp>
        <p:nvSpPr>
          <p:cNvPr id="4" name="TextBox 3">
            <a:extLst>
              <a:ext uri="{FF2B5EF4-FFF2-40B4-BE49-F238E27FC236}">
                <a16:creationId xmlns:a16="http://schemas.microsoft.com/office/drawing/2014/main" id="{6AB3960E-6749-E480-7EB5-07B6C92D8781}"/>
              </a:ext>
            </a:extLst>
          </p:cNvPr>
          <p:cNvSpPr txBox="1"/>
          <p:nvPr/>
        </p:nvSpPr>
        <p:spPr>
          <a:xfrm>
            <a:off x="7833422" y="1279157"/>
            <a:ext cx="3068053" cy="369332"/>
          </a:xfrm>
          <a:prstGeom prst="rect">
            <a:avLst/>
          </a:prstGeom>
          <a:noFill/>
        </p:spPr>
        <p:txBody>
          <a:bodyPr wrap="square" rtlCol="0">
            <a:spAutoFit/>
          </a:bodyPr>
          <a:lstStyle/>
          <a:p>
            <a:r>
              <a:rPr lang="en-US" b="1" dirty="0"/>
              <a:t>Gamma distribution</a:t>
            </a:r>
          </a:p>
        </p:txBody>
      </p:sp>
      <p:pic>
        <p:nvPicPr>
          <p:cNvPr id="6" name="Picture 5" descr="A graph with colored lines&#10;&#10;Description automatically generated">
            <a:extLst>
              <a:ext uri="{FF2B5EF4-FFF2-40B4-BE49-F238E27FC236}">
                <a16:creationId xmlns:a16="http://schemas.microsoft.com/office/drawing/2014/main" id="{AE6E7B44-F513-98E7-E471-9CF17A70266C}"/>
              </a:ext>
            </a:extLst>
          </p:cNvPr>
          <p:cNvPicPr>
            <a:picLocks noChangeAspect="1"/>
          </p:cNvPicPr>
          <p:nvPr/>
        </p:nvPicPr>
        <p:blipFill>
          <a:blip r:embed="rId4"/>
          <a:stretch>
            <a:fillRect/>
          </a:stretch>
        </p:blipFill>
        <p:spPr>
          <a:xfrm>
            <a:off x="3874569" y="1661819"/>
            <a:ext cx="2724254" cy="2179403"/>
          </a:xfrm>
          <a:prstGeom prst="rect">
            <a:avLst/>
          </a:prstGeom>
        </p:spPr>
      </p:pic>
      <p:sp>
        <p:nvSpPr>
          <p:cNvPr id="10" name="TextBox 9">
            <a:extLst>
              <a:ext uri="{FF2B5EF4-FFF2-40B4-BE49-F238E27FC236}">
                <a16:creationId xmlns:a16="http://schemas.microsoft.com/office/drawing/2014/main" id="{6C487B2A-ECA2-A632-F73F-51E41D94056E}"/>
              </a:ext>
            </a:extLst>
          </p:cNvPr>
          <p:cNvSpPr txBox="1"/>
          <p:nvPr/>
        </p:nvSpPr>
        <p:spPr>
          <a:xfrm>
            <a:off x="4029099" y="1278397"/>
            <a:ext cx="3068053" cy="369332"/>
          </a:xfrm>
          <a:prstGeom prst="rect">
            <a:avLst/>
          </a:prstGeom>
          <a:noFill/>
        </p:spPr>
        <p:txBody>
          <a:bodyPr wrap="square">
            <a:spAutoFit/>
          </a:bodyPr>
          <a:lstStyle>
            <a:defPPr>
              <a:defRPr lang="en-US"/>
            </a:defPPr>
            <a:lvl1pPr>
              <a:defRPr b="1"/>
            </a:lvl1pPr>
          </a:lstStyle>
          <a:p>
            <a:r>
              <a:rPr lang="en-US" dirty="0"/>
              <a:t>Beta distribution</a:t>
            </a:r>
          </a:p>
        </p:txBody>
      </p:sp>
      <p:sp>
        <p:nvSpPr>
          <p:cNvPr id="18" name="TextBox 17">
            <a:extLst>
              <a:ext uri="{FF2B5EF4-FFF2-40B4-BE49-F238E27FC236}">
                <a16:creationId xmlns:a16="http://schemas.microsoft.com/office/drawing/2014/main" id="{D8E73C5B-5EDC-2F8F-3C34-1A64CF87ECBC}"/>
              </a:ext>
            </a:extLst>
          </p:cNvPr>
          <p:cNvSpPr txBox="1"/>
          <p:nvPr/>
        </p:nvSpPr>
        <p:spPr>
          <a:xfrm>
            <a:off x="278152" y="1274564"/>
            <a:ext cx="3430800" cy="370800"/>
          </a:xfrm>
          <a:prstGeom prst="rect">
            <a:avLst/>
          </a:prstGeom>
          <a:noFill/>
        </p:spPr>
        <p:txBody>
          <a:bodyPr wrap="square">
            <a:spAutoFit/>
          </a:bodyPr>
          <a:lstStyle/>
          <a:p>
            <a:r>
              <a:rPr lang="en-GB" b="1" dirty="0"/>
              <a:t>Hypergeometric distribution</a:t>
            </a:r>
            <a:endParaRPr lang="en-GB" b="1" i="0" u="none" strike="noStrike" dirty="0">
              <a:effectLst/>
            </a:endParaRPr>
          </a:p>
        </p:txBody>
      </p:sp>
      <p:pic>
        <p:nvPicPr>
          <p:cNvPr id="20" name="Picture 19" descr="A graph of colored lines&#10;&#10;Description automatically generated">
            <a:extLst>
              <a:ext uri="{FF2B5EF4-FFF2-40B4-BE49-F238E27FC236}">
                <a16:creationId xmlns:a16="http://schemas.microsoft.com/office/drawing/2014/main" id="{252A026B-AFBA-2765-FFC7-5978364809F9}"/>
              </a:ext>
            </a:extLst>
          </p:cNvPr>
          <p:cNvPicPr>
            <a:picLocks noChangeAspect="1"/>
          </p:cNvPicPr>
          <p:nvPr/>
        </p:nvPicPr>
        <p:blipFill>
          <a:blip r:embed="rId5"/>
          <a:stretch>
            <a:fillRect/>
          </a:stretch>
        </p:blipFill>
        <p:spPr>
          <a:xfrm>
            <a:off x="4013940" y="4315235"/>
            <a:ext cx="2426301" cy="2426301"/>
          </a:xfrm>
          <a:prstGeom prst="rect">
            <a:avLst/>
          </a:prstGeom>
        </p:spPr>
      </p:pic>
      <p:sp>
        <p:nvSpPr>
          <p:cNvPr id="21" name="TextBox 20">
            <a:extLst>
              <a:ext uri="{FF2B5EF4-FFF2-40B4-BE49-F238E27FC236}">
                <a16:creationId xmlns:a16="http://schemas.microsoft.com/office/drawing/2014/main" id="{F8BBEC7D-8A10-E050-D3C7-CA5F5BA68042}"/>
              </a:ext>
            </a:extLst>
          </p:cNvPr>
          <p:cNvSpPr txBox="1"/>
          <p:nvPr/>
        </p:nvSpPr>
        <p:spPr>
          <a:xfrm>
            <a:off x="6536608" y="5048067"/>
            <a:ext cx="1719940" cy="646331"/>
          </a:xfrm>
          <a:prstGeom prst="rect">
            <a:avLst/>
          </a:prstGeom>
          <a:noFill/>
        </p:spPr>
        <p:txBody>
          <a:bodyPr wrap="square" rtlCol="0">
            <a:spAutoFit/>
          </a:bodyPr>
          <a:lstStyle/>
          <a:p>
            <a:r>
              <a:rPr lang="en-US" b="1" dirty="0"/>
              <a:t>Weibull distribution</a:t>
            </a:r>
          </a:p>
        </p:txBody>
      </p:sp>
      <p:sp>
        <p:nvSpPr>
          <p:cNvPr id="2" name="Title 1">
            <a:extLst>
              <a:ext uri="{FF2B5EF4-FFF2-40B4-BE49-F238E27FC236}">
                <a16:creationId xmlns:a16="http://schemas.microsoft.com/office/drawing/2014/main" id="{B3FCC335-2B14-2DC4-6EC6-1FEC25320A3A}"/>
              </a:ext>
            </a:extLst>
          </p:cNvPr>
          <p:cNvSpPr txBox="1">
            <a:spLocks/>
          </p:cNvSpPr>
          <p:nvPr/>
        </p:nvSpPr>
        <p:spPr>
          <a:xfrm>
            <a:off x="11875" y="7374"/>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Other statistical distributions</a:t>
            </a:r>
          </a:p>
        </p:txBody>
      </p:sp>
      <p:pic>
        <p:nvPicPr>
          <p:cNvPr id="7" name="Picture 6" descr="A graph with a red line and blue line&#10;&#10;Description automatically generated">
            <a:extLst>
              <a:ext uri="{FF2B5EF4-FFF2-40B4-BE49-F238E27FC236}">
                <a16:creationId xmlns:a16="http://schemas.microsoft.com/office/drawing/2014/main" id="{899D6744-BA37-4750-3DAC-4AF2F4ABDF0D}"/>
              </a:ext>
            </a:extLst>
          </p:cNvPr>
          <p:cNvPicPr>
            <a:picLocks noChangeAspect="1"/>
          </p:cNvPicPr>
          <p:nvPr/>
        </p:nvPicPr>
        <p:blipFill>
          <a:blip r:embed="rId6"/>
          <a:stretch>
            <a:fillRect/>
          </a:stretch>
        </p:blipFill>
        <p:spPr>
          <a:xfrm>
            <a:off x="250434" y="4756962"/>
            <a:ext cx="1985159" cy="1874872"/>
          </a:xfrm>
          <a:prstGeom prst="rect">
            <a:avLst/>
          </a:prstGeom>
        </p:spPr>
      </p:pic>
      <p:sp>
        <p:nvSpPr>
          <p:cNvPr id="8" name="TextBox 7">
            <a:extLst>
              <a:ext uri="{FF2B5EF4-FFF2-40B4-BE49-F238E27FC236}">
                <a16:creationId xmlns:a16="http://schemas.microsoft.com/office/drawing/2014/main" id="{8942E301-2247-81A0-2F27-B95C93AAFB07}"/>
              </a:ext>
            </a:extLst>
          </p:cNvPr>
          <p:cNvSpPr txBox="1"/>
          <p:nvPr/>
        </p:nvSpPr>
        <p:spPr>
          <a:xfrm>
            <a:off x="270482" y="4380517"/>
            <a:ext cx="2426301" cy="369332"/>
          </a:xfrm>
          <a:prstGeom prst="rect">
            <a:avLst/>
          </a:prstGeom>
          <a:noFill/>
        </p:spPr>
        <p:txBody>
          <a:bodyPr wrap="square" rtlCol="0">
            <a:spAutoFit/>
          </a:bodyPr>
          <a:lstStyle/>
          <a:p>
            <a:r>
              <a:rPr lang="en-US" b="1" dirty="0"/>
              <a:t>Log-normal distribution</a:t>
            </a:r>
          </a:p>
        </p:txBody>
      </p:sp>
      <p:pic>
        <p:nvPicPr>
          <p:cNvPr id="9" name="Picture 8" descr="A graph of a number of numbers&#10;&#10;Description automatically generated">
            <a:extLst>
              <a:ext uri="{FF2B5EF4-FFF2-40B4-BE49-F238E27FC236}">
                <a16:creationId xmlns:a16="http://schemas.microsoft.com/office/drawing/2014/main" id="{35FC4543-1290-91B7-83FE-AD08D1508D51}"/>
              </a:ext>
            </a:extLst>
          </p:cNvPr>
          <p:cNvPicPr>
            <a:picLocks noChangeAspect="1"/>
          </p:cNvPicPr>
          <p:nvPr/>
        </p:nvPicPr>
        <p:blipFill>
          <a:blip r:embed="rId7"/>
          <a:stretch>
            <a:fillRect/>
          </a:stretch>
        </p:blipFill>
        <p:spPr>
          <a:xfrm>
            <a:off x="287551" y="1656401"/>
            <a:ext cx="2724254" cy="2336083"/>
          </a:xfrm>
          <a:prstGeom prst="rect">
            <a:avLst/>
          </a:prstGeom>
        </p:spPr>
      </p:pic>
      <p:sp>
        <p:nvSpPr>
          <p:cNvPr id="5" name="TextBox 4">
            <a:extLst>
              <a:ext uri="{FF2B5EF4-FFF2-40B4-BE49-F238E27FC236}">
                <a16:creationId xmlns:a16="http://schemas.microsoft.com/office/drawing/2014/main" id="{E382F591-4431-2BD8-4C06-38E415539275}"/>
              </a:ext>
            </a:extLst>
          </p:cNvPr>
          <p:cNvSpPr txBox="1"/>
          <p:nvPr/>
        </p:nvSpPr>
        <p:spPr>
          <a:xfrm>
            <a:off x="9883943" y="149400"/>
            <a:ext cx="2171700" cy="892552"/>
          </a:xfrm>
          <a:prstGeom prst="rect">
            <a:avLst/>
          </a:prstGeom>
          <a:solidFill>
            <a:schemeClr val="accent4">
              <a:lumMod val="40000"/>
              <a:lumOff val="60000"/>
            </a:schemeClr>
          </a:solidFill>
          <a:ln>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p:spPr>
        <p:txBody>
          <a:bodyPr wrap="square" rtlCol="0">
            <a:spAutoFit/>
          </a:bodyPr>
          <a:lstStyle/>
          <a:p>
            <a:pPr algn="ctr"/>
            <a:r>
              <a:rPr lang="en-US" sz="2600" dirty="0">
                <a:solidFill>
                  <a:srgbClr val="FF0000"/>
                </a:solidFill>
                <a:latin typeface="American Typewriter" panose="02090604020004020304" pitchFamily="18" charset="77"/>
              </a:rPr>
              <a:t>Additional slide</a:t>
            </a:r>
          </a:p>
        </p:txBody>
      </p:sp>
    </p:spTree>
    <p:extLst>
      <p:ext uri="{BB962C8B-B14F-4D97-AF65-F5344CB8AC3E}">
        <p14:creationId xmlns:p14="http://schemas.microsoft.com/office/powerpoint/2010/main" val="35665489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2AECD0-D662-C9FE-373F-F5D34CEA47AE}"/>
              </a:ext>
            </a:extLst>
          </p:cNvPr>
          <p:cNvSpPr txBox="1"/>
          <p:nvPr/>
        </p:nvSpPr>
        <p:spPr>
          <a:xfrm>
            <a:off x="108270" y="1139859"/>
            <a:ext cx="11947373" cy="1754326"/>
          </a:xfrm>
          <a:prstGeom prst="rect">
            <a:avLst/>
          </a:prstGeom>
          <a:noFill/>
        </p:spPr>
        <p:txBody>
          <a:bodyPr wrap="square" rtlCol="0">
            <a:spAutoFit/>
          </a:bodyPr>
          <a:lstStyle/>
          <a:p>
            <a:r>
              <a:rPr lang="en-US" sz="3600" dirty="0"/>
              <a:t>Here, it is assumed that data are generated by a statistical distribution with parameters 𝛈,𝛉,…,𝛙. </a:t>
            </a:r>
          </a:p>
          <a:p>
            <a:r>
              <a:rPr lang="en-US" sz="3600" dirty="0"/>
              <a:t>The principal aim is </a:t>
            </a:r>
            <a:r>
              <a:rPr lang="en-US" sz="3600" dirty="0">
                <a:solidFill>
                  <a:schemeClr val="accent2"/>
                </a:solidFill>
              </a:rPr>
              <a:t>to infer information about 𝛈,𝛉,…,𝛙</a:t>
            </a:r>
            <a:r>
              <a:rPr lang="en-US" sz="3600" dirty="0"/>
              <a:t>.</a:t>
            </a:r>
          </a:p>
        </p:txBody>
      </p:sp>
      <p:sp>
        <p:nvSpPr>
          <p:cNvPr id="4" name="TextBox 3">
            <a:extLst>
              <a:ext uri="{FF2B5EF4-FFF2-40B4-BE49-F238E27FC236}">
                <a16:creationId xmlns:a16="http://schemas.microsoft.com/office/drawing/2014/main" id="{2E7D885C-D02D-4291-DE7D-2B0EAA8D03DC}"/>
              </a:ext>
            </a:extLst>
          </p:cNvPr>
          <p:cNvSpPr txBox="1"/>
          <p:nvPr/>
        </p:nvSpPr>
        <p:spPr>
          <a:xfrm>
            <a:off x="0" y="6488507"/>
            <a:ext cx="7245752" cy="377026"/>
          </a:xfrm>
          <a:prstGeom prst="rect">
            <a:avLst/>
          </a:prstGeom>
          <a:noFill/>
        </p:spPr>
        <p:txBody>
          <a:bodyPr wrap="square" rtlCol="0">
            <a:spAutoFit/>
          </a:bodyPr>
          <a:lstStyle/>
          <a:p>
            <a:r>
              <a:rPr lang="en-US" sz="1850" dirty="0"/>
              <a:t>E.L. Lehmann, George Casella, Theory of Point Estimation, Second Edition</a:t>
            </a:r>
          </a:p>
        </p:txBody>
      </p:sp>
      <p:sp>
        <p:nvSpPr>
          <p:cNvPr id="7" name="Title 1">
            <a:extLst>
              <a:ext uri="{FF2B5EF4-FFF2-40B4-BE49-F238E27FC236}">
                <a16:creationId xmlns:a16="http://schemas.microsoft.com/office/drawing/2014/main" id="{D0F3FF4A-016D-E78B-F30D-AB9FCC2385FB}"/>
              </a:ext>
            </a:extLst>
          </p:cNvPr>
          <p:cNvSpPr txBox="1">
            <a:spLocks/>
          </p:cNvSpPr>
          <p:nvPr/>
        </p:nvSpPr>
        <p:spPr>
          <a:xfrm>
            <a:off x="18661" y="29510"/>
            <a:ext cx="12192000" cy="721895"/>
          </a:xfrm>
          <a:prstGeom prst="rect">
            <a:avLst/>
          </a:prstGeom>
          <a:no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5000" b="1" dirty="0"/>
              <a:t>Frequentist inference </a:t>
            </a:r>
            <a:r>
              <a:rPr lang="en-US" sz="3200" b="1" i="1" dirty="0"/>
              <a:t>in terms of statistical distributions</a:t>
            </a:r>
          </a:p>
        </p:txBody>
      </p:sp>
      <p:sp>
        <p:nvSpPr>
          <p:cNvPr id="2" name="TextBox 1">
            <a:extLst>
              <a:ext uri="{FF2B5EF4-FFF2-40B4-BE49-F238E27FC236}">
                <a16:creationId xmlns:a16="http://schemas.microsoft.com/office/drawing/2014/main" id="{F39E3FCB-26AE-3B43-5EB9-ED869547DB3B}"/>
              </a:ext>
            </a:extLst>
          </p:cNvPr>
          <p:cNvSpPr txBox="1"/>
          <p:nvPr/>
        </p:nvSpPr>
        <p:spPr>
          <a:xfrm>
            <a:off x="6026687" y="3265643"/>
            <a:ext cx="3195887" cy="461665"/>
          </a:xfrm>
          <a:prstGeom prst="rect">
            <a:avLst/>
          </a:prstGeom>
          <a:noFill/>
        </p:spPr>
        <p:txBody>
          <a:bodyPr wrap="square" rtlCol="0">
            <a:spAutoFit/>
          </a:bodyPr>
          <a:lstStyle/>
          <a:p>
            <a:pPr algn="ctr"/>
            <a:r>
              <a:rPr lang="en-US" sz="2400" dirty="0"/>
              <a:t>1) Statistical distribution </a:t>
            </a:r>
          </a:p>
        </p:txBody>
      </p:sp>
      <p:pic>
        <p:nvPicPr>
          <p:cNvPr id="2050" name="Picture 2" descr="Binomial distribution - Wikipedia">
            <a:extLst>
              <a:ext uri="{FF2B5EF4-FFF2-40B4-BE49-F238E27FC236}">
                <a16:creationId xmlns:a16="http://schemas.microsoft.com/office/drawing/2014/main" id="{8439F1BC-408F-2C96-D5F1-72A2AD9E65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06707" y="3116063"/>
            <a:ext cx="2176908" cy="144948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0402D0D-8ECF-CEBC-9263-3046BED66016}"/>
              </a:ext>
            </a:extLst>
          </p:cNvPr>
          <p:cNvSpPr txBox="1"/>
          <p:nvPr/>
        </p:nvSpPr>
        <p:spPr>
          <a:xfrm>
            <a:off x="8785257" y="5169256"/>
            <a:ext cx="2598358" cy="461665"/>
          </a:xfrm>
          <a:prstGeom prst="rect">
            <a:avLst/>
          </a:prstGeom>
          <a:noFill/>
        </p:spPr>
        <p:txBody>
          <a:bodyPr wrap="square" rtlCol="0">
            <a:spAutoFit/>
          </a:bodyPr>
          <a:lstStyle/>
          <a:p>
            <a:r>
              <a:rPr lang="en-US" sz="2400" dirty="0"/>
              <a:t>2) Data generation</a:t>
            </a:r>
          </a:p>
        </p:txBody>
      </p:sp>
      <p:pic>
        <p:nvPicPr>
          <p:cNvPr id="2052" name="Picture 4" descr="The History of the Coin Flip – Heads or Tails? - Hattons of London">
            <a:extLst>
              <a:ext uri="{FF2B5EF4-FFF2-40B4-BE49-F238E27FC236}">
                <a16:creationId xmlns:a16="http://schemas.microsoft.com/office/drawing/2014/main" id="{7CF865B5-E37D-19A6-3A07-A08FDCE25B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5883" y="4642881"/>
            <a:ext cx="2187508" cy="1455687"/>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Arrow Connector 7">
            <a:extLst>
              <a:ext uri="{FF2B5EF4-FFF2-40B4-BE49-F238E27FC236}">
                <a16:creationId xmlns:a16="http://schemas.microsoft.com/office/drawing/2014/main" id="{AA97E383-462E-BC22-DF4A-60B6BC1EFF55}"/>
              </a:ext>
            </a:extLst>
          </p:cNvPr>
          <p:cNvCxnSpPr>
            <a:cxnSpLocks/>
          </p:cNvCxnSpPr>
          <p:nvPr/>
        </p:nvCxnSpPr>
        <p:spPr>
          <a:xfrm>
            <a:off x="7695028" y="3765821"/>
            <a:ext cx="0" cy="791807"/>
          </a:xfrm>
          <a:prstGeom prst="straightConnector1">
            <a:avLst/>
          </a:prstGeom>
          <a:ln w="15875">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53DB8E7-6A87-3AFA-7575-AF0CE1721416}"/>
              </a:ext>
            </a:extLst>
          </p:cNvPr>
          <p:cNvCxnSpPr/>
          <p:nvPr/>
        </p:nvCxnSpPr>
        <p:spPr>
          <a:xfrm>
            <a:off x="5190978" y="3530684"/>
            <a:ext cx="0" cy="18720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7782EF0-3346-C4AD-6FC6-49E752358181}"/>
              </a:ext>
            </a:extLst>
          </p:cNvPr>
          <p:cNvCxnSpPr/>
          <p:nvPr/>
        </p:nvCxnSpPr>
        <p:spPr>
          <a:xfrm>
            <a:off x="5190978" y="5387621"/>
            <a:ext cx="1266093" cy="0"/>
          </a:xfrm>
          <a:prstGeom prst="line">
            <a:avLst/>
          </a:prstGeom>
          <a:ln w="15875">
            <a:solidFill>
              <a:schemeClr val="tx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361A413-31D0-02DA-748C-C3BF162ED9B0}"/>
              </a:ext>
            </a:extLst>
          </p:cNvPr>
          <p:cNvCxnSpPr>
            <a:cxnSpLocks/>
          </p:cNvCxnSpPr>
          <p:nvPr/>
        </p:nvCxnSpPr>
        <p:spPr>
          <a:xfrm>
            <a:off x="5190978" y="3516621"/>
            <a:ext cx="905023"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0C500797-09E3-5460-F89D-64A552063266}"/>
              </a:ext>
            </a:extLst>
          </p:cNvPr>
          <p:cNvSpPr txBox="1"/>
          <p:nvPr/>
        </p:nvSpPr>
        <p:spPr>
          <a:xfrm>
            <a:off x="1972844" y="4179385"/>
            <a:ext cx="3201392" cy="461665"/>
          </a:xfrm>
          <a:prstGeom prst="rect">
            <a:avLst/>
          </a:prstGeom>
          <a:noFill/>
        </p:spPr>
        <p:txBody>
          <a:bodyPr wrap="square" rtlCol="0">
            <a:spAutoFit/>
          </a:bodyPr>
          <a:lstStyle/>
          <a:p>
            <a:pPr algn="r"/>
            <a:r>
              <a:rPr lang="en-US" sz="2400" dirty="0">
                <a:solidFill>
                  <a:schemeClr val="accent2"/>
                </a:solidFill>
              </a:rPr>
              <a:t>3) Frequentist inference</a:t>
            </a:r>
          </a:p>
        </p:txBody>
      </p:sp>
    </p:spTree>
    <p:extLst>
      <p:ext uri="{BB962C8B-B14F-4D97-AF65-F5344CB8AC3E}">
        <p14:creationId xmlns:p14="http://schemas.microsoft.com/office/powerpoint/2010/main" val="30528785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JSNA | Population Health Hub">
            <a:extLst>
              <a:ext uri="{FF2B5EF4-FFF2-40B4-BE49-F238E27FC236}">
                <a16:creationId xmlns:a16="http://schemas.microsoft.com/office/drawing/2014/main" id="{A34098FE-9AF7-5DEF-B1CF-C3FF8D9A9C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0307" y="1545260"/>
            <a:ext cx="3798208" cy="218684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83EBDB0C-0E1C-D62E-EEF0-32687BE9012A}"/>
              </a:ext>
            </a:extLst>
          </p:cNvPr>
          <p:cNvSpPr txBox="1"/>
          <p:nvPr/>
        </p:nvSpPr>
        <p:spPr>
          <a:xfrm>
            <a:off x="1473523" y="1070498"/>
            <a:ext cx="2917506" cy="461665"/>
          </a:xfrm>
          <a:prstGeom prst="rect">
            <a:avLst/>
          </a:prstGeom>
          <a:noFill/>
        </p:spPr>
        <p:txBody>
          <a:bodyPr wrap="square" rtlCol="0">
            <a:spAutoFit/>
          </a:bodyPr>
          <a:lstStyle/>
          <a:p>
            <a:pPr algn="ctr"/>
            <a:r>
              <a:rPr lang="en-US" sz="2400" dirty="0"/>
              <a:t>Population</a:t>
            </a:r>
          </a:p>
        </p:txBody>
      </p:sp>
      <p:sp>
        <p:nvSpPr>
          <p:cNvPr id="9" name="TextBox 8">
            <a:extLst>
              <a:ext uri="{FF2B5EF4-FFF2-40B4-BE49-F238E27FC236}">
                <a16:creationId xmlns:a16="http://schemas.microsoft.com/office/drawing/2014/main" id="{6AC8DDE4-CF93-F665-3348-E9510AF98107}"/>
              </a:ext>
            </a:extLst>
          </p:cNvPr>
          <p:cNvSpPr txBox="1"/>
          <p:nvPr/>
        </p:nvSpPr>
        <p:spPr>
          <a:xfrm>
            <a:off x="8025926" y="1057401"/>
            <a:ext cx="2917506" cy="461665"/>
          </a:xfrm>
          <a:prstGeom prst="rect">
            <a:avLst/>
          </a:prstGeom>
          <a:noFill/>
        </p:spPr>
        <p:txBody>
          <a:bodyPr wrap="square" rtlCol="0">
            <a:spAutoFit/>
          </a:bodyPr>
          <a:lstStyle/>
          <a:p>
            <a:pPr algn="ctr"/>
            <a:r>
              <a:rPr lang="en-US" sz="2400" dirty="0"/>
              <a:t>Sample</a:t>
            </a:r>
          </a:p>
        </p:txBody>
      </p:sp>
      <p:pic>
        <p:nvPicPr>
          <p:cNvPr id="7172" name="Picture 4" descr="I Am A Person Committed to Equity | National Museum of African American  History and Culture">
            <a:extLst>
              <a:ext uri="{FF2B5EF4-FFF2-40B4-BE49-F238E27FC236}">
                <a16:creationId xmlns:a16="http://schemas.microsoft.com/office/drawing/2014/main" id="{EB3EC48E-5A47-20F3-13B1-4E5015FEA1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40700" y="1963155"/>
            <a:ext cx="2600721" cy="1465073"/>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Arrow Connector 10">
            <a:extLst>
              <a:ext uri="{FF2B5EF4-FFF2-40B4-BE49-F238E27FC236}">
                <a16:creationId xmlns:a16="http://schemas.microsoft.com/office/drawing/2014/main" id="{C027DAD3-A8A8-A7FA-BD94-6B6B602B47B7}"/>
              </a:ext>
            </a:extLst>
          </p:cNvPr>
          <p:cNvCxnSpPr>
            <a:cxnSpLocks/>
          </p:cNvCxnSpPr>
          <p:nvPr/>
        </p:nvCxnSpPr>
        <p:spPr>
          <a:xfrm>
            <a:off x="4837253" y="5629392"/>
            <a:ext cx="2770047" cy="0"/>
          </a:xfrm>
          <a:prstGeom prst="straightConnector1">
            <a:avLst/>
          </a:prstGeom>
          <a:ln>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0103C626-B494-62A9-ED43-D3DF76107465}"/>
              </a:ext>
            </a:extLst>
          </p:cNvPr>
          <p:cNvCxnSpPr>
            <a:cxnSpLocks/>
          </p:cNvCxnSpPr>
          <p:nvPr/>
        </p:nvCxnSpPr>
        <p:spPr>
          <a:xfrm>
            <a:off x="2899459" y="3835400"/>
            <a:ext cx="0" cy="12065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6FDE3D76-D13E-0590-7677-45D5F5ED59A4}"/>
              </a:ext>
            </a:extLst>
          </p:cNvPr>
          <p:cNvSpPr txBox="1"/>
          <p:nvPr/>
        </p:nvSpPr>
        <p:spPr>
          <a:xfrm>
            <a:off x="1254639" y="5184333"/>
            <a:ext cx="3477311" cy="830997"/>
          </a:xfrm>
          <a:prstGeom prst="rect">
            <a:avLst/>
          </a:prstGeom>
          <a:noFill/>
          <a:ln w="38100">
            <a:solidFill>
              <a:srgbClr val="FF0000"/>
            </a:solidFill>
          </a:ln>
        </p:spPr>
        <p:txBody>
          <a:bodyPr wrap="square" rtlCol="0">
            <a:spAutoFit/>
          </a:bodyPr>
          <a:lstStyle/>
          <a:p>
            <a:pPr algn="ctr"/>
            <a:r>
              <a:rPr lang="en-US" sz="2400" dirty="0"/>
              <a:t>Population described by parameters (e.g., </a:t>
            </a:r>
            <a:r>
              <a:rPr lang="el-GR" sz="2400" dirty="0">
                <a:solidFill>
                  <a:srgbClr val="4C4C4C"/>
                </a:solidFill>
                <a:effectLst/>
              </a:rPr>
              <a:t>μ</a:t>
            </a:r>
            <a:r>
              <a:rPr lang="en-GB" sz="2400" dirty="0">
                <a:solidFill>
                  <a:srgbClr val="4C4C4C"/>
                </a:solidFill>
                <a:effectLst/>
              </a:rPr>
              <a:t>, </a:t>
            </a:r>
            <a:r>
              <a:rPr lang="el-GR" sz="2400" dirty="0">
                <a:solidFill>
                  <a:srgbClr val="4C4C4C"/>
                </a:solidFill>
                <a:effectLst/>
              </a:rPr>
              <a:t>σ</a:t>
            </a:r>
            <a:r>
              <a:rPr lang="en-GB" sz="2400" dirty="0">
                <a:solidFill>
                  <a:srgbClr val="4C4C4C"/>
                </a:solidFill>
                <a:effectLst/>
              </a:rPr>
              <a:t>, </a:t>
            </a:r>
            <a:r>
              <a:rPr lang="el-GR" sz="2400" dirty="0">
                <a:solidFill>
                  <a:srgbClr val="4C4C4C"/>
                </a:solidFill>
                <a:effectLst/>
              </a:rPr>
              <a:t>π</a:t>
            </a:r>
            <a:r>
              <a:rPr lang="en-GB" sz="2400" dirty="0">
                <a:solidFill>
                  <a:srgbClr val="4C4C4C"/>
                </a:solidFill>
                <a:effectLst/>
              </a:rPr>
              <a:t>)</a:t>
            </a:r>
            <a:endParaRPr lang="el-GR" sz="2400" dirty="0">
              <a:effectLst/>
            </a:endParaRPr>
          </a:p>
        </p:txBody>
      </p:sp>
      <p:cxnSp>
        <p:nvCxnSpPr>
          <p:cNvPr id="21" name="Straight Arrow Connector 20">
            <a:extLst>
              <a:ext uri="{FF2B5EF4-FFF2-40B4-BE49-F238E27FC236}">
                <a16:creationId xmlns:a16="http://schemas.microsoft.com/office/drawing/2014/main" id="{D6B82C23-3E5C-1BC3-CB48-95F6AF342D2A}"/>
              </a:ext>
            </a:extLst>
          </p:cNvPr>
          <p:cNvCxnSpPr>
            <a:cxnSpLocks/>
          </p:cNvCxnSpPr>
          <p:nvPr/>
        </p:nvCxnSpPr>
        <p:spPr>
          <a:xfrm flipH="1">
            <a:off x="9441060" y="3517900"/>
            <a:ext cx="1" cy="5207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9C15DF87-875E-830C-85C7-139B29548234}"/>
              </a:ext>
            </a:extLst>
          </p:cNvPr>
          <p:cNvSpPr txBox="1"/>
          <p:nvPr/>
        </p:nvSpPr>
        <p:spPr>
          <a:xfrm>
            <a:off x="7718939" y="4130233"/>
            <a:ext cx="3477311" cy="461665"/>
          </a:xfrm>
          <a:prstGeom prst="rect">
            <a:avLst/>
          </a:prstGeom>
          <a:pattFill prst="pct5">
            <a:fgClr>
              <a:schemeClr val="accent1"/>
            </a:fgClr>
            <a:bgClr>
              <a:schemeClr val="bg1"/>
            </a:bgClr>
          </a:pattFill>
          <a:ln>
            <a:solidFill>
              <a:schemeClr val="tx1"/>
            </a:solidFill>
          </a:ln>
        </p:spPr>
        <p:txBody>
          <a:bodyPr wrap="square" rtlCol="0">
            <a:spAutoFit/>
          </a:bodyPr>
          <a:lstStyle/>
          <a:p>
            <a:pPr algn="ctr"/>
            <a:r>
              <a:rPr lang="en-US" sz="2400" dirty="0"/>
              <a:t>Data (</a:t>
            </a:r>
            <a:r>
              <a:rPr lang="en-GB" sz="2400" dirty="0"/>
              <a:t>x</a:t>
            </a:r>
            <a:r>
              <a:rPr lang="en-GB" sz="2400" baseline="-25000" dirty="0"/>
              <a:t>1</a:t>
            </a:r>
            <a:r>
              <a:rPr lang="en-GB" sz="2400" dirty="0"/>
              <a:t>, x</a:t>
            </a:r>
            <a:r>
              <a:rPr lang="en-GB" sz="2400" baseline="-25000" dirty="0"/>
              <a:t>2</a:t>
            </a:r>
            <a:r>
              <a:rPr lang="en-GB" sz="2400" dirty="0"/>
              <a:t>,…, </a:t>
            </a:r>
            <a:r>
              <a:rPr lang="en-GB" sz="2400" dirty="0" err="1"/>
              <a:t>x</a:t>
            </a:r>
            <a:r>
              <a:rPr lang="en-GB" sz="2400" baseline="-25000" dirty="0" err="1"/>
              <a:t>n</a:t>
            </a:r>
            <a:r>
              <a:rPr lang="en-GB" sz="2400" dirty="0">
                <a:solidFill>
                  <a:srgbClr val="4C4C4C"/>
                </a:solidFill>
                <a:effectLst/>
              </a:rPr>
              <a:t>)</a:t>
            </a:r>
            <a:endParaRPr lang="el-GR" sz="2400" dirty="0">
              <a:effectLst/>
            </a:endParaRPr>
          </a:p>
        </p:txBody>
      </p:sp>
      <p:sp>
        <p:nvSpPr>
          <p:cNvPr id="26" name="TextBox 25">
            <a:extLst>
              <a:ext uri="{FF2B5EF4-FFF2-40B4-BE49-F238E27FC236}">
                <a16:creationId xmlns:a16="http://schemas.microsoft.com/office/drawing/2014/main" id="{815B316E-3511-A257-EFC1-13276F9710DF}"/>
              </a:ext>
            </a:extLst>
          </p:cNvPr>
          <p:cNvSpPr txBox="1"/>
          <p:nvPr/>
        </p:nvSpPr>
        <p:spPr>
          <a:xfrm>
            <a:off x="7744339" y="5197033"/>
            <a:ext cx="3477311" cy="830997"/>
          </a:xfrm>
          <a:prstGeom prst="rect">
            <a:avLst/>
          </a:prstGeom>
          <a:pattFill prst="pct5">
            <a:fgClr>
              <a:schemeClr val="accent1"/>
            </a:fgClr>
            <a:bgClr>
              <a:schemeClr val="bg1"/>
            </a:bgClr>
          </a:pattFill>
          <a:ln>
            <a:solidFill>
              <a:schemeClr val="tx1"/>
            </a:solidFill>
          </a:ln>
        </p:spPr>
        <p:txBody>
          <a:bodyPr wrap="square" rtlCol="0">
            <a:spAutoFit/>
          </a:bodyPr>
          <a:lstStyle/>
          <a:p>
            <a:pPr algn="ctr"/>
            <a:r>
              <a:rPr lang="en-US" sz="2400" dirty="0"/>
              <a:t>Inferential statistics (e.g., sample </a:t>
            </a:r>
            <a:r>
              <a:rPr lang="en-GB" sz="2400" dirty="0"/>
              <a:t>mean, std, p</a:t>
            </a:r>
            <a:r>
              <a:rPr lang="en-GB" sz="2400" dirty="0">
                <a:solidFill>
                  <a:srgbClr val="4C4C4C"/>
                </a:solidFill>
                <a:effectLst/>
              </a:rPr>
              <a:t>)</a:t>
            </a:r>
            <a:endParaRPr lang="el-GR" sz="2400" dirty="0">
              <a:effectLst/>
            </a:endParaRPr>
          </a:p>
        </p:txBody>
      </p:sp>
      <p:cxnSp>
        <p:nvCxnSpPr>
          <p:cNvPr id="27" name="Straight Arrow Connector 26">
            <a:extLst>
              <a:ext uri="{FF2B5EF4-FFF2-40B4-BE49-F238E27FC236}">
                <a16:creationId xmlns:a16="http://schemas.microsoft.com/office/drawing/2014/main" id="{28D87F35-CB9B-EECB-48C2-1E1FE9FC0808}"/>
              </a:ext>
            </a:extLst>
          </p:cNvPr>
          <p:cNvCxnSpPr>
            <a:cxnSpLocks/>
          </p:cNvCxnSpPr>
          <p:nvPr/>
        </p:nvCxnSpPr>
        <p:spPr>
          <a:xfrm>
            <a:off x="9441060" y="4711700"/>
            <a:ext cx="0" cy="43453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 name="Straight Arrow Connector 1">
            <a:extLst>
              <a:ext uri="{FF2B5EF4-FFF2-40B4-BE49-F238E27FC236}">
                <a16:creationId xmlns:a16="http://schemas.microsoft.com/office/drawing/2014/main" id="{7191642F-1218-3698-FEA2-CBF1DB11A2C1}"/>
              </a:ext>
            </a:extLst>
          </p:cNvPr>
          <p:cNvCxnSpPr>
            <a:cxnSpLocks/>
          </p:cNvCxnSpPr>
          <p:nvPr/>
        </p:nvCxnSpPr>
        <p:spPr>
          <a:xfrm>
            <a:off x="5133323" y="2718115"/>
            <a:ext cx="279548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012B1436-681F-438D-A7C0-C097D4765145}"/>
              </a:ext>
            </a:extLst>
          </p:cNvPr>
          <p:cNvSpPr txBox="1"/>
          <p:nvPr/>
        </p:nvSpPr>
        <p:spPr>
          <a:xfrm>
            <a:off x="1473523" y="6025239"/>
            <a:ext cx="3049491" cy="400110"/>
          </a:xfrm>
          <a:prstGeom prst="rect">
            <a:avLst/>
          </a:prstGeom>
          <a:noFill/>
        </p:spPr>
        <p:txBody>
          <a:bodyPr wrap="square" rtlCol="0">
            <a:spAutoFit/>
          </a:bodyPr>
          <a:lstStyle/>
          <a:p>
            <a:pPr algn="ctr"/>
            <a:r>
              <a:rPr lang="en-US" sz="2000" i="1" dirty="0"/>
              <a:t>Statistical target</a:t>
            </a:r>
          </a:p>
        </p:txBody>
      </p:sp>
      <p:sp>
        <p:nvSpPr>
          <p:cNvPr id="4" name="Title 1">
            <a:extLst>
              <a:ext uri="{FF2B5EF4-FFF2-40B4-BE49-F238E27FC236}">
                <a16:creationId xmlns:a16="http://schemas.microsoft.com/office/drawing/2014/main" id="{1C0FAEF1-168C-62B9-E532-1AD338E69EA1}"/>
              </a:ext>
            </a:extLst>
          </p:cNvPr>
          <p:cNvSpPr txBox="1">
            <a:spLocks/>
          </p:cNvSpPr>
          <p:nvPr/>
        </p:nvSpPr>
        <p:spPr>
          <a:xfrm>
            <a:off x="18661" y="29510"/>
            <a:ext cx="12192000" cy="721895"/>
          </a:xfrm>
          <a:prstGeom prst="rect">
            <a:avLst/>
          </a:prstGeom>
          <a:no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5000" b="1" dirty="0"/>
              <a:t>Frequentist inference </a:t>
            </a:r>
            <a:r>
              <a:rPr lang="en-US" sz="3200" b="1" i="1" dirty="0"/>
              <a:t>in terms of populations</a:t>
            </a:r>
          </a:p>
        </p:txBody>
      </p:sp>
    </p:spTree>
    <p:extLst>
      <p:ext uri="{BB962C8B-B14F-4D97-AF65-F5344CB8AC3E}">
        <p14:creationId xmlns:p14="http://schemas.microsoft.com/office/powerpoint/2010/main" val="16235790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E7D885C-D02D-4291-DE7D-2B0EAA8D03DC}"/>
              </a:ext>
            </a:extLst>
          </p:cNvPr>
          <p:cNvSpPr txBox="1"/>
          <p:nvPr/>
        </p:nvSpPr>
        <p:spPr>
          <a:xfrm>
            <a:off x="0" y="6489884"/>
            <a:ext cx="11844670" cy="377026"/>
          </a:xfrm>
          <a:prstGeom prst="rect">
            <a:avLst/>
          </a:prstGeom>
          <a:noFill/>
        </p:spPr>
        <p:txBody>
          <a:bodyPr wrap="square" rtlCol="0">
            <a:spAutoFit/>
          </a:bodyPr>
          <a:lstStyle/>
          <a:p>
            <a:r>
              <a:rPr lang="en-US" sz="1850" dirty="0"/>
              <a:t>D.J. </a:t>
            </a:r>
            <a:r>
              <a:rPr lang="en-US" sz="1850" dirty="0" err="1"/>
              <a:t>Spiegehalter</a:t>
            </a:r>
            <a:r>
              <a:rPr lang="en-US" sz="1850" dirty="0"/>
              <a:t> et al., Bayesian Approaches to Randomized Trials, </a:t>
            </a:r>
            <a:r>
              <a:rPr lang="en-US" sz="1850" i="1" dirty="0"/>
              <a:t>J.R. Statist. Soc. </a:t>
            </a:r>
            <a:r>
              <a:rPr lang="en-US" sz="1850" dirty="0"/>
              <a:t>A (1994) 157, </a:t>
            </a:r>
            <a:r>
              <a:rPr lang="en-US" sz="1850" i="1" dirty="0"/>
              <a:t>Part 3</a:t>
            </a:r>
            <a:r>
              <a:rPr lang="en-US" sz="1850" dirty="0"/>
              <a:t>, </a:t>
            </a:r>
            <a:r>
              <a:rPr lang="en-US" sz="1850" i="1" dirty="0"/>
              <a:t>pp.</a:t>
            </a:r>
            <a:r>
              <a:rPr lang="en-US" sz="1850" dirty="0"/>
              <a:t> 357-416</a:t>
            </a:r>
          </a:p>
        </p:txBody>
      </p:sp>
      <p:sp>
        <p:nvSpPr>
          <p:cNvPr id="7" name="Title 1">
            <a:extLst>
              <a:ext uri="{FF2B5EF4-FFF2-40B4-BE49-F238E27FC236}">
                <a16:creationId xmlns:a16="http://schemas.microsoft.com/office/drawing/2014/main" id="{7CB2FA84-24C1-5B6C-8759-4983096BD969}"/>
              </a:ext>
            </a:extLst>
          </p:cNvPr>
          <p:cNvSpPr txBox="1">
            <a:spLocks/>
          </p:cNvSpPr>
          <p:nvPr/>
        </p:nvSpPr>
        <p:spPr>
          <a:xfrm>
            <a:off x="18661" y="62168"/>
            <a:ext cx="12192000" cy="721895"/>
          </a:xfrm>
          <a:prstGeom prst="rect">
            <a:avLst/>
          </a:prstGeom>
          <a:no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5000" b="1" dirty="0"/>
              <a:t>Bayesian inference</a:t>
            </a:r>
          </a:p>
        </p:txBody>
      </p:sp>
      <p:pic>
        <p:nvPicPr>
          <p:cNvPr id="1026" name="Picture 2" descr="Confluence Mobile - ModelAssist - Risk modeling library">
            <a:extLst>
              <a:ext uri="{FF2B5EF4-FFF2-40B4-BE49-F238E27FC236}">
                <a16:creationId xmlns:a16="http://schemas.microsoft.com/office/drawing/2014/main" id="{66D000FF-B494-71B2-EAAD-049D0E75E1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09" y="1774473"/>
            <a:ext cx="7210242" cy="365211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8D21DD96-9D90-A5D5-CF20-27C70314BFC2}"/>
              </a:ext>
            </a:extLst>
          </p:cNvPr>
          <p:cNvSpPr txBox="1"/>
          <p:nvPr/>
        </p:nvSpPr>
        <p:spPr>
          <a:xfrm>
            <a:off x="7195933" y="1451307"/>
            <a:ext cx="4929802" cy="707886"/>
          </a:xfrm>
          <a:prstGeom prst="rect">
            <a:avLst/>
          </a:prstGeom>
          <a:noFill/>
          <a:ln>
            <a:solidFill>
              <a:schemeClr val="tx1"/>
            </a:solidFill>
          </a:ln>
        </p:spPr>
        <p:txBody>
          <a:bodyPr wrap="square" rtlCol="0">
            <a:spAutoFit/>
          </a:bodyPr>
          <a:lstStyle/>
          <a:p>
            <a:r>
              <a:rPr lang="en-US" sz="2000" dirty="0"/>
              <a:t>Initial beliefs concerning a parameter 𝜭 of interest are expressed as </a:t>
            </a:r>
            <a:r>
              <a:rPr lang="en-US" sz="2000" b="1" dirty="0"/>
              <a:t>a prior distribution</a:t>
            </a:r>
          </a:p>
        </p:txBody>
      </p:sp>
      <p:sp>
        <p:nvSpPr>
          <p:cNvPr id="9" name="TextBox 8">
            <a:extLst>
              <a:ext uri="{FF2B5EF4-FFF2-40B4-BE49-F238E27FC236}">
                <a16:creationId xmlns:a16="http://schemas.microsoft.com/office/drawing/2014/main" id="{B79BB807-B61B-3E06-FB04-CCC543911A53}"/>
              </a:ext>
            </a:extLst>
          </p:cNvPr>
          <p:cNvSpPr txBox="1"/>
          <p:nvPr/>
        </p:nvSpPr>
        <p:spPr>
          <a:xfrm>
            <a:off x="7213363" y="2703637"/>
            <a:ext cx="4929802" cy="707886"/>
          </a:xfrm>
          <a:prstGeom prst="rect">
            <a:avLst/>
          </a:prstGeom>
          <a:noFill/>
          <a:ln>
            <a:solidFill>
              <a:schemeClr val="tx1"/>
            </a:solidFill>
          </a:ln>
        </p:spPr>
        <p:txBody>
          <a:bodyPr wrap="square" rtlCol="0">
            <a:spAutoFit/>
          </a:bodyPr>
          <a:lstStyle/>
          <a:p>
            <a:r>
              <a:rPr lang="en-US" sz="2000" dirty="0"/>
              <a:t>Evidence from further data is summarized by a </a:t>
            </a:r>
            <a:r>
              <a:rPr lang="en-US" sz="2000" b="1" dirty="0"/>
              <a:t>likelihood function</a:t>
            </a:r>
            <a:r>
              <a:rPr lang="en-US" sz="2000" dirty="0"/>
              <a:t> for the parameter 𝜭</a:t>
            </a:r>
            <a:endParaRPr lang="en-US" sz="2000" b="1" dirty="0">
              <a:solidFill>
                <a:schemeClr val="accent1"/>
              </a:solidFill>
            </a:endParaRPr>
          </a:p>
        </p:txBody>
      </p:sp>
      <p:sp>
        <p:nvSpPr>
          <p:cNvPr id="10" name="TextBox 9">
            <a:extLst>
              <a:ext uri="{FF2B5EF4-FFF2-40B4-BE49-F238E27FC236}">
                <a16:creationId xmlns:a16="http://schemas.microsoft.com/office/drawing/2014/main" id="{DE576371-9711-8DE2-4A6E-468851B792A4}"/>
              </a:ext>
            </a:extLst>
          </p:cNvPr>
          <p:cNvSpPr txBox="1"/>
          <p:nvPr/>
        </p:nvSpPr>
        <p:spPr>
          <a:xfrm>
            <a:off x="7219989" y="3979208"/>
            <a:ext cx="4929805" cy="1938992"/>
          </a:xfrm>
          <a:prstGeom prst="rect">
            <a:avLst/>
          </a:prstGeom>
          <a:noFill/>
          <a:ln>
            <a:solidFill>
              <a:schemeClr val="tx1"/>
            </a:solidFill>
          </a:ln>
        </p:spPr>
        <p:txBody>
          <a:bodyPr wrap="square" rtlCol="0">
            <a:spAutoFit/>
          </a:bodyPr>
          <a:lstStyle/>
          <a:p>
            <a:r>
              <a:rPr lang="en-US" sz="2000" dirty="0"/>
              <a:t>Using Bayes theorem (i.e. normalized product of the prior and the likelihood) initial beliefs are updated to form the </a:t>
            </a:r>
            <a:r>
              <a:rPr lang="en-US" sz="2000" b="1" dirty="0"/>
              <a:t>posterior distribution</a:t>
            </a:r>
            <a:r>
              <a:rPr lang="en-US" sz="2000" dirty="0"/>
              <a:t>, on the basis of which conclusions on the parameter 𝜭 should be drawn</a:t>
            </a:r>
            <a:endParaRPr lang="en-US" sz="2000" b="1" dirty="0"/>
          </a:p>
        </p:txBody>
      </p:sp>
      <p:sp>
        <p:nvSpPr>
          <p:cNvPr id="11" name="TextBox 10">
            <a:extLst>
              <a:ext uri="{FF2B5EF4-FFF2-40B4-BE49-F238E27FC236}">
                <a16:creationId xmlns:a16="http://schemas.microsoft.com/office/drawing/2014/main" id="{0BF2B0F5-5A59-AF3A-4F84-5269E0D6815D}"/>
              </a:ext>
            </a:extLst>
          </p:cNvPr>
          <p:cNvSpPr txBox="1"/>
          <p:nvPr/>
        </p:nvSpPr>
        <p:spPr>
          <a:xfrm>
            <a:off x="1009920" y="1150923"/>
            <a:ext cx="5459894" cy="461665"/>
          </a:xfrm>
          <a:prstGeom prst="rect">
            <a:avLst/>
          </a:prstGeom>
          <a:noFill/>
        </p:spPr>
        <p:txBody>
          <a:bodyPr wrap="square" rtlCol="0">
            <a:spAutoFit/>
          </a:bodyPr>
          <a:lstStyle/>
          <a:p>
            <a:pPr algn="ctr"/>
            <a:r>
              <a:rPr lang="en-US" sz="2400" dirty="0"/>
              <a:t>The basic paradigm of </a:t>
            </a:r>
            <a:r>
              <a:rPr lang="en-US" sz="2400" dirty="0" err="1"/>
              <a:t>bayesian</a:t>
            </a:r>
            <a:r>
              <a:rPr lang="en-US" sz="2400" dirty="0"/>
              <a:t> statistics</a:t>
            </a:r>
          </a:p>
        </p:txBody>
      </p:sp>
      <p:cxnSp>
        <p:nvCxnSpPr>
          <p:cNvPr id="3" name="Straight Arrow Connector 2">
            <a:extLst>
              <a:ext uri="{FF2B5EF4-FFF2-40B4-BE49-F238E27FC236}">
                <a16:creationId xmlns:a16="http://schemas.microsoft.com/office/drawing/2014/main" id="{7D30644C-DAD8-9177-8C87-7ED446950249}"/>
              </a:ext>
            </a:extLst>
          </p:cNvPr>
          <p:cNvCxnSpPr>
            <a:cxnSpLocks/>
            <a:stCxn id="8" idx="2"/>
            <a:endCxn id="9" idx="0"/>
          </p:cNvCxnSpPr>
          <p:nvPr/>
        </p:nvCxnSpPr>
        <p:spPr>
          <a:xfrm>
            <a:off x="9660834" y="2159193"/>
            <a:ext cx="0" cy="54444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372C5477-E29F-ABEA-BB7B-5FBFD23AFECF}"/>
              </a:ext>
            </a:extLst>
          </p:cNvPr>
          <p:cNvCxnSpPr/>
          <p:nvPr/>
        </p:nvCxnSpPr>
        <p:spPr>
          <a:xfrm flipH="1">
            <a:off x="9672559" y="3408870"/>
            <a:ext cx="0" cy="54444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EF712B39-920C-2397-28B1-4B7B7FB28CB0}"/>
              </a:ext>
            </a:extLst>
          </p:cNvPr>
          <p:cNvSpPr txBox="1"/>
          <p:nvPr/>
        </p:nvSpPr>
        <p:spPr>
          <a:xfrm>
            <a:off x="9883943" y="149400"/>
            <a:ext cx="2171700" cy="892552"/>
          </a:xfrm>
          <a:prstGeom prst="rect">
            <a:avLst/>
          </a:prstGeom>
          <a:solidFill>
            <a:schemeClr val="accent4">
              <a:lumMod val="40000"/>
              <a:lumOff val="60000"/>
            </a:schemeClr>
          </a:solidFill>
          <a:ln>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p:spPr>
        <p:txBody>
          <a:bodyPr wrap="square" rtlCol="0">
            <a:spAutoFit/>
          </a:bodyPr>
          <a:lstStyle/>
          <a:p>
            <a:pPr algn="ctr"/>
            <a:r>
              <a:rPr lang="en-US" sz="2600" dirty="0">
                <a:solidFill>
                  <a:srgbClr val="FF0000"/>
                </a:solidFill>
                <a:latin typeface="American Typewriter" panose="02090604020004020304" pitchFamily="18" charset="77"/>
              </a:rPr>
              <a:t>Additional slide</a:t>
            </a:r>
          </a:p>
        </p:txBody>
      </p:sp>
    </p:spTree>
    <p:extLst>
      <p:ext uri="{BB962C8B-B14F-4D97-AF65-F5344CB8AC3E}">
        <p14:creationId xmlns:p14="http://schemas.microsoft.com/office/powerpoint/2010/main" val="21708241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5DE2623-3F06-9819-C7B2-BC27221F207F}"/>
              </a:ext>
            </a:extLst>
          </p:cNvPr>
          <p:cNvPicPr>
            <a:picLocks noChangeAspect="1"/>
          </p:cNvPicPr>
          <p:nvPr/>
        </p:nvPicPr>
        <p:blipFill>
          <a:blip r:embed="rId3"/>
          <a:stretch>
            <a:fillRect/>
          </a:stretch>
        </p:blipFill>
        <p:spPr>
          <a:xfrm>
            <a:off x="2122424" y="834886"/>
            <a:ext cx="7458110" cy="5678334"/>
          </a:xfrm>
          <a:prstGeom prst="rect">
            <a:avLst/>
          </a:prstGeom>
        </p:spPr>
      </p:pic>
      <p:sp>
        <p:nvSpPr>
          <p:cNvPr id="7" name="Title 1">
            <a:extLst>
              <a:ext uri="{FF2B5EF4-FFF2-40B4-BE49-F238E27FC236}">
                <a16:creationId xmlns:a16="http://schemas.microsoft.com/office/drawing/2014/main" id="{119C5181-735F-5716-5E63-5C6E62CD8610}"/>
              </a:ext>
            </a:extLst>
          </p:cNvPr>
          <p:cNvSpPr txBox="1">
            <a:spLocks/>
          </p:cNvSpPr>
          <p:nvPr/>
        </p:nvSpPr>
        <p:spPr>
          <a:xfrm>
            <a:off x="18661" y="62168"/>
            <a:ext cx="12192000" cy="721895"/>
          </a:xfrm>
          <a:prstGeom prst="rect">
            <a:avLst/>
          </a:prstGeom>
          <a:no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300" b="1" dirty="0"/>
              <a:t>A practical example of </a:t>
            </a:r>
            <a:r>
              <a:rPr lang="en-US" sz="4300" b="1" dirty="0" err="1"/>
              <a:t>bayesian</a:t>
            </a:r>
            <a:r>
              <a:rPr lang="en-US" sz="4300" b="1" dirty="0"/>
              <a:t> inference</a:t>
            </a:r>
          </a:p>
        </p:txBody>
      </p:sp>
      <p:sp>
        <p:nvSpPr>
          <p:cNvPr id="9" name="TextBox 8">
            <a:extLst>
              <a:ext uri="{FF2B5EF4-FFF2-40B4-BE49-F238E27FC236}">
                <a16:creationId xmlns:a16="http://schemas.microsoft.com/office/drawing/2014/main" id="{E0DF0A42-CD84-BA05-7847-89E37EA534B4}"/>
              </a:ext>
            </a:extLst>
          </p:cNvPr>
          <p:cNvSpPr txBox="1"/>
          <p:nvPr/>
        </p:nvSpPr>
        <p:spPr>
          <a:xfrm>
            <a:off x="9939" y="6502180"/>
            <a:ext cx="11409428" cy="377026"/>
          </a:xfrm>
          <a:prstGeom prst="rect">
            <a:avLst/>
          </a:prstGeom>
          <a:noFill/>
        </p:spPr>
        <p:txBody>
          <a:bodyPr wrap="square">
            <a:spAutoFit/>
          </a:bodyPr>
          <a:lstStyle/>
          <a:p>
            <a:r>
              <a:rPr lang="en-GB" sz="1850" b="0" i="0" u="none" strike="noStrike" dirty="0">
                <a:solidFill>
                  <a:srgbClr val="212121"/>
                </a:solidFill>
                <a:effectLst/>
              </a:rPr>
              <a:t>Berry DA. Bayesian clinical trials. Nat Rev Drug </a:t>
            </a:r>
            <a:r>
              <a:rPr lang="en-GB" sz="1850" b="0" i="0" u="none" strike="noStrike" dirty="0" err="1">
                <a:solidFill>
                  <a:srgbClr val="212121"/>
                </a:solidFill>
                <a:effectLst/>
              </a:rPr>
              <a:t>Discov</a:t>
            </a:r>
            <a:r>
              <a:rPr lang="en-GB" sz="1850" b="0" i="0" u="none" strike="noStrike" dirty="0">
                <a:solidFill>
                  <a:srgbClr val="212121"/>
                </a:solidFill>
                <a:effectLst/>
              </a:rPr>
              <a:t>. 2006 Jan;5(1):27-36. </a:t>
            </a:r>
            <a:r>
              <a:rPr lang="en-GB" sz="1850" b="0" i="0" u="none" strike="noStrike" dirty="0" err="1">
                <a:solidFill>
                  <a:srgbClr val="212121"/>
                </a:solidFill>
                <a:effectLst/>
              </a:rPr>
              <a:t>doi</a:t>
            </a:r>
            <a:r>
              <a:rPr lang="en-GB" sz="1850" b="0" i="0" u="none" strike="noStrike" dirty="0">
                <a:solidFill>
                  <a:srgbClr val="212121"/>
                </a:solidFill>
                <a:effectLst/>
              </a:rPr>
              <a:t>: 10.1038/nrd1927. PMID: 16485344</a:t>
            </a:r>
            <a:endParaRPr lang="en-US" sz="1850" dirty="0"/>
          </a:p>
        </p:txBody>
      </p:sp>
      <p:sp>
        <p:nvSpPr>
          <p:cNvPr id="2" name="TextBox 1">
            <a:extLst>
              <a:ext uri="{FF2B5EF4-FFF2-40B4-BE49-F238E27FC236}">
                <a16:creationId xmlns:a16="http://schemas.microsoft.com/office/drawing/2014/main" id="{BD0454B3-54D6-E478-54A7-288AC912DCA9}"/>
              </a:ext>
            </a:extLst>
          </p:cNvPr>
          <p:cNvSpPr txBox="1"/>
          <p:nvPr/>
        </p:nvSpPr>
        <p:spPr>
          <a:xfrm>
            <a:off x="9883943" y="149400"/>
            <a:ext cx="2171700" cy="892552"/>
          </a:xfrm>
          <a:prstGeom prst="rect">
            <a:avLst/>
          </a:prstGeom>
          <a:solidFill>
            <a:schemeClr val="accent4">
              <a:lumMod val="40000"/>
              <a:lumOff val="60000"/>
            </a:schemeClr>
          </a:solidFill>
          <a:ln>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p:spPr>
        <p:txBody>
          <a:bodyPr wrap="square" rtlCol="0">
            <a:spAutoFit/>
          </a:bodyPr>
          <a:lstStyle/>
          <a:p>
            <a:pPr algn="ctr"/>
            <a:r>
              <a:rPr lang="en-US" sz="2600" dirty="0">
                <a:solidFill>
                  <a:srgbClr val="FF0000"/>
                </a:solidFill>
                <a:latin typeface="American Typewriter" panose="02090604020004020304" pitchFamily="18" charset="77"/>
              </a:rPr>
              <a:t>Additional slide</a:t>
            </a:r>
          </a:p>
        </p:txBody>
      </p:sp>
    </p:spTree>
    <p:extLst>
      <p:ext uri="{BB962C8B-B14F-4D97-AF65-F5344CB8AC3E}">
        <p14:creationId xmlns:p14="http://schemas.microsoft.com/office/powerpoint/2010/main" val="26358266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E0DF0A42-CD84-BA05-7847-89E37EA534B4}"/>
              </a:ext>
            </a:extLst>
          </p:cNvPr>
          <p:cNvSpPr txBox="1"/>
          <p:nvPr/>
        </p:nvSpPr>
        <p:spPr>
          <a:xfrm>
            <a:off x="9939" y="6507327"/>
            <a:ext cx="10962861" cy="377026"/>
          </a:xfrm>
          <a:prstGeom prst="rect">
            <a:avLst/>
          </a:prstGeom>
          <a:noFill/>
        </p:spPr>
        <p:txBody>
          <a:bodyPr wrap="square">
            <a:spAutoFit/>
          </a:bodyPr>
          <a:lstStyle/>
          <a:p>
            <a:r>
              <a:rPr lang="en-GB" sz="1850" b="0" i="0" u="none" strike="noStrike" dirty="0">
                <a:solidFill>
                  <a:srgbClr val="212121"/>
                </a:solidFill>
                <a:effectLst/>
              </a:rPr>
              <a:t>Edwards A.W.F., Likelihood (Expanded Edition), 1992</a:t>
            </a:r>
            <a:endParaRPr lang="en-US" sz="1850" dirty="0"/>
          </a:p>
        </p:txBody>
      </p:sp>
      <p:sp>
        <p:nvSpPr>
          <p:cNvPr id="2" name="Title 1">
            <a:extLst>
              <a:ext uri="{FF2B5EF4-FFF2-40B4-BE49-F238E27FC236}">
                <a16:creationId xmlns:a16="http://schemas.microsoft.com/office/drawing/2014/main" id="{793949A6-681C-1501-5DA8-5DAA5D40FB99}"/>
              </a:ext>
            </a:extLst>
          </p:cNvPr>
          <p:cNvSpPr txBox="1">
            <a:spLocks/>
          </p:cNvSpPr>
          <p:nvPr/>
        </p:nvSpPr>
        <p:spPr>
          <a:xfrm>
            <a:off x="18661" y="62168"/>
            <a:ext cx="12192000" cy="721895"/>
          </a:xfrm>
          <a:prstGeom prst="rect">
            <a:avLst/>
          </a:prstGeom>
          <a:no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5000" b="1" dirty="0"/>
              <a:t>Data analysis: </a:t>
            </a:r>
            <a:r>
              <a:rPr lang="en-US" sz="5000" b="1" dirty="0" err="1"/>
              <a:t>bayesian</a:t>
            </a:r>
            <a:r>
              <a:rPr lang="en-US" sz="5000" b="1" dirty="0"/>
              <a:t> inference</a:t>
            </a:r>
          </a:p>
        </p:txBody>
      </p:sp>
      <p:sp>
        <p:nvSpPr>
          <p:cNvPr id="3" name="TextBox 2">
            <a:extLst>
              <a:ext uri="{FF2B5EF4-FFF2-40B4-BE49-F238E27FC236}">
                <a16:creationId xmlns:a16="http://schemas.microsoft.com/office/drawing/2014/main" id="{9B916EAB-DE57-7EFF-10BF-31076C3475E3}"/>
              </a:ext>
            </a:extLst>
          </p:cNvPr>
          <p:cNvSpPr txBox="1"/>
          <p:nvPr/>
        </p:nvSpPr>
        <p:spPr>
          <a:xfrm>
            <a:off x="108270" y="1010647"/>
            <a:ext cx="11947373" cy="2308324"/>
          </a:xfrm>
          <a:prstGeom prst="rect">
            <a:avLst/>
          </a:prstGeom>
          <a:noFill/>
        </p:spPr>
        <p:txBody>
          <a:bodyPr wrap="square" rtlCol="0">
            <a:spAutoFit/>
          </a:bodyPr>
          <a:lstStyle/>
          <a:p>
            <a:r>
              <a:rPr lang="en-US" sz="3600" dirty="0"/>
              <a:t>The recourse to the prior distribution on the parameters of a model is questionable. There is in fact a major step from the notion of an </a:t>
            </a:r>
            <a:r>
              <a:rPr lang="en-US" sz="3600" i="1" dirty="0"/>
              <a:t>unknown</a:t>
            </a:r>
            <a:r>
              <a:rPr lang="en-US" sz="3600" dirty="0"/>
              <a:t> parameter to the notion of a </a:t>
            </a:r>
            <a:r>
              <a:rPr lang="en-US" sz="3600" i="1" dirty="0"/>
              <a:t>random</a:t>
            </a:r>
            <a:r>
              <a:rPr lang="en-US" sz="3600" dirty="0"/>
              <a:t> parameter.</a:t>
            </a:r>
            <a:endParaRPr lang="en-US" sz="2800" dirty="0"/>
          </a:p>
        </p:txBody>
      </p:sp>
      <p:sp>
        <p:nvSpPr>
          <p:cNvPr id="4" name="TextBox 3">
            <a:extLst>
              <a:ext uri="{FF2B5EF4-FFF2-40B4-BE49-F238E27FC236}">
                <a16:creationId xmlns:a16="http://schemas.microsoft.com/office/drawing/2014/main" id="{84C4948B-71D5-CAD8-813E-4AF09800BDA5}"/>
              </a:ext>
            </a:extLst>
          </p:cNvPr>
          <p:cNvSpPr txBox="1"/>
          <p:nvPr/>
        </p:nvSpPr>
        <p:spPr>
          <a:xfrm>
            <a:off x="9883943" y="149400"/>
            <a:ext cx="2171700" cy="892552"/>
          </a:xfrm>
          <a:prstGeom prst="rect">
            <a:avLst/>
          </a:prstGeom>
          <a:solidFill>
            <a:schemeClr val="accent4">
              <a:lumMod val="40000"/>
              <a:lumOff val="60000"/>
            </a:schemeClr>
          </a:solidFill>
          <a:ln>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p:spPr>
        <p:txBody>
          <a:bodyPr wrap="square" rtlCol="0">
            <a:spAutoFit/>
          </a:bodyPr>
          <a:lstStyle/>
          <a:p>
            <a:pPr algn="ctr"/>
            <a:r>
              <a:rPr lang="en-US" sz="2600" dirty="0">
                <a:solidFill>
                  <a:srgbClr val="FF0000"/>
                </a:solidFill>
                <a:latin typeface="American Typewriter" panose="02090604020004020304" pitchFamily="18" charset="77"/>
              </a:rPr>
              <a:t>Additional slide</a:t>
            </a:r>
          </a:p>
        </p:txBody>
      </p:sp>
    </p:spTree>
    <p:extLst>
      <p:ext uri="{BB962C8B-B14F-4D97-AF65-F5344CB8AC3E}">
        <p14:creationId xmlns:p14="http://schemas.microsoft.com/office/powerpoint/2010/main" val="32413301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81B9D-F72A-2829-5CC3-1292F485859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FB7ABD8-6661-D500-6AF6-7306119C2765}"/>
              </a:ext>
            </a:extLst>
          </p:cNvPr>
          <p:cNvSpPr>
            <a:spLocks noGrp="1"/>
          </p:cNvSpPr>
          <p:nvPr>
            <p:ph type="title"/>
          </p:nvPr>
        </p:nvSpPr>
        <p:spPr>
          <a:xfrm>
            <a:off x="7273101" y="2281573"/>
            <a:ext cx="2752638" cy="1033123"/>
          </a:xfrm>
        </p:spPr>
        <p:txBody>
          <a:bodyPr>
            <a:normAutofit fontScale="90000"/>
          </a:bodyPr>
          <a:lstStyle/>
          <a:p>
            <a:pPr algn="ctr"/>
            <a:r>
              <a:rPr lang="en-US" sz="3600" dirty="0"/>
              <a:t>Inferential Statistics</a:t>
            </a:r>
          </a:p>
        </p:txBody>
      </p:sp>
      <p:sp>
        <p:nvSpPr>
          <p:cNvPr id="5" name="Text Placeholder 4">
            <a:extLst>
              <a:ext uri="{FF2B5EF4-FFF2-40B4-BE49-F238E27FC236}">
                <a16:creationId xmlns:a16="http://schemas.microsoft.com/office/drawing/2014/main" id="{535004F7-CAD5-0ED7-176E-C947EAA4B6BF}"/>
              </a:ext>
            </a:extLst>
          </p:cNvPr>
          <p:cNvSpPr>
            <a:spLocks noGrp="1"/>
          </p:cNvSpPr>
          <p:nvPr>
            <p:ph type="body" sz="quarter" idx="22"/>
          </p:nvPr>
        </p:nvSpPr>
        <p:spPr>
          <a:xfrm>
            <a:off x="7920000" y="5328000"/>
            <a:ext cx="2947523" cy="569080"/>
          </a:xfrm>
        </p:spPr>
        <p:txBody>
          <a:bodyPr>
            <a:noAutofit/>
          </a:bodyPr>
          <a:lstStyle/>
          <a:p>
            <a:r>
              <a:rPr lang="en-US" sz="2500" dirty="0"/>
              <a:t>11.20 - 11.45</a:t>
            </a:r>
          </a:p>
        </p:txBody>
      </p:sp>
      <p:sp>
        <p:nvSpPr>
          <p:cNvPr id="13" name="Text Placeholder 2">
            <a:extLst>
              <a:ext uri="{FF2B5EF4-FFF2-40B4-BE49-F238E27FC236}">
                <a16:creationId xmlns:a16="http://schemas.microsoft.com/office/drawing/2014/main" id="{A6103797-3038-B586-AC12-251E6144CC4F}"/>
              </a:ext>
            </a:extLst>
          </p:cNvPr>
          <p:cNvSpPr>
            <a:spLocks noGrp="1"/>
          </p:cNvSpPr>
          <p:nvPr>
            <p:ph type="body" sz="quarter" idx="11"/>
          </p:nvPr>
        </p:nvSpPr>
        <p:spPr>
          <a:xfrm>
            <a:off x="7920000" y="4500000"/>
            <a:ext cx="3225109" cy="566630"/>
          </a:xfrm>
        </p:spPr>
        <p:txBody>
          <a:bodyPr>
            <a:normAutofit/>
          </a:bodyPr>
          <a:lstStyle/>
          <a:p>
            <a:r>
              <a:rPr lang="en-US" sz="2500" dirty="0"/>
              <a:t>CLT and 95% CIs</a:t>
            </a:r>
          </a:p>
        </p:txBody>
      </p:sp>
      <p:sp>
        <p:nvSpPr>
          <p:cNvPr id="18" name="TextBox 17">
            <a:extLst>
              <a:ext uri="{FF2B5EF4-FFF2-40B4-BE49-F238E27FC236}">
                <a16:creationId xmlns:a16="http://schemas.microsoft.com/office/drawing/2014/main" id="{7A146E4F-4281-C984-B7F2-31DA28963D89}"/>
              </a:ext>
            </a:extLst>
          </p:cNvPr>
          <p:cNvSpPr txBox="1"/>
          <p:nvPr/>
        </p:nvSpPr>
        <p:spPr>
          <a:xfrm>
            <a:off x="127712" y="920464"/>
            <a:ext cx="3195887" cy="461665"/>
          </a:xfrm>
          <a:prstGeom prst="rect">
            <a:avLst/>
          </a:prstGeom>
          <a:noFill/>
        </p:spPr>
        <p:txBody>
          <a:bodyPr wrap="square" rtlCol="0">
            <a:spAutoFit/>
          </a:bodyPr>
          <a:lstStyle/>
          <a:p>
            <a:pPr algn="ctr"/>
            <a:r>
              <a:rPr lang="en-US" sz="2400" dirty="0"/>
              <a:t>1) Statistical distribution </a:t>
            </a:r>
          </a:p>
        </p:txBody>
      </p:sp>
      <p:pic>
        <p:nvPicPr>
          <p:cNvPr id="19" name="Picture 2" descr="Binomial distribution - Wikipedia">
            <a:extLst>
              <a:ext uri="{FF2B5EF4-FFF2-40B4-BE49-F238E27FC236}">
                <a16:creationId xmlns:a16="http://schemas.microsoft.com/office/drawing/2014/main" id="{76111DE9-F790-1B99-D059-C1F2047C41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60421" y="592072"/>
            <a:ext cx="2176908" cy="1449482"/>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4" descr="The History of the Coin Flip – Heads or Tails? - Hattons of London">
            <a:extLst>
              <a:ext uri="{FF2B5EF4-FFF2-40B4-BE49-F238E27FC236}">
                <a16:creationId xmlns:a16="http://schemas.microsoft.com/office/drawing/2014/main" id="{F31F36AC-EF77-F8A6-C1A9-6C8D162B17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04311" y="3738321"/>
            <a:ext cx="2187508" cy="1455687"/>
          </a:xfrm>
          <a:prstGeom prst="rect">
            <a:avLst/>
          </a:prstGeom>
          <a:noFill/>
          <a:extLst>
            <a:ext uri="{909E8E84-426E-40DD-AFC4-6F175D3DCCD1}">
              <a14:hiddenFill xmlns:a14="http://schemas.microsoft.com/office/drawing/2010/main">
                <a:solidFill>
                  <a:srgbClr val="FFFFFF"/>
                </a:solidFill>
              </a14:hiddenFill>
            </a:ext>
          </a:extLst>
        </p:spPr>
      </p:pic>
      <p:cxnSp>
        <p:nvCxnSpPr>
          <p:cNvPr id="23" name="Straight Arrow Connector 22">
            <a:extLst>
              <a:ext uri="{FF2B5EF4-FFF2-40B4-BE49-F238E27FC236}">
                <a16:creationId xmlns:a16="http://schemas.microsoft.com/office/drawing/2014/main" id="{F6162EC8-E617-7FAF-668C-D93520C3A19C}"/>
              </a:ext>
            </a:extLst>
          </p:cNvPr>
          <p:cNvCxnSpPr>
            <a:cxnSpLocks/>
          </p:cNvCxnSpPr>
          <p:nvPr/>
        </p:nvCxnSpPr>
        <p:spPr>
          <a:xfrm>
            <a:off x="4848875" y="2232586"/>
            <a:ext cx="0" cy="1327041"/>
          </a:xfrm>
          <a:prstGeom prst="straightConnector1">
            <a:avLst/>
          </a:prstGeom>
          <a:ln w="25400">
            <a:solidFill>
              <a:schemeClr val="tx1"/>
            </a:solidFill>
            <a:prstDash val="sysDash"/>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765BC74-A86B-A5A8-524F-8CB8AD14F244}"/>
              </a:ext>
            </a:extLst>
          </p:cNvPr>
          <p:cNvCxnSpPr>
            <a:cxnSpLocks/>
          </p:cNvCxnSpPr>
          <p:nvPr/>
        </p:nvCxnSpPr>
        <p:spPr>
          <a:xfrm>
            <a:off x="1828798" y="4466164"/>
            <a:ext cx="1690460" cy="0"/>
          </a:xfrm>
          <a:prstGeom prst="line">
            <a:avLst/>
          </a:prstGeom>
          <a:ln w="63500">
            <a:solidFill>
              <a:schemeClr val="accent1">
                <a:lumMod val="40000"/>
                <a:lumOff val="60000"/>
              </a:schemeClr>
            </a:solidFill>
            <a:headEnd type="none"/>
            <a:tailEnd type="ova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3F75CA8D-D197-F579-2AD4-EAE0BAFB9B6B}"/>
              </a:ext>
            </a:extLst>
          </p:cNvPr>
          <p:cNvSpPr txBox="1"/>
          <p:nvPr/>
        </p:nvSpPr>
        <p:spPr>
          <a:xfrm>
            <a:off x="293418" y="4631939"/>
            <a:ext cx="3201392" cy="461665"/>
          </a:xfrm>
          <a:prstGeom prst="rect">
            <a:avLst/>
          </a:prstGeom>
          <a:solidFill>
            <a:schemeClr val="accent1">
              <a:lumMod val="20000"/>
              <a:lumOff val="80000"/>
            </a:schemeClr>
          </a:solidFill>
          <a:ln>
            <a:solidFill>
              <a:schemeClr val="accent1">
                <a:lumMod val="20000"/>
                <a:lumOff val="80000"/>
              </a:schemeClr>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r"/>
            <a:r>
              <a:rPr lang="en-US" sz="2400" b="1" dirty="0"/>
              <a:t>3) Frequentist inference</a:t>
            </a:r>
          </a:p>
        </p:txBody>
      </p:sp>
      <p:sp>
        <p:nvSpPr>
          <p:cNvPr id="29" name="TextBox 28">
            <a:extLst>
              <a:ext uri="{FF2B5EF4-FFF2-40B4-BE49-F238E27FC236}">
                <a16:creationId xmlns:a16="http://schemas.microsoft.com/office/drawing/2014/main" id="{34F36B7C-1D8B-7563-570F-20AEF6AB7CC0}"/>
              </a:ext>
            </a:extLst>
          </p:cNvPr>
          <p:cNvSpPr txBox="1"/>
          <p:nvPr/>
        </p:nvSpPr>
        <p:spPr>
          <a:xfrm>
            <a:off x="5016191" y="2434146"/>
            <a:ext cx="1653075" cy="830997"/>
          </a:xfrm>
          <a:prstGeom prst="rect">
            <a:avLst/>
          </a:prstGeom>
          <a:noFill/>
        </p:spPr>
        <p:txBody>
          <a:bodyPr wrap="square" rtlCol="0">
            <a:spAutoFit/>
          </a:bodyPr>
          <a:lstStyle/>
          <a:p>
            <a:r>
              <a:rPr lang="en-US" sz="2400" dirty="0"/>
              <a:t>2) Data generation</a:t>
            </a:r>
          </a:p>
        </p:txBody>
      </p:sp>
      <p:cxnSp>
        <p:nvCxnSpPr>
          <p:cNvPr id="36" name="Straight Arrow Connector 35">
            <a:extLst>
              <a:ext uri="{FF2B5EF4-FFF2-40B4-BE49-F238E27FC236}">
                <a16:creationId xmlns:a16="http://schemas.microsoft.com/office/drawing/2014/main" id="{8BED756E-0E24-6F88-32E2-7DCACC70D41B}"/>
              </a:ext>
            </a:extLst>
          </p:cNvPr>
          <p:cNvCxnSpPr/>
          <p:nvPr/>
        </p:nvCxnSpPr>
        <p:spPr>
          <a:xfrm flipV="1">
            <a:off x="1828798" y="1512000"/>
            <a:ext cx="0" cy="2988000"/>
          </a:xfrm>
          <a:prstGeom prst="straightConnector1">
            <a:avLst/>
          </a:prstGeom>
          <a:ln w="63500">
            <a:solidFill>
              <a:schemeClr val="accent1">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93440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285C570-5CC2-650C-8474-D67489B2E390}"/>
              </a:ext>
            </a:extLst>
          </p:cNvPr>
          <p:cNvSpPr txBox="1">
            <a:spLocks/>
          </p:cNvSpPr>
          <p:nvPr/>
        </p:nvSpPr>
        <p:spPr>
          <a:xfrm>
            <a:off x="24064" y="37923"/>
            <a:ext cx="12192000" cy="721895"/>
          </a:xfrm>
          <a:prstGeom prst="rect">
            <a:avLst/>
          </a:prstGeom>
          <a:solidFill>
            <a:schemeClr val="bg1"/>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Central limit theorem (CLT)</a:t>
            </a:r>
          </a:p>
        </p:txBody>
      </p:sp>
      <p:sp>
        <p:nvSpPr>
          <p:cNvPr id="6" name="TextBox 5">
            <a:extLst>
              <a:ext uri="{FF2B5EF4-FFF2-40B4-BE49-F238E27FC236}">
                <a16:creationId xmlns:a16="http://schemas.microsoft.com/office/drawing/2014/main" id="{745DAF3D-30C8-D63E-3C5D-C62F1B9B1BE4}"/>
              </a:ext>
            </a:extLst>
          </p:cNvPr>
          <p:cNvSpPr txBox="1"/>
          <p:nvPr/>
        </p:nvSpPr>
        <p:spPr>
          <a:xfrm>
            <a:off x="690428" y="1299821"/>
            <a:ext cx="10711749" cy="1138773"/>
          </a:xfrm>
          <a:prstGeom prst="rect">
            <a:avLst/>
          </a:prstGeom>
          <a:noFill/>
          <a:ln>
            <a:solidFill>
              <a:schemeClr val="tx1"/>
            </a:solidFill>
          </a:ln>
        </p:spPr>
        <p:txBody>
          <a:bodyPr wrap="square" rtlCol="0">
            <a:spAutoFit/>
          </a:bodyPr>
          <a:lstStyle/>
          <a:p>
            <a:pPr algn="ctr"/>
            <a:r>
              <a:rPr lang="en-US" sz="3400" dirty="0"/>
              <a:t>Let X</a:t>
            </a:r>
            <a:r>
              <a:rPr lang="en-US" sz="3400" baseline="-25000" dirty="0"/>
              <a:t>1</a:t>
            </a:r>
            <a:r>
              <a:rPr lang="en-US" sz="3400" dirty="0"/>
              <a:t>,…,</a:t>
            </a:r>
            <a:r>
              <a:rPr lang="en-US" sz="3400" dirty="0" err="1"/>
              <a:t>X</a:t>
            </a:r>
            <a:r>
              <a:rPr lang="en-US" sz="3400" baseline="-25000" dirty="0" err="1"/>
              <a:t>n</a:t>
            </a:r>
            <a:r>
              <a:rPr lang="en-US" sz="3400" dirty="0"/>
              <a:t> be independent and identically distributed random variables with mean 𝛍 and standard deviation 𝛔 </a:t>
            </a:r>
            <a:endParaRPr lang="en-US" sz="3400" baseline="-25000" dirty="0"/>
          </a:p>
        </p:txBody>
      </p:sp>
      <p:sp>
        <p:nvSpPr>
          <p:cNvPr id="7" name="TextBox 6">
            <a:extLst>
              <a:ext uri="{FF2B5EF4-FFF2-40B4-BE49-F238E27FC236}">
                <a16:creationId xmlns:a16="http://schemas.microsoft.com/office/drawing/2014/main" id="{6ACE6BD3-0F1A-9E6E-9D3B-F75775DC091E}"/>
              </a:ext>
            </a:extLst>
          </p:cNvPr>
          <p:cNvSpPr txBox="1"/>
          <p:nvPr/>
        </p:nvSpPr>
        <p:spPr>
          <a:xfrm>
            <a:off x="690428" y="3191333"/>
            <a:ext cx="10711748" cy="1138773"/>
          </a:xfrm>
          <a:prstGeom prst="rect">
            <a:avLst/>
          </a:prstGeom>
          <a:noFill/>
          <a:ln>
            <a:solidFill>
              <a:schemeClr val="tx1"/>
            </a:solidFill>
          </a:ln>
        </p:spPr>
        <p:txBody>
          <a:bodyPr wrap="square" rtlCol="0">
            <a:spAutoFit/>
          </a:bodyPr>
          <a:lstStyle/>
          <a:p>
            <a:pPr algn="ctr"/>
            <a:r>
              <a:rPr lang="en-GB" sz="3400" b="0" i="0" u="none" strike="noStrike" dirty="0">
                <a:solidFill>
                  <a:srgbClr val="202124"/>
                </a:solidFill>
                <a:effectLst/>
              </a:rPr>
              <a:t>The sample mean </a:t>
            </a:r>
            <a:r>
              <a:rPr lang="en-GB" sz="3400" b="0" i="0" u="none" strike="noStrike" dirty="0" err="1">
                <a:solidFill>
                  <a:srgbClr val="202124"/>
                </a:solidFill>
                <a:effectLst/>
              </a:rPr>
              <a:t>ẋ</a:t>
            </a:r>
            <a:r>
              <a:rPr lang="en-GB" sz="3400" dirty="0">
                <a:solidFill>
                  <a:srgbClr val="202124"/>
                </a:solidFill>
              </a:rPr>
              <a:t> </a:t>
            </a:r>
            <a:r>
              <a:rPr lang="en-GB" sz="3400" b="0" i="0" u="none" strike="noStrike" dirty="0">
                <a:solidFill>
                  <a:srgbClr val="202124"/>
                </a:solidFill>
                <a:effectLst/>
              </a:rPr>
              <a:t>is </a:t>
            </a:r>
            <a:r>
              <a:rPr lang="en-GB" sz="3400" b="0" i="0" u="none" strike="noStrike" dirty="0">
                <a:solidFill>
                  <a:srgbClr val="040C28"/>
                </a:solidFill>
                <a:effectLst/>
              </a:rPr>
              <a:t>a statistic obtained by calculating the arithmetic average of the values of </a:t>
            </a:r>
            <a:r>
              <a:rPr lang="en-US" sz="3400" dirty="0"/>
              <a:t>X</a:t>
            </a:r>
            <a:r>
              <a:rPr lang="en-US" sz="3400" baseline="-25000" dirty="0"/>
              <a:t>1</a:t>
            </a:r>
            <a:r>
              <a:rPr lang="en-US" sz="3400" dirty="0"/>
              <a:t>,…,</a:t>
            </a:r>
            <a:r>
              <a:rPr lang="en-US" sz="3400" dirty="0" err="1"/>
              <a:t>X</a:t>
            </a:r>
            <a:r>
              <a:rPr lang="en-US" sz="3400" baseline="-25000" dirty="0" err="1"/>
              <a:t>n</a:t>
            </a:r>
            <a:r>
              <a:rPr lang="en-US" sz="3400" baseline="-25000" dirty="0"/>
              <a:t> </a:t>
            </a:r>
            <a:r>
              <a:rPr lang="en-US" sz="3400" dirty="0"/>
              <a:t>in a sample</a:t>
            </a:r>
          </a:p>
        </p:txBody>
      </p:sp>
      <p:sp>
        <p:nvSpPr>
          <p:cNvPr id="9" name="TextBox 8">
            <a:extLst>
              <a:ext uri="{FF2B5EF4-FFF2-40B4-BE49-F238E27FC236}">
                <a16:creationId xmlns:a16="http://schemas.microsoft.com/office/drawing/2014/main" id="{D6D89E40-FE77-59C5-BB7D-38B10A5A51F5}"/>
              </a:ext>
            </a:extLst>
          </p:cNvPr>
          <p:cNvSpPr txBox="1"/>
          <p:nvPr/>
        </p:nvSpPr>
        <p:spPr>
          <a:xfrm>
            <a:off x="694434" y="5120163"/>
            <a:ext cx="10680035" cy="1138773"/>
          </a:xfrm>
          <a:prstGeom prst="rect">
            <a:avLst/>
          </a:prstGeom>
          <a:solidFill>
            <a:schemeClr val="accent1">
              <a:lumMod val="20000"/>
              <a:lumOff val="80000"/>
            </a:schemeClr>
          </a:solidFill>
          <a:ln>
            <a:solidFill>
              <a:schemeClr val="tx1"/>
            </a:solidFill>
          </a:ln>
        </p:spPr>
        <p:txBody>
          <a:bodyPr wrap="square" rtlCol="0">
            <a:spAutoFit/>
          </a:bodyPr>
          <a:lstStyle/>
          <a:p>
            <a:pPr algn="ctr"/>
            <a:r>
              <a:rPr lang="en-GB" sz="3400" b="0" i="0" u="none" strike="noStrike" dirty="0">
                <a:solidFill>
                  <a:srgbClr val="202124"/>
                </a:solidFill>
                <a:effectLst/>
              </a:rPr>
              <a:t>CLT: </a:t>
            </a:r>
            <a:r>
              <a:rPr lang="en-GB" sz="3400" b="0" i="0" u="none" strike="noStrike" dirty="0" err="1">
                <a:solidFill>
                  <a:srgbClr val="202124"/>
                </a:solidFill>
                <a:effectLst/>
              </a:rPr>
              <a:t>ẋ</a:t>
            </a:r>
            <a:r>
              <a:rPr lang="en-GB" sz="3400" dirty="0">
                <a:solidFill>
                  <a:srgbClr val="202124"/>
                </a:solidFill>
              </a:rPr>
              <a:t> </a:t>
            </a:r>
            <a:r>
              <a:rPr lang="en-GB" sz="3400" b="0" i="0" u="none" strike="noStrike" dirty="0">
                <a:solidFill>
                  <a:srgbClr val="202124"/>
                </a:solidFill>
                <a:effectLst/>
              </a:rPr>
              <a:t>is distributed as N</a:t>
            </a:r>
            <a:r>
              <a:rPr lang="en-US" sz="3400" dirty="0"/>
              <a:t> (𝛍, 𝛔/√(n)) </a:t>
            </a:r>
            <a:r>
              <a:rPr lang="en-GB" sz="3400" b="0" i="0" u="none" strike="noStrike" dirty="0">
                <a:solidFill>
                  <a:srgbClr val="040C28"/>
                </a:solidFill>
                <a:effectLst/>
              </a:rPr>
              <a:t>as the sample size n gets larger</a:t>
            </a:r>
            <a:endParaRPr lang="en-US" sz="3400" baseline="-25000" dirty="0"/>
          </a:p>
        </p:txBody>
      </p:sp>
      <p:cxnSp>
        <p:nvCxnSpPr>
          <p:cNvPr id="15" name="Straight Arrow Connector 14">
            <a:extLst>
              <a:ext uri="{FF2B5EF4-FFF2-40B4-BE49-F238E27FC236}">
                <a16:creationId xmlns:a16="http://schemas.microsoft.com/office/drawing/2014/main" id="{8D763E3C-411D-2AA3-BE0B-91FF7C1BF3AC}"/>
              </a:ext>
            </a:extLst>
          </p:cNvPr>
          <p:cNvCxnSpPr>
            <a:cxnSpLocks/>
          </p:cNvCxnSpPr>
          <p:nvPr/>
        </p:nvCxnSpPr>
        <p:spPr>
          <a:xfrm>
            <a:off x="6068545" y="2552893"/>
            <a:ext cx="0" cy="55604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75A0C8BD-A045-0373-6532-40AFB3C370A5}"/>
              </a:ext>
            </a:extLst>
          </p:cNvPr>
          <p:cNvCxnSpPr>
            <a:cxnSpLocks/>
          </p:cNvCxnSpPr>
          <p:nvPr/>
        </p:nvCxnSpPr>
        <p:spPr>
          <a:xfrm>
            <a:off x="6096253" y="4453378"/>
            <a:ext cx="0" cy="55604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65448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6CD62CE7-CD0A-79C1-9D2E-B87AFB77D2E0}"/>
              </a:ext>
            </a:extLst>
          </p:cNvPr>
          <p:cNvSpPr txBox="1">
            <a:spLocks/>
          </p:cNvSpPr>
          <p:nvPr/>
        </p:nvSpPr>
        <p:spPr>
          <a:xfrm>
            <a:off x="986497" y="1967266"/>
            <a:ext cx="2628900" cy="2547257"/>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sz="3600" b="1" kern="1200" dirty="0">
                <a:solidFill>
                  <a:srgbClr val="FFFFFF"/>
                </a:solidFill>
                <a:latin typeface="+mj-lt"/>
                <a:ea typeface="+mj-ea"/>
                <a:cs typeface="+mj-cs"/>
              </a:rPr>
              <a:t>Central limit theorem</a:t>
            </a:r>
          </a:p>
        </p:txBody>
      </p:sp>
      <p:sp>
        <p:nvSpPr>
          <p:cNvPr id="2" name="TextBox 1">
            <a:extLst>
              <a:ext uri="{FF2B5EF4-FFF2-40B4-BE49-F238E27FC236}">
                <a16:creationId xmlns:a16="http://schemas.microsoft.com/office/drawing/2014/main" id="{00DB69A1-1B1A-B3D7-0761-1E36BB920201}"/>
              </a:ext>
            </a:extLst>
          </p:cNvPr>
          <p:cNvSpPr txBox="1"/>
          <p:nvPr/>
        </p:nvSpPr>
        <p:spPr>
          <a:xfrm>
            <a:off x="12029" y="5730780"/>
            <a:ext cx="12069127" cy="892552"/>
          </a:xfrm>
          <a:prstGeom prst="rect">
            <a:avLst/>
          </a:prstGeom>
          <a:noFill/>
        </p:spPr>
        <p:txBody>
          <a:bodyPr wrap="square" rtlCol="0">
            <a:spAutoFit/>
          </a:bodyPr>
          <a:lstStyle/>
          <a:p>
            <a:pPr algn="ctr"/>
            <a:r>
              <a:rPr lang="en-US" sz="2550" b="1" dirty="0"/>
              <a:t>The usefulness of the CLT is that the distribution of sample means approaches normality regardless of the distribution of the population</a:t>
            </a:r>
          </a:p>
        </p:txBody>
      </p:sp>
      <p:pic>
        <p:nvPicPr>
          <p:cNvPr id="4" name="Picture 3" descr="A diagram of normal distribution&#10;&#10;Description automatically generated">
            <a:extLst>
              <a:ext uri="{FF2B5EF4-FFF2-40B4-BE49-F238E27FC236}">
                <a16:creationId xmlns:a16="http://schemas.microsoft.com/office/drawing/2014/main" id="{D68C422F-C78A-7584-3003-E9F3B1E70265}"/>
              </a:ext>
            </a:extLst>
          </p:cNvPr>
          <p:cNvPicPr>
            <a:picLocks noChangeAspect="1"/>
          </p:cNvPicPr>
          <p:nvPr/>
        </p:nvPicPr>
        <p:blipFill>
          <a:blip r:embed="rId3"/>
          <a:stretch>
            <a:fillRect/>
          </a:stretch>
        </p:blipFill>
        <p:spPr>
          <a:xfrm>
            <a:off x="4891411" y="1147714"/>
            <a:ext cx="5694028" cy="4208057"/>
          </a:xfrm>
          <a:prstGeom prst="rect">
            <a:avLst/>
          </a:prstGeom>
          <a:ln>
            <a:solidFill>
              <a:schemeClr val="tx1"/>
            </a:solidFill>
          </a:ln>
        </p:spPr>
      </p:pic>
      <p:sp>
        <p:nvSpPr>
          <p:cNvPr id="5" name="Title 1">
            <a:extLst>
              <a:ext uri="{FF2B5EF4-FFF2-40B4-BE49-F238E27FC236}">
                <a16:creationId xmlns:a16="http://schemas.microsoft.com/office/drawing/2014/main" id="{CEBFF65D-B0C7-F0C9-F475-0B4057BC3243}"/>
              </a:ext>
            </a:extLst>
          </p:cNvPr>
          <p:cNvSpPr txBox="1">
            <a:spLocks/>
          </p:cNvSpPr>
          <p:nvPr/>
        </p:nvSpPr>
        <p:spPr>
          <a:xfrm>
            <a:off x="24064" y="37923"/>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Central limit theorem (CLT)</a:t>
            </a:r>
          </a:p>
        </p:txBody>
      </p:sp>
    </p:spTree>
    <p:extLst>
      <p:ext uri="{BB962C8B-B14F-4D97-AF65-F5344CB8AC3E}">
        <p14:creationId xmlns:p14="http://schemas.microsoft.com/office/powerpoint/2010/main" val="1273307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A6989EC-8883-381E-AD15-DFB867DE6FA8}"/>
              </a:ext>
            </a:extLst>
          </p:cNvPr>
          <p:cNvSpPr txBox="1">
            <a:spLocks/>
          </p:cNvSpPr>
          <p:nvPr/>
        </p:nvSpPr>
        <p:spPr>
          <a:xfrm>
            <a:off x="14068" y="38136"/>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Confidence intervals (CIs)</a:t>
            </a:r>
          </a:p>
        </p:txBody>
      </p:sp>
      <p:sp>
        <p:nvSpPr>
          <p:cNvPr id="5" name="TextBox 4">
            <a:extLst>
              <a:ext uri="{FF2B5EF4-FFF2-40B4-BE49-F238E27FC236}">
                <a16:creationId xmlns:a16="http://schemas.microsoft.com/office/drawing/2014/main" id="{3E79993F-4D1A-F599-4425-629E0B8AF89F}"/>
              </a:ext>
            </a:extLst>
          </p:cNvPr>
          <p:cNvSpPr txBox="1"/>
          <p:nvPr/>
        </p:nvSpPr>
        <p:spPr>
          <a:xfrm>
            <a:off x="238593" y="968449"/>
            <a:ext cx="11831488" cy="954107"/>
          </a:xfrm>
          <a:prstGeom prst="rect">
            <a:avLst/>
          </a:prstGeom>
          <a:noFill/>
        </p:spPr>
        <p:txBody>
          <a:bodyPr wrap="square" rtlCol="0">
            <a:spAutoFit/>
          </a:bodyPr>
          <a:lstStyle/>
          <a:p>
            <a:r>
              <a:rPr lang="en-US" sz="2800" dirty="0"/>
              <a:t>In frequentist inference, a confidence interval (CI) is a </a:t>
            </a:r>
            <a:r>
              <a:rPr lang="en-US" sz="2800" b="1" dirty="0"/>
              <a:t>range of estimates </a:t>
            </a:r>
            <a:r>
              <a:rPr lang="en-US" sz="2800" dirty="0"/>
              <a:t>for an unknown parameter </a:t>
            </a:r>
            <a:r>
              <a:rPr lang="en-US" sz="2800" dirty="0" err="1"/>
              <a:t>Θ</a:t>
            </a:r>
            <a:r>
              <a:rPr lang="en-US" sz="2800" dirty="0"/>
              <a:t>.</a:t>
            </a:r>
          </a:p>
        </p:txBody>
      </p:sp>
      <p:sp>
        <p:nvSpPr>
          <p:cNvPr id="3" name="TextBox 2">
            <a:extLst>
              <a:ext uri="{FF2B5EF4-FFF2-40B4-BE49-F238E27FC236}">
                <a16:creationId xmlns:a16="http://schemas.microsoft.com/office/drawing/2014/main" id="{C723B077-0982-0CD6-8DA2-3A62E76F6434}"/>
              </a:ext>
            </a:extLst>
          </p:cNvPr>
          <p:cNvSpPr txBox="1"/>
          <p:nvPr/>
        </p:nvSpPr>
        <p:spPr>
          <a:xfrm>
            <a:off x="-1" y="6476323"/>
            <a:ext cx="6826103" cy="377026"/>
          </a:xfrm>
          <a:prstGeom prst="rect">
            <a:avLst/>
          </a:prstGeom>
          <a:noFill/>
        </p:spPr>
        <p:txBody>
          <a:bodyPr wrap="square">
            <a:spAutoFit/>
          </a:bodyPr>
          <a:lstStyle/>
          <a:p>
            <a:r>
              <a:rPr lang="en-US" sz="1850" dirty="0"/>
              <a:t>https://</a:t>
            </a:r>
            <a:r>
              <a:rPr lang="en-US" sz="1850" dirty="0" err="1"/>
              <a:t>en.wikipedia.org</a:t>
            </a:r>
            <a:r>
              <a:rPr lang="en-US" sz="1850" dirty="0"/>
              <a:t>/wiki/</a:t>
            </a:r>
            <a:r>
              <a:rPr lang="en-US" sz="1850" dirty="0" err="1"/>
              <a:t>Confidence_interval</a:t>
            </a:r>
            <a:r>
              <a:rPr lang="en-US" sz="1850" dirty="0"/>
              <a:t>, 15</a:t>
            </a:r>
            <a:r>
              <a:rPr lang="en-US" sz="1850" baseline="30000" dirty="0"/>
              <a:t>th</a:t>
            </a:r>
            <a:r>
              <a:rPr lang="en-US" sz="1850" dirty="0"/>
              <a:t> August 2024</a:t>
            </a:r>
          </a:p>
        </p:txBody>
      </p:sp>
      <p:sp>
        <p:nvSpPr>
          <p:cNvPr id="6" name="TextBox 5">
            <a:extLst>
              <a:ext uri="{FF2B5EF4-FFF2-40B4-BE49-F238E27FC236}">
                <a16:creationId xmlns:a16="http://schemas.microsoft.com/office/drawing/2014/main" id="{23B25BBC-55D5-F296-CA4B-1ABB5D22F362}"/>
              </a:ext>
            </a:extLst>
          </p:cNvPr>
          <p:cNvSpPr txBox="1"/>
          <p:nvPr/>
        </p:nvSpPr>
        <p:spPr>
          <a:xfrm>
            <a:off x="194044" y="2218128"/>
            <a:ext cx="7458782" cy="3539430"/>
          </a:xfrm>
          <a:prstGeom prst="rect">
            <a:avLst/>
          </a:prstGeom>
          <a:noFill/>
        </p:spPr>
        <p:txBody>
          <a:bodyPr wrap="square" rtlCol="0">
            <a:spAutoFit/>
          </a:bodyPr>
          <a:lstStyle/>
          <a:p>
            <a:r>
              <a:rPr lang="en-US" sz="2800" dirty="0"/>
              <a:t>It is computed at a designated confidence level (e.g., 95% CI). The confidence level represents the long-run proportion of CIs that theoretically contain the true value of the parameter </a:t>
            </a:r>
            <a:r>
              <a:rPr lang="en-US" sz="2800" dirty="0" err="1"/>
              <a:t>Θ</a:t>
            </a:r>
            <a:r>
              <a:rPr lang="en-US" sz="2800" dirty="0"/>
              <a:t>. </a:t>
            </a:r>
          </a:p>
          <a:p>
            <a:endParaRPr lang="en-US" sz="2800" dirty="0"/>
          </a:p>
          <a:p>
            <a:r>
              <a:rPr lang="en-US" sz="2800" dirty="0"/>
              <a:t>For example, out of all intervals computed at the 95% level, 95% of them should contain the parameter’s true value.</a:t>
            </a:r>
          </a:p>
        </p:txBody>
      </p:sp>
      <p:pic>
        <p:nvPicPr>
          <p:cNvPr id="1026" name="Picture 2">
            <a:extLst>
              <a:ext uri="{FF2B5EF4-FFF2-40B4-BE49-F238E27FC236}">
                <a16:creationId xmlns:a16="http://schemas.microsoft.com/office/drawing/2014/main" id="{A3D2A518-E484-AD1F-CAE4-EA38D667CD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2831" y="2032501"/>
            <a:ext cx="4049711" cy="4049711"/>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82298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AF3C48B-7A8D-B196-9858-E721D16276F7}"/>
              </a:ext>
            </a:extLst>
          </p:cNvPr>
          <p:cNvSpPr txBox="1"/>
          <p:nvPr/>
        </p:nvSpPr>
        <p:spPr>
          <a:xfrm>
            <a:off x="112540" y="3220980"/>
            <a:ext cx="12051324" cy="615553"/>
          </a:xfrm>
          <a:prstGeom prst="rect">
            <a:avLst/>
          </a:prstGeom>
          <a:noFill/>
        </p:spPr>
        <p:txBody>
          <a:bodyPr wrap="square">
            <a:spAutoFit/>
          </a:bodyPr>
          <a:lstStyle/>
          <a:p>
            <a:r>
              <a:rPr lang="en-US" sz="3400" dirty="0"/>
              <a:t>95% CI = </a:t>
            </a:r>
            <a:r>
              <a:rPr lang="en-GB" sz="3400" b="0" i="0" u="none" strike="noStrike" dirty="0" err="1">
                <a:solidFill>
                  <a:srgbClr val="202124"/>
                </a:solidFill>
                <a:effectLst/>
              </a:rPr>
              <a:t>ẋ</a:t>
            </a:r>
            <a:r>
              <a:rPr lang="en-GB" sz="3400" b="0" i="0" u="none" strike="noStrike" dirty="0">
                <a:solidFill>
                  <a:srgbClr val="202124"/>
                </a:solidFill>
                <a:effectLst/>
              </a:rPr>
              <a:t> </a:t>
            </a:r>
            <a:r>
              <a:rPr lang="en-GB" sz="3400" u="sng" dirty="0">
                <a:solidFill>
                  <a:srgbClr val="202124"/>
                </a:solidFill>
              </a:rPr>
              <a:t>+</a:t>
            </a:r>
            <a:r>
              <a:rPr lang="en-GB" sz="3400" dirty="0">
                <a:solidFill>
                  <a:srgbClr val="202124"/>
                </a:solidFill>
              </a:rPr>
              <a:t> </a:t>
            </a:r>
            <a:r>
              <a:rPr lang="en-US" sz="3400" dirty="0"/>
              <a:t>z</a:t>
            </a:r>
            <a:r>
              <a:rPr lang="en-US" sz="3400" baseline="-25000" dirty="0"/>
              <a:t>0.975</a:t>
            </a:r>
            <a:r>
              <a:rPr lang="en-US" sz="3400" dirty="0"/>
              <a:t> ∙ 𝛔/√(n), where z</a:t>
            </a:r>
            <a:r>
              <a:rPr lang="en-US" sz="3400" baseline="-25000" dirty="0"/>
              <a:t>0.975 </a:t>
            </a:r>
            <a:r>
              <a:rPr lang="en-US" sz="3400" dirty="0"/>
              <a:t>≃ 1.96</a:t>
            </a:r>
            <a:endParaRPr lang="en-US" sz="3400" u="sng" dirty="0"/>
          </a:p>
        </p:txBody>
      </p:sp>
      <p:sp>
        <p:nvSpPr>
          <p:cNvPr id="2" name="TextBox 1">
            <a:extLst>
              <a:ext uri="{FF2B5EF4-FFF2-40B4-BE49-F238E27FC236}">
                <a16:creationId xmlns:a16="http://schemas.microsoft.com/office/drawing/2014/main" id="{0A8918AC-581A-9D0F-8994-4CBFAD7D20DD}"/>
              </a:ext>
            </a:extLst>
          </p:cNvPr>
          <p:cNvSpPr txBox="1"/>
          <p:nvPr/>
        </p:nvSpPr>
        <p:spPr>
          <a:xfrm>
            <a:off x="124631" y="1020711"/>
            <a:ext cx="11546001" cy="584775"/>
          </a:xfrm>
          <a:prstGeom prst="rect">
            <a:avLst/>
          </a:prstGeom>
          <a:noFill/>
        </p:spPr>
        <p:txBody>
          <a:bodyPr wrap="square" rtlCol="0">
            <a:spAutoFit/>
          </a:bodyPr>
          <a:lstStyle/>
          <a:p>
            <a:r>
              <a:rPr lang="en-GB" sz="3200" b="1" dirty="0">
                <a:latin typeface="AdvP4C2BEC"/>
              </a:rPr>
              <a:t>Normal data, </a:t>
            </a:r>
            <a:r>
              <a:rPr lang="en-US" sz="3200" b="1" dirty="0"/>
              <a:t>𝛔</a:t>
            </a:r>
            <a:r>
              <a:rPr lang="en-GB" sz="3200" b="1" dirty="0">
                <a:latin typeface="AdvP4C2BEC"/>
              </a:rPr>
              <a:t> known</a:t>
            </a:r>
            <a:r>
              <a:rPr lang="en-GB" sz="3200" dirty="0">
                <a:latin typeface="AdvP4C2BEC"/>
              </a:rPr>
              <a:t>: one sample z-confidence interval</a:t>
            </a:r>
            <a:endParaRPr lang="en-GB" sz="3200" dirty="0">
              <a:effectLst/>
              <a:latin typeface="AdvP4C2BEC"/>
            </a:endParaRPr>
          </a:p>
        </p:txBody>
      </p:sp>
      <p:sp>
        <p:nvSpPr>
          <p:cNvPr id="4" name="TextBox 3">
            <a:extLst>
              <a:ext uri="{FF2B5EF4-FFF2-40B4-BE49-F238E27FC236}">
                <a16:creationId xmlns:a16="http://schemas.microsoft.com/office/drawing/2014/main" id="{8B9251AC-3C31-07B3-69EA-FB5B2EF8E014}"/>
              </a:ext>
            </a:extLst>
          </p:cNvPr>
          <p:cNvSpPr txBox="1"/>
          <p:nvPr/>
        </p:nvSpPr>
        <p:spPr>
          <a:xfrm>
            <a:off x="140676" y="2009768"/>
            <a:ext cx="11296358" cy="615553"/>
          </a:xfrm>
          <a:prstGeom prst="rect">
            <a:avLst/>
          </a:prstGeom>
          <a:solidFill>
            <a:schemeClr val="accent1">
              <a:lumMod val="20000"/>
              <a:lumOff val="80000"/>
            </a:schemeClr>
          </a:solidFill>
          <a:ln>
            <a:solidFill>
              <a:schemeClr val="tx1"/>
            </a:solidFill>
          </a:ln>
        </p:spPr>
        <p:txBody>
          <a:bodyPr wrap="square" rtlCol="0">
            <a:spAutoFit/>
          </a:bodyPr>
          <a:lstStyle/>
          <a:p>
            <a:r>
              <a:rPr lang="en-GB" sz="3400" dirty="0">
                <a:solidFill>
                  <a:srgbClr val="202124"/>
                </a:solidFill>
              </a:rPr>
              <a:t>Sample </a:t>
            </a:r>
            <a:r>
              <a:rPr lang="en-GB" sz="3400" b="0" i="0" u="none" strike="noStrike" dirty="0">
                <a:solidFill>
                  <a:srgbClr val="202124"/>
                </a:solidFill>
                <a:effectLst/>
              </a:rPr>
              <a:t>mean </a:t>
            </a:r>
            <a:r>
              <a:rPr lang="en-GB" sz="3400" b="0" i="0" u="none" strike="noStrike" dirty="0" err="1">
                <a:solidFill>
                  <a:srgbClr val="202124"/>
                </a:solidFill>
                <a:effectLst/>
              </a:rPr>
              <a:t>ẋ</a:t>
            </a:r>
            <a:r>
              <a:rPr lang="en-GB" sz="3400" baseline="-25000" dirty="0">
                <a:solidFill>
                  <a:srgbClr val="202124"/>
                </a:solidFill>
              </a:rPr>
              <a:t> </a:t>
            </a:r>
            <a:r>
              <a:rPr lang="en-GB" sz="3400" b="0" i="0" u="none" strike="noStrike" dirty="0">
                <a:solidFill>
                  <a:srgbClr val="202124"/>
                </a:solidFill>
                <a:effectLst/>
              </a:rPr>
              <a:t>is </a:t>
            </a:r>
            <a:r>
              <a:rPr lang="en-GB" sz="3400" b="0" i="0" u="sng" strike="noStrike" dirty="0">
                <a:solidFill>
                  <a:srgbClr val="202124"/>
                </a:solidFill>
                <a:effectLst/>
              </a:rPr>
              <a:t>exactly</a:t>
            </a:r>
            <a:r>
              <a:rPr lang="en-GB" sz="3400" b="0" i="0" u="none" strike="noStrike" dirty="0">
                <a:solidFill>
                  <a:srgbClr val="202124"/>
                </a:solidFill>
                <a:effectLst/>
              </a:rPr>
              <a:t> distributed according to N</a:t>
            </a:r>
            <a:r>
              <a:rPr lang="en-US" sz="3400" dirty="0"/>
              <a:t> (𝛍, 𝛔/√(n))</a:t>
            </a:r>
            <a:endParaRPr lang="en-US" sz="3400" baseline="-25000" dirty="0"/>
          </a:p>
        </p:txBody>
      </p:sp>
      <p:sp>
        <p:nvSpPr>
          <p:cNvPr id="5" name="TextBox 4">
            <a:extLst>
              <a:ext uri="{FF2B5EF4-FFF2-40B4-BE49-F238E27FC236}">
                <a16:creationId xmlns:a16="http://schemas.microsoft.com/office/drawing/2014/main" id="{4135A9C2-A16F-49E2-A83B-88AB9CD890CC}"/>
              </a:ext>
            </a:extLst>
          </p:cNvPr>
          <p:cNvSpPr txBox="1"/>
          <p:nvPr/>
        </p:nvSpPr>
        <p:spPr>
          <a:xfrm>
            <a:off x="5788855" y="5407223"/>
            <a:ext cx="4484326" cy="615553"/>
          </a:xfrm>
          <a:prstGeom prst="rect">
            <a:avLst/>
          </a:prstGeom>
          <a:noFill/>
        </p:spPr>
        <p:txBody>
          <a:bodyPr wrap="square" rtlCol="0">
            <a:spAutoFit/>
          </a:bodyPr>
          <a:lstStyle/>
          <a:p>
            <a:pPr algn="r"/>
            <a:r>
              <a:rPr lang="en-US" sz="3400" dirty="0"/>
              <a:t>If you do not know 𝛔…</a:t>
            </a:r>
          </a:p>
        </p:txBody>
      </p:sp>
      <p:pic>
        <p:nvPicPr>
          <p:cNvPr id="2050" name="Picture 2" descr="What is a good question? | Dragonfly Training">
            <a:extLst>
              <a:ext uri="{FF2B5EF4-FFF2-40B4-BE49-F238E27FC236}">
                <a16:creationId xmlns:a16="http://schemas.microsoft.com/office/drawing/2014/main" id="{A1CC018F-3CC9-58B6-B242-0EBFB9CBB1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0" y="4572000"/>
            <a:ext cx="2286000" cy="2286000"/>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D94CBCBB-8A49-23BE-91E5-6918BCC61798}"/>
              </a:ext>
            </a:extLst>
          </p:cNvPr>
          <p:cNvSpPr txBox="1">
            <a:spLocks/>
          </p:cNvSpPr>
          <p:nvPr/>
        </p:nvSpPr>
        <p:spPr>
          <a:xfrm>
            <a:off x="14068" y="38136"/>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700" b="1" dirty="0"/>
              <a:t>Confidence intervals for the normal distribution</a:t>
            </a:r>
          </a:p>
        </p:txBody>
      </p:sp>
    </p:spTree>
    <p:extLst>
      <p:ext uri="{BB962C8B-B14F-4D97-AF65-F5344CB8AC3E}">
        <p14:creationId xmlns:p14="http://schemas.microsoft.com/office/powerpoint/2010/main" val="7807713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F5677195-3CE7-AB1B-9719-86C0C6174C77}"/>
              </a:ext>
            </a:extLst>
          </p:cNvPr>
          <p:cNvSpPr>
            <a:spLocks noChangeArrowheads="1"/>
          </p:cNvSpPr>
          <p:nvPr/>
        </p:nvSpPr>
        <p:spPr bwMode="auto">
          <a:xfrm>
            <a:off x="147926" y="1111719"/>
            <a:ext cx="12062735"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202122"/>
                </a:solidFill>
                <a:effectLst/>
                <a:latin typeface="+mn-lt"/>
              </a:rPr>
              <a:t>Let x</a:t>
            </a:r>
            <a:r>
              <a:rPr kumimoji="0" lang="en-US" altLang="en-US" sz="2800" b="0" i="0" u="none" strike="noStrike" cap="none" normalizeH="0" baseline="-25000" dirty="0">
                <a:ln>
                  <a:noFill/>
                </a:ln>
                <a:solidFill>
                  <a:srgbClr val="202122"/>
                </a:solidFill>
                <a:effectLst/>
                <a:latin typeface="+mn-lt"/>
              </a:rPr>
              <a:t>1</a:t>
            </a:r>
            <a:r>
              <a:rPr kumimoji="0" lang="en-US" altLang="en-US" sz="2800" b="0" i="0" u="none" strike="noStrike" cap="none" normalizeH="0" baseline="0" dirty="0">
                <a:ln>
                  <a:noFill/>
                </a:ln>
                <a:solidFill>
                  <a:srgbClr val="202122"/>
                </a:solidFill>
                <a:effectLst/>
                <a:latin typeface="+mn-lt"/>
              </a:rPr>
              <a:t>,…,</a:t>
            </a:r>
            <a:r>
              <a:rPr kumimoji="0" lang="en-US" altLang="en-US" sz="2800" b="0" i="0" u="none" strike="noStrike" cap="none" normalizeH="0" baseline="0" dirty="0" err="1">
                <a:ln>
                  <a:noFill/>
                </a:ln>
                <a:solidFill>
                  <a:srgbClr val="202122"/>
                </a:solidFill>
                <a:effectLst/>
                <a:latin typeface="+mn-lt"/>
              </a:rPr>
              <a:t>x</a:t>
            </a:r>
            <a:r>
              <a:rPr kumimoji="0" lang="en-US" altLang="en-US" sz="2800" b="0" i="0" u="none" strike="noStrike" cap="none" normalizeH="0" baseline="-25000" dirty="0" err="1">
                <a:ln>
                  <a:noFill/>
                </a:ln>
                <a:solidFill>
                  <a:srgbClr val="202122"/>
                </a:solidFill>
                <a:effectLst/>
                <a:latin typeface="+mn-lt"/>
              </a:rPr>
              <a:t>n</a:t>
            </a:r>
            <a:r>
              <a:rPr kumimoji="0" lang="en-US" altLang="en-US" sz="2800" b="0" i="0" u="none" strike="noStrike" cap="none" normalizeH="0" baseline="0" dirty="0">
                <a:ln>
                  <a:noFill/>
                </a:ln>
                <a:solidFill>
                  <a:srgbClr val="202122"/>
                </a:solidFill>
                <a:effectLst/>
                <a:latin typeface="+mn-lt"/>
              </a:rPr>
              <a:t> </a:t>
            </a:r>
            <a:r>
              <a:rPr kumimoji="0" lang="en-US" altLang="en-US" sz="2800" b="0" i="0" u="none" strike="noStrike" cap="none" normalizeH="0" baseline="0" dirty="0">
                <a:ln>
                  <a:noFill/>
                </a:ln>
                <a:solidFill>
                  <a:srgbClr val="202122"/>
                </a:solidFill>
                <a:effectLst/>
                <a:latin typeface="+mn-lt"/>
                <a:cs typeface="Arial" panose="020B0604020202020204" pitchFamily="34" charset="0"/>
              </a:rPr>
              <a:t>be independent and identically distributed observations from a normal distribution with mean </a:t>
            </a:r>
            <a:r>
              <a:rPr kumimoji="0" lang="en-US" altLang="en-US" sz="2800" b="1" i="0" u="none" strike="noStrike" cap="none" normalizeH="0" baseline="0" dirty="0">
                <a:ln>
                  <a:noFill/>
                </a:ln>
                <a:solidFill>
                  <a:srgbClr val="202122"/>
                </a:solidFill>
                <a:effectLst/>
                <a:latin typeface="+mn-lt"/>
                <a:cs typeface="Arial" panose="020B0604020202020204" pitchFamily="34" charset="0"/>
              </a:rPr>
              <a:t>𝜇</a:t>
            </a:r>
            <a:r>
              <a:rPr kumimoji="0" lang="en-US" altLang="en-US" sz="2800" b="0" i="0" u="none" strike="noStrike" cap="none" normalizeH="0" baseline="0" dirty="0">
                <a:ln>
                  <a:noFill/>
                </a:ln>
                <a:solidFill>
                  <a:srgbClr val="202122"/>
                </a:solidFill>
                <a:effectLst/>
                <a:latin typeface="+mn-lt"/>
                <a:cs typeface="Arial" panose="020B0604020202020204" pitchFamily="34" charset="0"/>
              </a:rPr>
              <a:t> and std </a:t>
            </a:r>
            <a:r>
              <a:rPr kumimoji="0" lang="en-US" altLang="en-US" sz="2800" b="1" i="0" u="none" strike="noStrike" cap="none" normalizeH="0" baseline="0" dirty="0">
                <a:ln>
                  <a:noFill/>
                </a:ln>
                <a:solidFill>
                  <a:srgbClr val="202122"/>
                </a:solidFill>
                <a:effectLst/>
                <a:latin typeface="+mn-lt"/>
                <a:cs typeface="Arial" panose="020B0604020202020204" pitchFamily="34" charset="0"/>
              </a:rPr>
              <a:t>𝜎</a:t>
            </a:r>
            <a:r>
              <a:rPr kumimoji="0" lang="en-US" altLang="en-US" sz="2800" b="0" i="0" u="none" strike="noStrike" cap="none" normalizeH="0" baseline="0" dirty="0">
                <a:ln>
                  <a:noFill/>
                </a:ln>
                <a:solidFill>
                  <a:srgbClr val="202122"/>
                </a:solidFill>
                <a:effectLst/>
                <a:latin typeface="+mn-lt"/>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rgbClr val="202122"/>
              </a:solidFill>
              <a:effectLst/>
              <a:latin typeface="+mn-l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rgbClr val="202122"/>
              </a:solidFill>
              <a:effectLst/>
              <a:latin typeface="+mn-lt"/>
              <a:cs typeface="Arial" panose="020B0604020202020204" pitchFamily="34" charset="0"/>
            </a:endParaRPr>
          </a:p>
          <a:p>
            <a:pPr marL="0" marR="0" lvl="0" indent="0" algn="l" defTabSz="914400" rtl="0" eaLnBrk="0" fontAlgn="base" latinLnBrk="0" hangingPunct="0">
              <a:spcBef>
                <a:spcPct val="0"/>
              </a:spcBef>
              <a:spcAft>
                <a:spcPct val="0"/>
              </a:spcAft>
              <a:buClrTx/>
              <a:buSzTx/>
              <a:buFontTx/>
              <a:buNone/>
              <a:tabLst/>
            </a:pPr>
            <a:r>
              <a:rPr kumimoji="0" lang="en-US" altLang="en-US" sz="2800" b="0" i="0" u="none" strike="noStrike" cap="none" normalizeH="0" baseline="0" dirty="0">
                <a:ln>
                  <a:noFill/>
                </a:ln>
                <a:solidFill>
                  <a:srgbClr val="202122"/>
                </a:solidFill>
                <a:effectLst/>
                <a:latin typeface="+mn-lt"/>
                <a:cs typeface="Arial" panose="020B0604020202020204" pitchFamily="34" charset="0"/>
              </a:rPr>
              <a:t>The sample mean and unbiased sample standard deviation</a:t>
            </a:r>
            <a:r>
              <a:rPr lang="en-US" altLang="en-US" sz="2800" dirty="0">
                <a:solidFill>
                  <a:srgbClr val="795CB2"/>
                </a:solidFill>
                <a:latin typeface="+mn-lt"/>
                <a:cs typeface="Arial" panose="020B0604020202020204" pitchFamily="34" charset="0"/>
              </a:rPr>
              <a:t> </a:t>
            </a:r>
            <a:r>
              <a:rPr kumimoji="0" lang="en-US" altLang="en-US" sz="2800" b="0" i="0" u="none" strike="noStrike" cap="none" normalizeH="0" baseline="0" dirty="0">
                <a:ln>
                  <a:noFill/>
                </a:ln>
                <a:solidFill>
                  <a:srgbClr val="202122"/>
                </a:solidFill>
                <a:effectLst/>
                <a:latin typeface="+mn-lt"/>
                <a:cs typeface="Arial" panose="020B0604020202020204" pitchFamily="34" charset="0"/>
              </a:rPr>
              <a:t>are given by:</a:t>
            </a:r>
          </a:p>
          <a:p>
            <a:pPr marL="0" marR="0" lvl="0" indent="0" algn="l" defTabSz="914400" rtl="0" eaLnBrk="0" fontAlgn="base" latinLnBrk="0" hangingPunct="0">
              <a:spcBef>
                <a:spcPct val="0"/>
              </a:spcBef>
              <a:spcAft>
                <a:spcPct val="0"/>
              </a:spcAft>
              <a:buClrTx/>
              <a:buSzTx/>
              <a:buFontTx/>
              <a:buNone/>
              <a:tabLst/>
            </a:pPr>
            <a:r>
              <a:rPr lang="en-GB" sz="2800" b="0" i="0" u="none" strike="noStrike" dirty="0" err="1">
                <a:solidFill>
                  <a:srgbClr val="202124"/>
                </a:solidFill>
                <a:effectLst/>
              </a:rPr>
              <a:t>ẋ</a:t>
            </a:r>
            <a:r>
              <a:rPr lang="en-GB" sz="2800" dirty="0">
                <a:solidFill>
                  <a:srgbClr val="202124"/>
                </a:solidFill>
              </a:rPr>
              <a:t> =</a:t>
            </a:r>
            <a:r>
              <a:rPr lang="en-US" altLang="en-US" sz="2800" dirty="0">
                <a:latin typeface="+mn-lt"/>
              </a:rPr>
              <a:t> (x</a:t>
            </a:r>
            <a:r>
              <a:rPr lang="en-US" altLang="en-US" sz="2800" baseline="-25000" dirty="0">
                <a:latin typeface="+mn-lt"/>
              </a:rPr>
              <a:t>1</a:t>
            </a:r>
            <a:r>
              <a:rPr lang="en-US" altLang="en-US" sz="2800" dirty="0">
                <a:latin typeface="+mn-lt"/>
              </a:rPr>
              <a:t>+…+</a:t>
            </a:r>
            <a:r>
              <a:rPr lang="en-US" altLang="en-US" sz="2800" dirty="0" err="1">
                <a:latin typeface="+mn-lt"/>
              </a:rPr>
              <a:t>x</a:t>
            </a:r>
            <a:r>
              <a:rPr lang="en-US" altLang="en-US" sz="2800" baseline="-25000" dirty="0" err="1">
                <a:latin typeface="+mn-lt"/>
              </a:rPr>
              <a:t>n</a:t>
            </a:r>
            <a:r>
              <a:rPr lang="en-US" altLang="en-US" sz="2800" dirty="0">
                <a:latin typeface="+mn-lt"/>
              </a:rPr>
              <a:t>)/n				[biological signal collected in the sample]</a:t>
            </a:r>
          </a:p>
          <a:p>
            <a:pPr marL="0" marR="0" lvl="0" indent="0" algn="l" defTabSz="914400" rtl="0" eaLnBrk="0" fontAlgn="base" latinLnBrk="0" hangingPunct="0">
              <a:spcBef>
                <a:spcPct val="0"/>
              </a:spcBef>
              <a:spcAft>
                <a:spcPct val="0"/>
              </a:spcAft>
              <a:buClrTx/>
              <a:buSzTx/>
              <a:buFontTx/>
              <a:buNone/>
              <a:tabLst/>
            </a:pPr>
            <a:r>
              <a:rPr lang="en-US" altLang="en-US" sz="2800" dirty="0">
                <a:latin typeface="+mn-lt"/>
              </a:rPr>
              <a:t>s</a:t>
            </a:r>
            <a:r>
              <a:rPr kumimoji="0" lang="en-US" altLang="en-US" sz="2800" b="0" i="0" u="none" strike="noStrike" cap="none" normalizeH="0" baseline="0" dirty="0">
                <a:ln>
                  <a:noFill/>
                </a:ln>
                <a:solidFill>
                  <a:schemeClr val="tx1"/>
                </a:solidFill>
                <a:effectLst/>
                <a:latin typeface="+mn-lt"/>
              </a:rPr>
              <a:t>td</a:t>
            </a:r>
            <a:r>
              <a:rPr kumimoji="0" lang="en-US" altLang="en-US" sz="2800" b="0" i="0" u="none" strike="noStrike" cap="none" normalizeH="0" baseline="30000" dirty="0">
                <a:ln>
                  <a:noFill/>
                </a:ln>
                <a:solidFill>
                  <a:schemeClr val="tx1"/>
                </a:solidFill>
                <a:effectLst/>
                <a:latin typeface="+mn-lt"/>
              </a:rPr>
              <a:t>2</a:t>
            </a:r>
            <a:r>
              <a:rPr kumimoji="0" lang="en-US" altLang="en-US" sz="2800" b="0" i="0" u="none" strike="noStrike" cap="none" normalizeH="0" baseline="0" dirty="0">
                <a:ln>
                  <a:noFill/>
                </a:ln>
                <a:solidFill>
                  <a:schemeClr val="tx1"/>
                </a:solidFill>
                <a:effectLst/>
                <a:latin typeface="+mn-lt"/>
              </a:rPr>
              <a:t> = (1/(n-1)) 𝝨</a:t>
            </a:r>
            <a:r>
              <a:rPr kumimoji="0" lang="en-US" altLang="en-US" sz="2800" b="0" i="0" u="none" strike="noStrike" cap="none" normalizeH="0" baseline="-25000" dirty="0" err="1">
                <a:ln>
                  <a:noFill/>
                </a:ln>
                <a:solidFill>
                  <a:schemeClr val="tx1"/>
                </a:solidFill>
                <a:effectLst/>
                <a:latin typeface="+mn-lt"/>
              </a:rPr>
              <a:t>i</a:t>
            </a:r>
            <a:r>
              <a:rPr kumimoji="0" lang="en-US" altLang="en-US" sz="2800" b="0" i="0" u="none" strike="noStrike" cap="none" normalizeH="0" baseline="0" dirty="0">
                <a:ln>
                  <a:noFill/>
                </a:ln>
                <a:solidFill>
                  <a:schemeClr val="tx1"/>
                </a:solidFill>
                <a:effectLst/>
                <a:latin typeface="+mn-lt"/>
              </a:rPr>
              <a:t> (x</a:t>
            </a:r>
            <a:r>
              <a:rPr kumimoji="0" lang="en-US" altLang="en-US" sz="2800" b="0" i="0" u="none" strike="noStrike" cap="none" normalizeH="0" baseline="-25000" dirty="0">
                <a:ln>
                  <a:noFill/>
                </a:ln>
                <a:solidFill>
                  <a:schemeClr val="tx1"/>
                </a:solidFill>
                <a:effectLst/>
                <a:latin typeface="+mn-lt"/>
              </a:rPr>
              <a:t>i</a:t>
            </a:r>
            <a:r>
              <a:rPr kumimoji="0" lang="en-US" altLang="en-US" sz="2800" b="0" i="0" u="none" strike="noStrike" cap="none" normalizeH="0" baseline="0" dirty="0">
                <a:ln>
                  <a:noFill/>
                </a:ln>
                <a:solidFill>
                  <a:schemeClr val="tx1"/>
                </a:solidFill>
                <a:effectLst/>
                <a:latin typeface="+mn-lt"/>
              </a:rPr>
              <a:t> – </a:t>
            </a:r>
            <a:r>
              <a:rPr kumimoji="0" lang="en-US" altLang="en-US" sz="2800" b="0" i="0" u="none" strike="noStrike" cap="none" normalizeH="0" baseline="0" dirty="0" err="1">
                <a:ln>
                  <a:noFill/>
                </a:ln>
                <a:solidFill>
                  <a:schemeClr val="tx1"/>
                </a:solidFill>
                <a:effectLst/>
                <a:latin typeface="+mn-lt"/>
              </a:rPr>
              <a:t>x</a:t>
            </a:r>
            <a:r>
              <a:rPr kumimoji="0" lang="en-US" altLang="en-US" sz="2800" b="0" i="0" u="none" strike="noStrike" cap="none" normalizeH="0" baseline="-25000" dirty="0" err="1">
                <a:ln>
                  <a:noFill/>
                </a:ln>
                <a:solidFill>
                  <a:schemeClr val="tx1"/>
                </a:solidFill>
                <a:effectLst/>
                <a:latin typeface="+mn-lt"/>
              </a:rPr>
              <a:t>m</a:t>
            </a:r>
            <a:r>
              <a:rPr kumimoji="0" lang="en-US" altLang="en-US" sz="2800" b="0" i="0" u="none" strike="noStrike" cap="none" normalizeH="0" baseline="0" dirty="0">
                <a:ln>
                  <a:noFill/>
                </a:ln>
                <a:solidFill>
                  <a:schemeClr val="tx1"/>
                </a:solidFill>
                <a:effectLst/>
                <a:latin typeface="+mn-lt"/>
              </a:rPr>
              <a:t>)</a:t>
            </a:r>
            <a:r>
              <a:rPr kumimoji="0" lang="en-US" altLang="en-US" sz="2800" b="0" i="0" u="none" strike="noStrike" cap="none" normalizeH="0" baseline="30000" dirty="0">
                <a:ln>
                  <a:noFill/>
                </a:ln>
                <a:solidFill>
                  <a:schemeClr val="tx1"/>
                </a:solidFill>
                <a:effectLst/>
                <a:latin typeface="+mn-lt"/>
              </a:rPr>
              <a:t>2		</a:t>
            </a:r>
            <a:r>
              <a:rPr lang="en-US" altLang="en-US" sz="2800" dirty="0">
                <a:latin typeface="+mn-lt"/>
              </a:rPr>
              <a:t>[noise collected in the sample]</a:t>
            </a:r>
          </a:p>
          <a:p>
            <a:pPr marL="0" marR="0" lvl="0" indent="0" algn="l" defTabSz="914400" rtl="0" eaLnBrk="0" fontAlgn="base" latinLnBrk="0" hangingPunct="0">
              <a:spcBef>
                <a:spcPct val="0"/>
              </a:spcBef>
              <a:spcAft>
                <a:spcPct val="0"/>
              </a:spcAft>
              <a:buClrTx/>
              <a:buSzTx/>
              <a:buFontTx/>
              <a:buNone/>
              <a:tabLst/>
            </a:pPr>
            <a:endParaRPr lang="en-US" altLang="en-US" sz="2800" dirty="0">
              <a:latin typeface="+mn-lt"/>
            </a:endParaRPr>
          </a:p>
          <a:p>
            <a:pPr marL="0" marR="0" lvl="0" indent="0" algn="l" defTabSz="914400" rtl="0" eaLnBrk="0" fontAlgn="base" latinLnBrk="0" hangingPunct="0">
              <a:spcBef>
                <a:spcPct val="0"/>
              </a:spcBef>
              <a:spcAft>
                <a:spcPct val="0"/>
              </a:spcAft>
              <a:buClrTx/>
              <a:buSzTx/>
              <a:buFontTx/>
              <a:buNone/>
              <a:tabLst/>
            </a:pPr>
            <a:endParaRPr lang="en-US" altLang="en-US" sz="2800" dirty="0">
              <a:latin typeface="+mn-lt"/>
            </a:endParaRPr>
          </a:p>
          <a:p>
            <a:pPr marL="0" marR="0" lvl="0" indent="0" algn="l" defTabSz="914400" rtl="0" eaLnBrk="0" fontAlgn="base" latinLnBrk="0" hangingPunct="0">
              <a:spcBef>
                <a:spcPct val="0"/>
              </a:spcBef>
              <a:spcAft>
                <a:spcPct val="0"/>
              </a:spcAft>
              <a:buClrTx/>
              <a:buSzTx/>
              <a:buFontTx/>
              <a:buNone/>
              <a:tabLst/>
            </a:pPr>
            <a:r>
              <a:rPr lang="en-US" altLang="en-US" sz="2800" dirty="0">
                <a:latin typeface="+mn-lt"/>
              </a:rPr>
              <a:t>(</a:t>
            </a:r>
            <a:r>
              <a:rPr lang="en-GB" sz="2800" b="0" i="0" u="none" strike="noStrike" dirty="0" err="1">
                <a:solidFill>
                  <a:srgbClr val="202124"/>
                </a:solidFill>
                <a:effectLst/>
              </a:rPr>
              <a:t>ẋ</a:t>
            </a:r>
            <a:r>
              <a:rPr lang="en-GB" sz="2800" dirty="0">
                <a:solidFill>
                  <a:srgbClr val="202124"/>
                </a:solidFill>
              </a:rPr>
              <a:t> </a:t>
            </a:r>
            <a:r>
              <a:rPr lang="en-US" altLang="en-US" sz="2800" dirty="0">
                <a:latin typeface="+mn-lt"/>
              </a:rPr>
              <a:t>- </a:t>
            </a:r>
            <a:r>
              <a:rPr kumimoji="0" lang="en-US" altLang="en-US" sz="2800" b="0" i="0" u="none" strike="noStrike" cap="none" normalizeH="0" baseline="0" dirty="0">
                <a:ln>
                  <a:noFill/>
                </a:ln>
                <a:solidFill>
                  <a:srgbClr val="202122"/>
                </a:solidFill>
                <a:effectLst/>
                <a:latin typeface="+mn-lt"/>
                <a:cs typeface="Arial" panose="020B0604020202020204" pitchFamily="34" charset="0"/>
              </a:rPr>
              <a:t>𝜇) / (std / √n) ∼ t</a:t>
            </a:r>
            <a:r>
              <a:rPr kumimoji="0" lang="en-US" altLang="en-US" sz="2800" b="0" i="0" u="none" strike="noStrike" cap="none" normalizeH="0" baseline="-25000" dirty="0">
                <a:ln>
                  <a:noFill/>
                </a:ln>
                <a:solidFill>
                  <a:srgbClr val="202122"/>
                </a:solidFill>
                <a:effectLst/>
                <a:latin typeface="+mn-lt"/>
                <a:cs typeface="Arial" panose="020B0604020202020204" pitchFamily="34" charset="0"/>
              </a:rPr>
              <a:t>n-1 </a:t>
            </a:r>
            <a:r>
              <a:rPr kumimoji="0" lang="en-US" altLang="en-US" sz="2800" b="0" i="0" u="none" strike="noStrike" cap="none" normalizeH="0" dirty="0">
                <a:ln>
                  <a:noFill/>
                </a:ln>
                <a:solidFill>
                  <a:srgbClr val="202122"/>
                </a:solidFill>
                <a:effectLst/>
                <a:latin typeface="+mn-lt"/>
                <a:cs typeface="Arial" panose="020B0604020202020204" pitchFamily="34" charset="0"/>
              </a:rPr>
              <a:t>is distributed according to a Student’s </a:t>
            </a:r>
            <a:r>
              <a:rPr kumimoji="0" lang="en-US" altLang="en-US" sz="2800" b="0" i="1" u="none" strike="noStrike" cap="none" normalizeH="0" dirty="0">
                <a:ln>
                  <a:noFill/>
                </a:ln>
                <a:solidFill>
                  <a:srgbClr val="202122"/>
                </a:solidFill>
                <a:effectLst/>
                <a:latin typeface="+mn-lt"/>
                <a:cs typeface="Arial" panose="020B0604020202020204" pitchFamily="34" charset="0"/>
              </a:rPr>
              <a:t>t</a:t>
            </a:r>
            <a:r>
              <a:rPr kumimoji="0" lang="en-US" altLang="en-US" sz="2800" b="0" i="0" u="none" strike="noStrike" cap="none" normalizeH="0" dirty="0">
                <a:ln>
                  <a:noFill/>
                </a:ln>
                <a:solidFill>
                  <a:srgbClr val="202122"/>
                </a:solidFill>
                <a:effectLst/>
                <a:latin typeface="+mn-lt"/>
                <a:cs typeface="Arial" panose="020B0604020202020204" pitchFamily="34" charset="0"/>
              </a:rPr>
              <a:t>-distribution with n-1 degrees of freedom</a:t>
            </a:r>
          </a:p>
        </p:txBody>
      </p:sp>
      <p:sp>
        <p:nvSpPr>
          <p:cNvPr id="3" name="AutoShape 3" descr="{\displaystyle x_{1},\ldots ,x_{n}\sim N(\mu ,\sigma ^{2})}">
            <a:extLst>
              <a:ext uri="{FF2B5EF4-FFF2-40B4-BE49-F238E27FC236}">
                <a16:creationId xmlns:a16="http://schemas.microsoft.com/office/drawing/2014/main" id="{EBB2595B-4751-295E-54BE-2194D0E06CC6}"/>
              </a:ext>
            </a:extLst>
          </p:cNvPr>
          <p:cNvSpPr>
            <a:spLocks noChangeAspect="1" noChangeArrowheads="1"/>
          </p:cNvSpPr>
          <p:nvPr/>
        </p:nvSpPr>
        <p:spPr bwMode="auto">
          <a:xfrm>
            <a:off x="517939" y="1021730"/>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mu ">
            <a:extLst>
              <a:ext uri="{FF2B5EF4-FFF2-40B4-BE49-F238E27FC236}">
                <a16:creationId xmlns:a16="http://schemas.microsoft.com/office/drawing/2014/main" id="{23F4302E-B7F7-5DCC-E4C0-7AF197B78C68}"/>
              </a:ext>
            </a:extLst>
          </p:cNvPr>
          <p:cNvSpPr>
            <a:spLocks noChangeAspect="1" noChangeArrowheads="1"/>
          </p:cNvSpPr>
          <p:nvPr/>
        </p:nvSpPr>
        <p:spPr bwMode="auto">
          <a:xfrm>
            <a:off x="5890039" y="1021730"/>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5" descr="\sigma ^{2}">
            <a:extLst>
              <a:ext uri="{FF2B5EF4-FFF2-40B4-BE49-F238E27FC236}">
                <a16:creationId xmlns:a16="http://schemas.microsoft.com/office/drawing/2014/main" id="{AC60D58E-980A-0E2C-DD61-E1C3B4C8896D}"/>
              </a:ext>
            </a:extLst>
          </p:cNvPr>
          <p:cNvSpPr>
            <a:spLocks noChangeAspect="1" noChangeArrowheads="1"/>
          </p:cNvSpPr>
          <p:nvPr/>
        </p:nvSpPr>
        <p:spPr bwMode="auto">
          <a:xfrm>
            <a:off x="7085427" y="1021730"/>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Title 1">
            <a:extLst>
              <a:ext uri="{FF2B5EF4-FFF2-40B4-BE49-F238E27FC236}">
                <a16:creationId xmlns:a16="http://schemas.microsoft.com/office/drawing/2014/main" id="{4AB1FD21-D956-8A44-6B49-0DB026227C2A}"/>
              </a:ext>
            </a:extLst>
          </p:cNvPr>
          <p:cNvSpPr txBox="1">
            <a:spLocks/>
          </p:cNvSpPr>
          <p:nvPr/>
        </p:nvSpPr>
        <p:spPr>
          <a:xfrm>
            <a:off x="46797" y="36481"/>
            <a:ext cx="11910742"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Student’s</a:t>
            </a:r>
            <a:r>
              <a:rPr lang="en-US" sz="5000" b="1" i="1" dirty="0"/>
              <a:t> t</a:t>
            </a:r>
            <a:r>
              <a:rPr lang="en-US" sz="5000" b="1" dirty="0"/>
              <a:t>-distribution</a:t>
            </a:r>
          </a:p>
        </p:txBody>
      </p:sp>
      <p:cxnSp>
        <p:nvCxnSpPr>
          <p:cNvPr id="13" name="Straight Arrow Connector 12">
            <a:extLst>
              <a:ext uri="{FF2B5EF4-FFF2-40B4-BE49-F238E27FC236}">
                <a16:creationId xmlns:a16="http://schemas.microsoft.com/office/drawing/2014/main" id="{CEE28B3C-E50D-ED2C-A3E9-F1A84738938D}"/>
              </a:ext>
            </a:extLst>
          </p:cNvPr>
          <p:cNvCxnSpPr/>
          <p:nvPr/>
        </p:nvCxnSpPr>
        <p:spPr>
          <a:xfrm>
            <a:off x="452726" y="2183345"/>
            <a:ext cx="0" cy="649357"/>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C5806DF3-3775-54F9-7255-67FCB59935BA}"/>
              </a:ext>
            </a:extLst>
          </p:cNvPr>
          <p:cNvCxnSpPr/>
          <p:nvPr/>
        </p:nvCxnSpPr>
        <p:spPr>
          <a:xfrm>
            <a:off x="446102" y="4297065"/>
            <a:ext cx="0" cy="649357"/>
          </a:xfrm>
          <a:prstGeom prst="straightConnector1">
            <a:avLst/>
          </a:prstGeom>
          <a:ln w="127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5307CB5-741F-47FC-3671-D001DFC26F44}"/>
              </a:ext>
            </a:extLst>
          </p:cNvPr>
          <p:cNvSpPr txBox="1"/>
          <p:nvPr/>
        </p:nvSpPr>
        <p:spPr>
          <a:xfrm>
            <a:off x="196947" y="6258217"/>
            <a:ext cx="11816863" cy="523220"/>
          </a:xfrm>
          <a:prstGeom prst="rect">
            <a:avLst/>
          </a:prstGeom>
          <a:solidFill>
            <a:schemeClr val="accent5">
              <a:lumMod val="20000"/>
              <a:lumOff val="80000"/>
            </a:schemeClr>
          </a:solidFill>
          <a:ln>
            <a:solidFill>
              <a:schemeClr val="tx1"/>
            </a:solidFill>
          </a:ln>
        </p:spPr>
        <p:txBody>
          <a:bodyPr wrap="square" rtlCol="0">
            <a:spAutoFit/>
          </a:bodyPr>
          <a:lstStyle/>
          <a:p>
            <a:r>
              <a:rPr lang="en-GB" sz="2800" dirty="0">
                <a:solidFill>
                  <a:srgbClr val="202124"/>
                </a:solidFill>
              </a:rPr>
              <a:t>The </a:t>
            </a:r>
            <a:r>
              <a:rPr lang="en-GB" sz="2800" i="1" dirty="0">
                <a:solidFill>
                  <a:srgbClr val="202124"/>
                </a:solidFill>
              </a:rPr>
              <a:t>t</a:t>
            </a:r>
            <a:r>
              <a:rPr lang="en-GB" sz="2800" dirty="0">
                <a:solidFill>
                  <a:srgbClr val="202124"/>
                </a:solidFill>
              </a:rPr>
              <a:t>-statistic has a probability distribution that not depends on the unknown </a:t>
            </a:r>
            <a:r>
              <a:rPr kumimoji="0" lang="en-US" altLang="en-US" sz="2800" b="1" i="0" u="none" strike="noStrike" cap="none" normalizeH="0" dirty="0">
                <a:ln>
                  <a:noFill/>
                </a:ln>
                <a:solidFill>
                  <a:srgbClr val="202122"/>
                </a:solidFill>
                <a:effectLst/>
                <a:latin typeface="+mn-lt"/>
                <a:cs typeface="Arial" panose="020B0604020202020204" pitchFamily="34" charset="0"/>
              </a:rPr>
              <a:t>𝜎</a:t>
            </a:r>
            <a:endParaRPr lang="en-US" sz="2800" dirty="0"/>
          </a:p>
        </p:txBody>
      </p:sp>
    </p:spTree>
    <p:extLst>
      <p:ext uri="{BB962C8B-B14F-4D97-AF65-F5344CB8AC3E}">
        <p14:creationId xmlns:p14="http://schemas.microsoft.com/office/powerpoint/2010/main" val="31607675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4AB1FD21-D956-8A44-6B49-0DB026227C2A}"/>
              </a:ext>
            </a:extLst>
          </p:cNvPr>
          <p:cNvSpPr txBox="1">
            <a:spLocks/>
          </p:cNvSpPr>
          <p:nvPr/>
        </p:nvSpPr>
        <p:spPr>
          <a:xfrm>
            <a:off x="828672" y="1967266"/>
            <a:ext cx="2886076" cy="2547257"/>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sz="3600" b="1" kern="1200" dirty="0">
                <a:solidFill>
                  <a:srgbClr val="FFFFFF"/>
                </a:solidFill>
                <a:latin typeface="+mj-lt"/>
                <a:ea typeface="+mj-ea"/>
                <a:cs typeface="+mj-cs"/>
              </a:rPr>
              <a:t>Student’s</a:t>
            </a:r>
            <a:r>
              <a:rPr lang="en-US" sz="3600" b="1" i="1" kern="1200" dirty="0">
                <a:solidFill>
                  <a:srgbClr val="FFFFFF"/>
                </a:solidFill>
                <a:latin typeface="+mj-lt"/>
                <a:ea typeface="+mj-ea"/>
                <a:cs typeface="+mj-cs"/>
              </a:rPr>
              <a:t> </a:t>
            </a:r>
          </a:p>
          <a:p>
            <a:pPr algn="ctr">
              <a:spcAft>
                <a:spcPts val="600"/>
              </a:spcAft>
            </a:pPr>
            <a:r>
              <a:rPr lang="en-US" sz="3600" b="1" i="1" kern="1200" dirty="0">
                <a:solidFill>
                  <a:srgbClr val="FFFFFF"/>
                </a:solidFill>
                <a:latin typeface="+mj-lt"/>
                <a:ea typeface="+mj-ea"/>
                <a:cs typeface="+mj-cs"/>
              </a:rPr>
              <a:t>t</a:t>
            </a:r>
            <a:r>
              <a:rPr lang="en-US" sz="3600" b="1" kern="1200" dirty="0">
                <a:solidFill>
                  <a:srgbClr val="FFFFFF"/>
                </a:solidFill>
                <a:latin typeface="+mj-lt"/>
                <a:ea typeface="+mj-ea"/>
                <a:cs typeface="+mj-cs"/>
              </a:rPr>
              <a:t>-distribution</a:t>
            </a:r>
          </a:p>
        </p:txBody>
      </p:sp>
      <p:pic>
        <p:nvPicPr>
          <p:cNvPr id="8" name="Picture 7" descr="A diagram of a function&#10;&#10;Description automatically generated">
            <a:extLst>
              <a:ext uri="{FF2B5EF4-FFF2-40B4-BE49-F238E27FC236}">
                <a16:creationId xmlns:a16="http://schemas.microsoft.com/office/drawing/2014/main" id="{1682615E-9E0E-B6F6-6F57-2ECD40ECACE6}"/>
              </a:ext>
            </a:extLst>
          </p:cNvPr>
          <p:cNvPicPr>
            <a:picLocks noChangeAspect="1"/>
          </p:cNvPicPr>
          <p:nvPr/>
        </p:nvPicPr>
        <p:blipFill>
          <a:blip r:embed="rId3"/>
          <a:stretch>
            <a:fillRect/>
          </a:stretch>
        </p:blipFill>
        <p:spPr>
          <a:xfrm>
            <a:off x="4777316" y="715557"/>
            <a:ext cx="6780700" cy="5424557"/>
          </a:xfrm>
          <a:prstGeom prst="rect">
            <a:avLst/>
          </a:prstGeom>
        </p:spPr>
      </p:pic>
    </p:spTree>
    <p:extLst>
      <p:ext uri="{BB962C8B-B14F-4D97-AF65-F5344CB8AC3E}">
        <p14:creationId xmlns:p14="http://schemas.microsoft.com/office/powerpoint/2010/main" val="41803353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AF3C48B-7A8D-B196-9858-E721D16276F7}"/>
              </a:ext>
            </a:extLst>
          </p:cNvPr>
          <p:cNvSpPr txBox="1"/>
          <p:nvPr/>
        </p:nvSpPr>
        <p:spPr>
          <a:xfrm>
            <a:off x="112540" y="3220981"/>
            <a:ext cx="11971608" cy="1138773"/>
          </a:xfrm>
          <a:prstGeom prst="rect">
            <a:avLst/>
          </a:prstGeom>
          <a:noFill/>
        </p:spPr>
        <p:txBody>
          <a:bodyPr wrap="square">
            <a:spAutoFit/>
          </a:bodyPr>
          <a:lstStyle/>
          <a:p>
            <a:r>
              <a:rPr lang="en-US" sz="3400" dirty="0"/>
              <a:t>95% CI = </a:t>
            </a:r>
            <a:r>
              <a:rPr lang="en-GB" sz="3400" b="0" i="0" u="none" strike="noStrike" dirty="0" err="1">
                <a:solidFill>
                  <a:srgbClr val="202124"/>
                </a:solidFill>
                <a:effectLst/>
              </a:rPr>
              <a:t>ẋ</a:t>
            </a:r>
            <a:r>
              <a:rPr lang="en-GB" sz="3400" dirty="0">
                <a:solidFill>
                  <a:srgbClr val="202124"/>
                </a:solidFill>
              </a:rPr>
              <a:t> </a:t>
            </a:r>
            <a:r>
              <a:rPr lang="en-GB" sz="3400" u="sng" dirty="0">
                <a:solidFill>
                  <a:srgbClr val="202124"/>
                </a:solidFill>
              </a:rPr>
              <a:t>+</a:t>
            </a:r>
            <a:r>
              <a:rPr lang="en-GB" sz="3400" dirty="0">
                <a:solidFill>
                  <a:srgbClr val="202124"/>
                </a:solidFill>
              </a:rPr>
              <a:t> </a:t>
            </a:r>
            <a:r>
              <a:rPr lang="en-US" sz="3400" dirty="0"/>
              <a:t>t</a:t>
            </a:r>
            <a:r>
              <a:rPr lang="en-US" sz="3400" baseline="-25000" dirty="0"/>
              <a:t>n-1, 0.975 </a:t>
            </a:r>
            <a:r>
              <a:rPr lang="en-US" sz="3400" dirty="0"/>
              <a:t>∙ std/√(n). </a:t>
            </a:r>
            <a:r>
              <a:rPr lang="en-GB" sz="3400" dirty="0">
                <a:effectLst/>
              </a:rPr>
              <a:t>We use the </a:t>
            </a:r>
            <a:r>
              <a:rPr lang="en-GB" sz="3400" i="1" dirty="0">
                <a:effectLst/>
              </a:rPr>
              <a:t>t</a:t>
            </a:r>
            <a:r>
              <a:rPr lang="en-GB" sz="3400" dirty="0">
                <a:effectLst/>
              </a:rPr>
              <a:t>-tables to obtain these “critical” values </a:t>
            </a:r>
          </a:p>
        </p:txBody>
      </p:sp>
      <p:sp>
        <p:nvSpPr>
          <p:cNvPr id="2" name="TextBox 1">
            <a:extLst>
              <a:ext uri="{FF2B5EF4-FFF2-40B4-BE49-F238E27FC236}">
                <a16:creationId xmlns:a16="http://schemas.microsoft.com/office/drawing/2014/main" id="{0A8918AC-581A-9D0F-8994-4CBFAD7D20DD}"/>
              </a:ext>
            </a:extLst>
          </p:cNvPr>
          <p:cNvSpPr txBox="1"/>
          <p:nvPr/>
        </p:nvSpPr>
        <p:spPr>
          <a:xfrm>
            <a:off x="124631" y="1020711"/>
            <a:ext cx="11546001" cy="584775"/>
          </a:xfrm>
          <a:prstGeom prst="rect">
            <a:avLst/>
          </a:prstGeom>
          <a:noFill/>
        </p:spPr>
        <p:txBody>
          <a:bodyPr wrap="square" rtlCol="0">
            <a:spAutoFit/>
          </a:bodyPr>
          <a:lstStyle/>
          <a:p>
            <a:r>
              <a:rPr lang="en-GB" sz="3200" b="1" dirty="0"/>
              <a:t>Normal data, </a:t>
            </a:r>
            <a:r>
              <a:rPr lang="en-US" sz="3200" b="1" dirty="0"/>
              <a:t>𝛔</a:t>
            </a:r>
            <a:r>
              <a:rPr lang="en-GB" sz="3200" b="1" dirty="0"/>
              <a:t> unknown</a:t>
            </a:r>
            <a:r>
              <a:rPr lang="en-GB" sz="3200" dirty="0"/>
              <a:t>: one sample </a:t>
            </a:r>
            <a:r>
              <a:rPr lang="en-GB" sz="3200" i="1" dirty="0"/>
              <a:t>t</a:t>
            </a:r>
            <a:r>
              <a:rPr lang="en-GB" sz="3200" dirty="0"/>
              <a:t>-confidence interval</a:t>
            </a:r>
            <a:endParaRPr lang="en-GB" sz="3200" dirty="0">
              <a:effectLst/>
            </a:endParaRPr>
          </a:p>
        </p:txBody>
      </p:sp>
      <p:sp>
        <p:nvSpPr>
          <p:cNvPr id="4" name="TextBox 3">
            <a:extLst>
              <a:ext uri="{FF2B5EF4-FFF2-40B4-BE49-F238E27FC236}">
                <a16:creationId xmlns:a16="http://schemas.microsoft.com/office/drawing/2014/main" id="{8B9251AC-3C31-07B3-69EA-FB5B2EF8E014}"/>
              </a:ext>
            </a:extLst>
          </p:cNvPr>
          <p:cNvSpPr txBox="1"/>
          <p:nvPr/>
        </p:nvSpPr>
        <p:spPr>
          <a:xfrm>
            <a:off x="140676" y="2009768"/>
            <a:ext cx="11971608" cy="600164"/>
          </a:xfrm>
          <a:prstGeom prst="rect">
            <a:avLst/>
          </a:prstGeom>
          <a:solidFill>
            <a:schemeClr val="accent1">
              <a:lumMod val="20000"/>
              <a:lumOff val="80000"/>
            </a:schemeClr>
          </a:solidFill>
          <a:ln>
            <a:solidFill>
              <a:schemeClr val="tx1"/>
            </a:solidFill>
          </a:ln>
        </p:spPr>
        <p:txBody>
          <a:bodyPr wrap="square" rtlCol="0">
            <a:spAutoFit/>
          </a:bodyPr>
          <a:lstStyle/>
          <a:p>
            <a:r>
              <a:rPr lang="en-GB" sz="3300" dirty="0">
                <a:solidFill>
                  <a:srgbClr val="202124"/>
                </a:solidFill>
              </a:rPr>
              <a:t>Sample </a:t>
            </a:r>
            <a:r>
              <a:rPr lang="en-GB" sz="3200" b="0" i="0" u="none" strike="noStrike" dirty="0">
                <a:solidFill>
                  <a:srgbClr val="202124"/>
                </a:solidFill>
                <a:effectLst/>
              </a:rPr>
              <a:t>mean </a:t>
            </a:r>
            <a:r>
              <a:rPr lang="en-GB" sz="3200" b="0" i="0" u="none" strike="noStrike" dirty="0" err="1">
                <a:solidFill>
                  <a:srgbClr val="202124"/>
                </a:solidFill>
                <a:effectLst/>
              </a:rPr>
              <a:t>ẋ</a:t>
            </a:r>
            <a:r>
              <a:rPr lang="en-GB" sz="3300" baseline="-25000" dirty="0">
                <a:solidFill>
                  <a:srgbClr val="202124"/>
                </a:solidFill>
              </a:rPr>
              <a:t> </a:t>
            </a:r>
            <a:r>
              <a:rPr lang="en-GB" sz="3300" dirty="0">
                <a:solidFill>
                  <a:srgbClr val="202124"/>
                </a:solidFill>
              </a:rPr>
              <a:t>-</a:t>
            </a:r>
            <a:r>
              <a:rPr lang="en-GB" sz="3300" baseline="-25000" dirty="0">
                <a:solidFill>
                  <a:srgbClr val="202124"/>
                </a:solidFill>
              </a:rPr>
              <a:t> </a:t>
            </a:r>
            <a:r>
              <a:rPr lang="en-US" sz="3300" dirty="0"/>
              <a:t>𝛍 is</a:t>
            </a:r>
            <a:r>
              <a:rPr lang="en-GB" sz="3300" b="0" i="0" u="none" strike="noStrike" dirty="0">
                <a:solidFill>
                  <a:srgbClr val="202124"/>
                </a:solidFill>
                <a:effectLst/>
              </a:rPr>
              <a:t> </a:t>
            </a:r>
            <a:r>
              <a:rPr lang="en-GB" sz="3300" b="0" i="0" u="sng" strike="noStrike" dirty="0">
                <a:solidFill>
                  <a:srgbClr val="202124"/>
                </a:solidFill>
                <a:effectLst/>
              </a:rPr>
              <a:t>exactly</a:t>
            </a:r>
            <a:r>
              <a:rPr lang="en-GB" sz="3300" b="0" i="0" u="none" strike="noStrike" dirty="0">
                <a:solidFill>
                  <a:srgbClr val="202124"/>
                </a:solidFill>
                <a:effectLst/>
              </a:rPr>
              <a:t> distributed according to [</a:t>
            </a:r>
            <a:r>
              <a:rPr lang="en-US" sz="3300" dirty="0"/>
              <a:t>std/√(n)] ∙</a:t>
            </a:r>
            <a:r>
              <a:rPr lang="en-GB" sz="3300" b="0" i="0" u="none" strike="noStrike" dirty="0">
                <a:solidFill>
                  <a:srgbClr val="202124"/>
                </a:solidFill>
                <a:effectLst/>
              </a:rPr>
              <a:t> </a:t>
            </a:r>
            <a:r>
              <a:rPr kumimoji="0" lang="en-US" altLang="en-US" sz="3300" b="0" i="1" u="none" strike="noStrike" cap="none" normalizeH="0" baseline="0" dirty="0">
                <a:ln>
                  <a:noFill/>
                </a:ln>
                <a:solidFill>
                  <a:srgbClr val="202122"/>
                </a:solidFill>
                <a:effectLst/>
                <a:latin typeface="+mn-lt"/>
                <a:cs typeface="Arial" panose="020B0604020202020204" pitchFamily="34" charset="0"/>
              </a:rPr>
              <a:t>t</a:t>
            </a:r>
            <a:r>
              <a:rPr kumimoji="0" lang="en-US" altLang="en-US" sz="3300" b="0" i="0" u="none" strike="noStrike" cap="none" normalizeH="0" baseline="-25000" dirty="0">
                <a:ln>
                  <a:noFill/>
                </a:ln>
                <a:solidFill>
                  <a:srgbClr val="202122"/>
                </a:solidFill>
                <a:effectLst/>
                <a:latin typeface="+mn-lt"/>
                <a:cs typeface="Arial" panose="020B0604020202020204" pitchFamily="34" charset="0"/>
              </a:rPr>
              <a:t>n-1</a:t>
            </a:r>
            <a:endParaRPr lang="en-US" sz="3300" baseline="-25000" dirty="0"/>
          </a:p>
        </p:txBody>
      </p:sp>
      <p:pic>
        <p:nvPicPr>
          <p:cNvPr id="2050" name="Picture 2" descr="What is a good question? | Dragonfly Training">
            <a:extLst>
              <a:ext uri="{FF2B5EF4-FFF2-40B4-BE49-F238E27FC236}">
                <a16:creationId xmlns:a16="http://schemas.microsoft.com/office/drawing/2014/main" id="{A1CC018F-3CC9-58B6-B242-0EBFB9CBB1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0" y="4572000"/>
            <a:ext cx="2286000" cy="22860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DB8B53B0-7BF1-AAAF-5652-2A728C9C8371}"/>
              </a:ext>
            </a:extLst>
          </p:cNvPr>
          <p:cNvSpPr txBox="1"/>
          <p:nvPr/>
        </p:nvSpPr>
        <p:spPr>
          <a:xfrm>
            <a:off x="3573194" y="5407223"/>
            <a:ext cx="6699987" cy="615553"/>
          </a:xfrm>
          <a:prstGeom prst="rect">
            <a:avLst/>
          </a:prstGeom>
          <a:noFill/>
        </p:spPr>
        <p:txBody>
          <a:bodyPr wrap="square" rtlCol="0">
            <a:spAutoFit/>
          </a:bodyPr>
          <a:lstStyle/>
          <a:p>
            <a:pPr algn="r"/>
            <a:r>
              <a:rPr lang="en-US" sz="3400" dirty="0"/>
              <a:t>If data are not normally distributed…</a:t>
            </a:r>
          </a:p>
        </p:txBody>
      </p:sp>
      <p:sp>
        <p:nvSpPr>
          <p:cNvPr id="11" name="Title 1">
            <a:extLst>
              <a:ext uri="{FF2B5EF4-FFF2-40B4-BE49-F238E27FC236}">
                <a16:creationId xmlns:a16="http://schemas.microsoft.com/office/drawing/2014/main" id="{79E9AF20-EE5C-02BD-6F47-908499EA0BDB}"/>
              </a:ext>
            </a:extLst>
          </p:cNvPr>
          <p:cNvSpPr txBox="1">
            <a:spLocks/>
          </p:cNvSpPr>
          <p:nvPr/>
        </p:nvSpPr>
        <p:spPr>
          <a:xfrm>
            <a:off x="14068" y="38136"/>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700" b="1" dirty="0"/>
              <a:t>Confidence intervals for the normal distribution</a:t>
            </a:r>
          </a:p>
        </p:txBody>
      </p:sp>
    </p:spTree>
    <p:extLst>
      <p:ext uri="{BB962C8B-B14F-4D97-AF65-F5344CB8AC3E}">
        <p14:creationId xmlns:p14="http://schemas.microsoft.com/office/powerpoint/2010/main" val="36688453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descr="{\displaystyle x_{1},\ldots ,x_{n}\sim N(\mu ,\sigma ^{2})}">
            <a:extLst>
              <a:ext uri="{FF2B5EF4-FFF2-40B4-BE49-F238E27FC236}">
                <a16:creationId xmlns:a16="http://schemas.microsoft.com/office/drawing/2014/main" id="{EBB2595B-4751-295E-54BE-2194D0E06CC6}"/>
              </a:ext>
            </a:extLst>
          </p:cNvPr>
          <p:cNvSpPr>
            <a:spLocks noChangeAspect="1" noChangeArrowheads="1"/>
          </p:cNvSpPr>
          <p:nvPr/>
        </p:nvSpPr>
        <p:spPr bwMode="auto">
          <a:xfrm>
            <a:off x="517939" y="196019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mu ">
            <a:extLst>
              <a:ext uri="{FF2B5EF4-FFF2-40B4-BE49-F238E27FC236}">
                <a16:creationId xmlns:a16="http://schemas.microsoft.com/office/drawing/2014/main" id="{23F4302E-B7F7-5DCC-E4C0-7AF197B78C68}"/>
              </a:ext>
            </a:extLst>
          </p:cNvPr>
          <p:cNvSpPr>
            <a:spLocks noChangeAspect="1" noChangeArrowheads="1"/>
          </p:cNvSpPr>
          <p:nvPr/>
        </p:nvSpPr>
        <p:spPr bwMode="auto">
          <a:xfrm>
            <a:off x="5890039" y="196019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5" descr="\sigma ^{2}">
            <a:extLst>
              <a:ext uri="{FF2B5EF4-FFF2-40B4-BE49-F238E27FC236}">
                <a16:creationId xmlns:a16="http://schemas.microsoft.com/office/drawing/2014/main" id="{AC60D58E-980A-0E2C-DD61-E1C3B4C8896D}"/>
              </a:ext>
            </a:extLst>
          </p:cNvPr>
          <p:cNvSpPr>
            <a:spLocks noChangeAspect="1" noChangeArrowheads="1"/>
          </p:cNvSpPr>
          <p:nvPr/>
        </p:nvSpPr>
        <p:spPr bwMode="auto">
          <a:xfrm>
            <a:off x="7085427" y="196019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TextBox 8">
            <a:extLst>
              <a:ext uri="{FF2B5EF4-FFF2-40B4-BE49-F238E27FC236}">
                <a16:creationId xmlns:a16="http://schemas.microsoft.com/office/drawing/2014/main" id="{442CC4C7-A3CA-82F9-8950-CE06082C5E0E}"/>
              </a:ext>
            </a:extLst>
          </p:cNvPr>
          <p:cNvSpPr txBox="1"/>
          <p:nvPr/>
        </p:nvSpPr>
        <p:spPr>
          <a:xfrm>
            <a:off x="86618" y="1089908"/>
            <a:ext cx="11927191" cy="984885"/>
          </a:xfrm>
          <a:prstGeom prst="rect">
            <a:avLst/>
          </a:prstGeom>
          <a:noFill/>
        </p:spPr>
        <p:txBody>
          <a:bodyPr wrap="square">
            <a:spAutoFit/>
          </a:bodyPr>
          <a:lstStyle/>
          <a:p>
            <a:pPr marL="0" marR="0" lvl="0" indent="0" algn="l" defTabSz="914400" rtl="0" eaLnBrk="0" fontAlgn="base" latinLnBrk="0" hangingPunct="0">
              <a:spcBef>
                <a:spcPct val="0"/>
              </a:spcBef>
              <a:spcAft>
                <a:spcPct val="0"/>
              </a:spcAft>
              <a:buClrTx/>
              <a:buSzTx/>
              <a:buFontTx/>
              <a:buNone/>
              <a:tabLst/>
            </a:pPr>
            <a:r>
              <a:rPr lang="en-US" altLang="en-US" sz="2900" i="1" dirty="0"/>
              <a:t>t</a:t>
            </a:r>
            <a:r>
              <a:rPr lang="en-US" altLang="en-US" sz="2900" dirty="0">
                <a:latin typeface="+mn-lt"/>
              </a:rPr>
              <a:t>-distribution methods are robust when the sample size is large (n </a:t>
            </a:r>
            <a:r>
              <a:rPr lang="en-US" altLang="en-US" sz="2900" u="sng" dirty="0">
                <a:latin typeface="+mn-lt"/>
              </a:rPr>
              <a:t>&gt;</a:t>
            </a:r>
            <a:r>
              <a:rPr lang="en-US" altLang="en-US" sz="2900" dirty="0">
                <a:latin typeface="+mn-lt"/>
              </a:rPr>
              <a:t> 30). The data should not have extreme outliers or evidence of severe skewness.</a:t>
            </a:r>
          </a:p>
        </p:txBody>
      </p:sp>
      <p:sp>
        <p:nvSpPr>
          <p:cNvPr id="2" name="TextBox 1">
            <a:extLst>
              <a:ext uri="{FF2B5EF4-FFF2-40B4-BE49-F238E27FC236}">
                <a16:creationId xmlns:a16="http://schemas.microsoft.com/office/drawing/2014/main" id="{FBD49425-3DC7-1A66-5F4A-DFBBFA621C23}"/>
              </a:ext>
            </a:extLst>
          </p:cNvPr>
          <p:cNvSpPr txBox="1"/>
          <p:nvPr/>
        </p:nvSpPr>
        <p:spPr>
          <a:xfrm>
            <a:off x="116667" y="2562084"/>
            <a:ext cx="11927191" cy="1877437"/>
          </a:xfrm>
          <a:prstGeom prst="rect">
            <a:avLst/>
          </a:prstGeom>
          <a:noFill/>
        </p:spPr>
        <p:txBody>
          <a:bodyPr wrap="square">
            <a:spAutoFit/>
          </a:bodyPr>
          <a:lstStyle/>
          <a:p>
            <a:pPr marL="0" marR="0" lvl="0" indent="0" algn="l" defTabSz="914400" rtl="0" eaLnBrk="0" fontAlgn="base" latinLnBrk="0" hangingPunct="0">
              <a:spcBef>
                <a:spcPct val="0"/>
              </a:spcBef>
              <a:spcAft>
                <a:spcPct val="0"/>
              </a:spcAft>
              <a:buClrTx/>
              <a:buSzTx/>
              <a:buFontTx/>
              <a:buNone/>
              <a:tabLst/>
            </a:pPr>
            <a:r>
              <a:rPr lang="en-US" altLang="en-US" sz="2900" dirty="0"/>
              <a:t>For small samples it is risky to use </a:t>
            </a:r>
            <a:r>
              <a:rPr lang="en-US" altLang="en-US" sz="2900" i="1" dirty="0"/>
              <a:t>t</a:t>
            </a:r>
            <a:r>
              <a:rPr lang="en-US" altLang="en-US" sz="2900" dirty="0"/>
              <a:t>-confidence intervals. Only use if you are sure the population is roughly normally distributed, and the sample has no outliers and very little skew. Otherwise, other methods (e.g. bootstrap, data transformation) should be used. </a:t>
            </a:r>
            <a:endParaRPr lang="en-US" altLang="en-US" sz="2900" dirty="0">
              <a:latin typeface="+mn-lt"/>
            </a:endParaRPr>
          </a:p>
        </p:txBody>
      </p:sp>
      <p:sp>
        <p:nvSpPr>
          <p:cNvPr id="6" name="Title 1">
            <a:extLst>
              <a:ext uri="{FF2B5EF4-FFF2-40B4-BE49-F238E27FC236}">
                <a16:creationId xmlns:a16="http://schemas.microsoft.com/office/drawing/2014/main" id="{07969106-9D0D-6523-F938-4F2A9C7E3C96}"/>
              </a:ext>
            </a:extLst>
          </p:cNvPr>
          <p:cNvSpPr txBox="1">
            <a:spLocks/>
          </p:cNvSpPr>
          <p:nvPr/>
        </p:nvSpPr>
        <p:spPr>
          <a:xfrm>
            <a:off x="0" y="24068"/>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Consequence of CLT </a:t>
            </a:r>
          </a:p>
        </p:txBody>
      </p:sp>
    </p:spTree>
    <p:extLst>
      <p:ext uri="{BB962C8B-B14F-4D97-AF65-F5344CB8AC3E}">
        <p14:creationId xmlns:p14="http://schemas.microsoft.com/office/powerpoint/2010/main" val="9044849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285C570-5CC2-650C-8474-D67489B2E390}"/>
              </a:ext>
            </a:extLst>
          </p:cNvPr>
          <p:cNvSpPr txBox="1">
            <a:spLocks/>
          </p:cNvSpPr>
          <p:nvPr/>
        </p:nvSpPr>
        <p:spPr>
          <a:xfrm>
            <a:off x="14068" y="52204"/>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Simulations</a:t>
            </a:r>
          </a:p>
        </p:txBody>
      </p:sp>
      <p:sp>
        <p:nvSpPr>
          <p:cNvPr id="4" name="TextBox 3">
            <a:extLst>
              <a:ext uri="{FF2B5EF4-FFF2-40B4-BE49-F238E27FC236}">
                <a16:creationId xmlns:a16="http://schemas.microsoft.com/office/drawing/2014/main" id="{D6AE619E-2723-23EC-FA59-BCFB1F019ECC}"/>
              </a:ext>
            </a:extLst>
          </p:cNvPr>
          <p:cNvSpPr txBox="1"/>
          <p:nvPr/>
        </p:nvSpPr>
        <p:spPr>
          <a:xfrm>
            <a:off x="96633" y="4217441"/>
            <a:ext cx="11982916" cy="492443"/>
          </a:xfrm>
          <a:prstGeom prst="rect">
            <a:avLst/>
          </a:prstGeom>
          <a:noFill/>
        </p:spPr>
        <p:txBody>
          <a:bodyPr wrap="square">
            <a:spAutoFit/>
          </a:bodyPr>
          <a:lstStyle/>
          <a:p>
            <a:r>
              <a:rPr lang="en-GB" sz="2600" dirty="0"/>
              <a:t>https://</a:t>
            </a:r>
            <a:r>
              <a:rPr lang="en-GB" sz="2600" dirty="0" err="1"/>
              <a:t>bioinformatics.cruk.cam.ac.uk</a:t>
            </a:r>
            <a:r>
              <a:rPr lang="en-GB" sz="2600" dirty="0"/>
              <a:t>/apps/stats/central-limit-theorem </a:t>
            </a:r>
          </a:p>
        </p:txBody>
      </p:sp>
      <p:sp>
        <p:nvSpPr>
          <p:cNvPr id="5" name="TextBox 4">
            <a:extLst>
              <a:ext uri="{FF2B5EF4-FFF2-40B4-BE49-F238E27FC236}">
                <a16:creationId xmlns:a16="http://schemas.microsoft.com/office/drawing/2014/main" id="{88C55AD8-27A7-FC8D-F611-3C48C34E4A9E}"/>
              </a:ext>
            </a:extLst>
          </p:cNvPr>
          <p:cNvSpPr txBox="1"/>
          <p:nvPr/>
        </p:nvSpPr>
        <p:spPr>
          <a:xfrm>
            <a:off x="144133" y="2585481"/>
            <a:ext cx="11887916" cy="492443"/>
          </a:xfrm>
          <a:prstGeom prst="rect">
            <a:avLst/>
          </a:prstGeom>
          <a:noFill/>
        </p:spPr>
        <p:txBody>
          <a:bodyPr wrap="square">
            <a:spAutoFit/>
          </a:bodyPr>
          <a:lstStyle/>
          <a:p>
            <a:r>
              <a:rPr lang="en-US" sz="2600" dirty="0"/>
              <a:t>http://bioinformatics-core-shared-</a:t>
            </a:r>
            <a:r>
              <a:rPr lang="en-US" sz="2600" dirty="0" err="1"/>
              <a:t>training.github.io</a:t>
            </a:r>
            <a:r>
              <a:rPr lang="en-US" sz="2600" dirty="0"/>
              <a:t>/</a:t>
            </a:r>
            <a:r>
              <a:rPr lang="en-US" sz="2600" dirty="0" err="1"/>
              <a:t>IntroductionToStats</a:t>
            </a:r>
            <a:r>
              <a:rPr lang="en-US" sz="2600" dirty="0"/>
              <a:t>/</a:t>
            </a:r>
            <a:r>
              <a:rPr lang="en-US" sz="2600" dirty="0" err="1"/>
              <a:t>practical.html</a:t>
            </a:r>
            <a:endParaRPr lang="en-US" sz="2600" dirty="0"/>
          </a:p>
        </p:txBody>
      </p:sp>
      <p:sp>
        <p:nvSpPr>
          <p:cNvPr id="2" name="TextBox 1">
            <a:extLst>
              <a:ext uri="{FF2B5EF4-FFF2-40B4-BE49-F238E27FC236}">
                <a16:creationId xmlns:a16="http://schemas.microsoft.com/office/drawing/2014/main" id="{D78E134F-07C3-4AFC-8FFD-2BA4659AFA89}"/>
              </a:ext>
            </a:extLst>
          </p:cNvPr>
          <p:cNvSpPr txBox="1"/>
          <p:nvPr/>
        </p:nvSpPr>
        <p:spPr>
          <a:xfrm>
            <a:off x="178131" y="3669471"/>
            <a:ext cx="3123210" cy="492443"/>
          </a:xfrm>
          <a:prstGeom prst="rect">
            <a:avLst/>
          </a:prstGeom>
          <a:solidFill>
            <a:schemeClr val="accent6">
              <a:lumMod val="20000"/>
              <a:lumOff val="80000"/>
            </a:schemeClr>
          </a:solidFill>
        </p:spPr>
        <p:txBody>
          <a:bodyPr wrap="square" rtlCol="0">
            <a:spAutoFit/>
          </a:bodyPr>
          <a:lstStyle/>
          <a:p>
            <a:r>
              <a:rPr lang="en-US" sz="2600" dirty="0"/>
              <a:t>Shiny web application</a:t>
            </a:r>
          </a:p>
        </p:txBody>
      </p:sp>
      <p:sp>
        <p:nvSpPr>
          <p:cNvPr id="3" name="TextBox 2">
            <a:extLst>
              <a:ext uri="{FF2B5EF4-FFF2-40B4-BE49-F238E27FC236}">
                <a16:creationId xmlns:a16="http://schemas.microsoft.com/office/drawing/2014/main" id="{E924FE7B-F5CE-AB16-41CD-F73727A518C2}"/>
              </a:ext>
            </a:extLst>
          </p:cNvPr>
          <p:cNvSpPr txBox="1"/>
          <p:nvPr/>
        </p:nvSpPr>
        <p:spPr>
          <a:xfrm>
            <a:off x="213756" y="2039456"/>
            <a:ext cx="1401288" cy="492443"/>
          </a:xfrm>
          <a:prstGeom prst="rect">
            <a:avLst/>
          </a:prstGeom>
          <a:solidFill>
            <a:schemeClr val="accent4">
              <a:lumMod val="20000"/>
              <a:lumOff val="80000"/>
            </a:schemeClr>
          </a:solidFill>
        </p:spPr>
        <p:txBody>
          <a:bodyPr wrap="square" rtlCol="0">
            <a:spAutoFit/>
          </a:bodyPr>
          <a:lstStyle/>
          <a:p>
            <a:r>
              <a:rPr lang="en-US" sz="2600" dirty="0"/>
              <a:t>Exercises</a:t>
            </a:r>
          </a:p>
        </p:txBody>
      </p:sp>
    </p:spTree>
    <p:extLst>
      <p:ext uri="{BB962C8B-B14F-4D97-AF65-F5344CB8AC3E}">
        <p14:creationId xmlns:p14="http://schemas.microsoft.com/office/powerpoint/2010/main" val="25688435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57D82-8425-B74B-AF4D-6ED2D12F4A4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39FE027-1D68-B7EE-692D-28FFF31DE22D}"/>
              </a:ext>
            </a:extLst>
          </p:cNvPr>
          <p:cNvSpPr>
            <a:spLocks noGrp="1"/>
          </p:cNvSpPr>
          <p:nvPr>
            <p:ph type="title"/>
          </p:nvPr>
        </p:nvSpPr>
        <p:spPr>
          <a:xfrm>
            <a:off x="7273101" y="2281573"/>
            <a:ext cx="2752638" cy="1033123"/>
          </a:xfrm>
        </p:spPr>
        <p:txBody>
          <a:bodyPr>
            <a:normAutofit fontScale="90000"/>
          </a:bodyPr>
          <a:lstStyle/>
          <a:p>
            <a:pPr algn="ctr"/>
            <a:r>
              <a:rPr lang="en-US" sz="3600" dirty="0"/>
              <a:t>Inferential Statistics</a:t>
            </a:r>
          </a:p>
        </p:txBody>
      </p:sp>
      <p:sp>
        <p:nvSpPr>
          <p:cNvPr id="5" name="Text Placeholder 4">
            <a:extLst>
              <a:ext uri="{FF2B5EF4-FFF2-40B4-BE49-F238E27FC236}">
                <a16:creationId xmlns:a16="http://schemas.microsoft.com/office/drawing/2014/main" id="{735069F3-F92F-0119-83A6-CAC9029840C3}"/>
              </a:ext>
            </a:extLst>
          </p:cNvPr>
          <p:cNvSpPr>
            <a:spLocks noGrp="1"/>
          </p:cNvSpPr>
          <p:nvPr>
            <p:ph type="body" sz="quarter" idx="22"/>
          </p:nvPr>
        </p:nvSpPr>
        <p:spPr>
          <a:xfrm>
            <a:off x="7920000" y="5328000"/>
            <a:ext cx="2947523" cy="569080"/>
          </a:xfrm>
        </p:spPr>
        <p:txBody>
          <a:bodyPr>
            <a:noAutofit/>
          </a:bodyPr>
          <a:lstStyle/>
          <a:p>
            <a:r>
              <a:rPr lang="en-US" sz="2500" dirty="0"/>
              <a:t>13.30 - 13.45</a:t>
            </a:r>
          </a:p>
        </p:txBody>
      </p:sp>
      <p:sp>
        <p:nvSpPr>
          <p:cNvPr id="13" name="Text Placeholder 2">
            <a:extLst>
              <a:ext uri="{FF2B5EF4-FFF2-40B4-BE49-F238E27FC236}">
                <a16:creationId xmlns:a16="http://schemas.microsoft.com/office/drawing/2014/main" id="{3B491DFC-03A7-A1A6-1605-20E861333108}"/>
              </a:ext>
            </a:extLst>
          </p:cNvPr>
          <p:cNvSpPr>
            <a:spLocks noGrp="1"/>
          </p:cNvSpPr>
          <p:nvPr>
            <p:ph type="body" sz="quarter" idx="11"/>
          </p:nvPr>
        </p:nvSpPr>
        <p:spPr>
          <a:xfrm>
            <a:off x="7920000" y="4500000"/>
            <a:ext cx="3225109" cy="566630"/>
          </a:xfrm>
        </p:spPr>
        <p:txBody>
          <a:bodyPr>
            <a:normAutofit/>
          </a:bodyPr>
          <a:lstStyle/>
          <a:p>
            <a:r>
              <a:rPr lang="en-US" sz="2500" dirty="0"/>
              <a:t>Hypothesis testing</a:t>
            </a:r>
          </a:p>
        </p:txBody>
      </p:sp>
      <p:sp>
        <p:nvSpPr>
          <p:cNvPr id="11" name="TextBox 10">
            <a:extLst>
              <a:ext uri="{FF2B5EF4-FFF2-40B4-BE49-F238E27FC236}">
                <a16:creationId xmlns:a16="http://schemas.microsoft.com/office/drawing/2014/main" id="{19BD8262-AE2B-200D-6FC2-43B67B688BDC}"/>
              </a:ext>
            </a:extLst>
          </p:cNvPr>
          <p:cNvSpPr txBox="1"/>
          <p:nvPr/>
        </p:nvSpPr>
        <p:spPr>
          <a:xfrm>
            <a:off x="127712" y="920464"/>
            <a:ext cx="3195887" cy="461665"/>
          </a:xfrm>
          <a:prstGeom prst="rect">
            <a:avLst/>
          </a:prstGeom>
          <a:noFill/>
        </p:spPr>
        <p:txBody>
          <a:bodyPr wrap="square" rtlCol="0">
            <a:spAutoFit/>
          </a:bodyPr>
          <a:lstStyle/>
          <a:p>
            <a:pPr algn="ctr"/>
            <a:r>
              <a:rPr lang="en-US" sz="2400" dirty="0"/>
              <a:t>1) Statistical distribution </a:t>
            </a:r>
          </a:p>
        </p:txBody>
      </p:sp>
      <p:pic>
        <p:nvPicPr>
          <p:cNvPr id="12" name="Picture 2" descr="Binomial distribution - Wikipedia">
            <a:extLst>
              <a:ext uri="{FF2B5EF4-FFF2-40B4-BE49-F238E27FC236}">
                <a16:creationId xmlns:a16="http://schemas.microsoft.com/office/drawing/2014/main" id="{A92C6213-396B-885A-E3E2-D305510F1B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60421" y="592072"/>
            <a:ext cx="2176908" cy="1449482"/>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4" descr="The History of the Coin Flip – Heads or Tails? - Hattons of London">
            <a:extLst>
              <a:ext uri="{FF2B5EF4-FFF2-40B4-BE49-F238E27FC236}">
                <a16:creationId xmlns:a16="http://schemas.microsoft.com/office/drawing/2014/main" id="{A71F8C29-530F-1482-02B5-958F6517A3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04311" y="3738321"/>
            <a:ext cx="2187508" cy="1455687"/>
          </a:xfrm>
          <a:prstGeom prst="rect">
            <a:avLst/>
          </a:prstGeom>
          <a:noFill/>
          <a:extLst>
            <a:ext uri="{909E8E84-426E-40DD-AFC4-6F175D3DCCD1}">
              <a14:hiddenFill xmlns:a14="http://schemas.microsoft.com/office/drawing/2010/main">
                <a:solidFill>
                  <a:srgbClr val="FFFFFF"/>
                </a:solidFill>
              </a14:hiddenFill>
            </a:ext>
          </a:extLst>
        </p:spPr>
      </p:pic>
      <p:cxnSp>
        <p:nvCxnSpPr>
          <p:cNvPr id="15" name="Straight Arrow Connector 14">
            <a:extLst>
              <a:ext uri="{FF2B5EF4-FFF2-40B4-BE49-F238E27FC236}">
                <a16:creationId xmlns:a16="http://schemas.microsoft.com/office/drawing/2014/main" id="{BD94DF81-5124-800B-6573-71372D01FB20}"/>
              </a:ext>
            </a:extLst>
          </p:cNvPr>
          <p:cNvCxnSpPr>
            <a:cxnSpLocks/>
          </p:cNvCxnSpPr>
          <p:nvPr/>
        </p:nvCxnSpPr>
        <p:spPr>
          <a:xfrm>
            <a:off x="4848875" y="2232586"/>
            <a:ext cx="0" cy="1327041"/>
          </a:xfrm>
          <a:prstGeom prst="straightConnector1">
            <a:avLst/>
          </a:prstGeom>
          <a:ln w="25400">
            <a:solidFill>
              <a:schemeClr val="tx1"/>
            </a:solidFill>
            <a:prstDash val="sysDash"/>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DC674F6-8020-FD37-C738-6DDE56ABD2A1}"/>
              </a:ext>
            </a:extLst>
          </p:cNvPr>
          <p:cNvCxnSpPr>
            <a:cxnSpLocks/>
          </p:cNvCxnSpPr>
          <p:nvPr/>
        </p:nvCxnSpPr>
        <p:spPr>
          <a:xfrm>
            <a:off x="1828798" y="4466164"/>
            <a:ext cx="1690460" cy="0"/>
          </a:xfrm>
          <a:prstGeom prst="line">
            <a:avLst/>
          </a:prstGeom>
          <a:ln w="63500">
            <a:solidFill>
              <a:schemeClr val="accent1">
                <a:lumMod val="40000"/>
                <a:lumOff val="60000"/>
              </a:schemeClr>
            </a:solidFill>
            <a:headEnd type="none"/>
            <a:tailEnd type="ova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D46A496A-A448-93FF-0FAB-7D45E7B01170}"/>
              </a:ext>
            </a:extLst>
          </p:cNvPr>
          <p:cNvSpPr txBox="1"/>
          <p:nvPr/>
        </p:nvSpPr>
        <p:spPr>
          <a:xfrm>
            <a:off x="293418" y="4631939"/>
            <a:ext cx="3201392" cy="461665"/>
          </a:xfrm>
          <a:prstGeom prst="rect">
            <a:avLst/>
          </a:prstGeom>
          <a:solidFill>
            <a:schemeClr val="accent1">
              <a:lumMod val="20000"/>
              <a:lumOff val="80000"/>
            </a:schemeClr>
          </a:solidFill>
          <a:ln>
            <a:solidFill>
              <a:schemeClr val="accent1">
                <a:lumMod val="20000"/>
                <a:lumOff val="80000"/>
              </a:schemeClr>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r"/>
            <a:r>
              <a:rPr lang="en-US" sz="2400" b="1" dirty="0"/>
              <a:t>3) Frequentist inference</a:t>
            </a:r>
          </a:p>
        </p:txBody>
      </p:sp>
      <p:sp>
        <p:nvSpPr>
          <p:cNvPr id="20" name="TextBox 19">
            <a:extLst>
              <a:ext uri="{FF2B5EF4-FFF2-40B4-BE49-F238E27FC236}">
                <a16:creationId xmlns:a16="http://schemas.microsoft.com/office/drawing/2014/main" id="{3A988621-8789-DE5E-F908-B581DBB4E795}"/>
              </a:ext>
            </a:extLst>
          </p:cNvPr>
          <p:cNvSpPr txBox="1"/>
          <p:nvPr/>
        </p:nvSpPr>
        <p:spPr>
          <a:xfrm>
            <a:off x="5016191" y="2434146"/>
            <a:ext cx="1653075" cy="830997"/>
          </a:xfrm>
          <a:prstGeom prst="rect">
            <a:avLst/>
          </a:prstGeom>
          <a:noFill/>
        </p:spPr>
        <p:txBody>
          <a:bodyPr wrap="square" rtlCol="0">
            <a:spAutoFit/>
          </a:bodyPr>
          <a:lstStyle/>
          <a:p>
            <a:r>
              <a:rPr lang="en-US" sz="2400" dirty="0"/>
              <a:t>2) Data generation</a:t>
            </a:r>
          </a:p>
        </p:txBody>
      </p:sp>
      <p:cxnSp>
        <p:nvCxnSpPr>
          <p:cNvPr id="21" name="Straight Arrow Connector 20">
            <a:extLst>
              <a:ext uri="{FF2B5EF4-FFF2-40B4-BE49-F238E27FC236}">
                <a16:creationId xmlns:a16="http://schemas.microsoft.com/office/drawing/2014/main" id="{84A97AC5-A7E6-B166-9407-A641099343DD}"/>
              </a:ext>
            </a:extLst>
          </p:cNvPr>
          <p:cNvCxnSpPr/>
          <p:nvPr/>
        </p:nvCxnSpPr>
        <p:spPr>
          <a:xfrm flipV="1">
            <a:off x="1828798" y="1512000"/>
            <a:ext cx="0" cy="2988000"/>
          </a:xfrm>
          <a:prstGeom prst="straightConnector1">
            <a:avLst/>
          </a:prstGeom>
          <a:ln w="63500">
            <a:solidFill>
              <a:schemeClr val="accent1">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46254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654C9-D461-4F89-47E4-F8735029749F}"/>
              </a:ext>
            </a:extLst>
          </p:cNvPr>
          <p:cNvSpPr txBox="1">
            <a:spLocks/>
          </p:cNvSpPr>
          <p:nvPr/>
        </p:nvSpPr>
        <p:spPr>
          <a:xfrm>
            <a:off x="14068" y="38136"/>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Hypothesis Testing</a:t>
            </a:r>
          </a:p>
        </p:txBody>
      </p:sp>
      <p:sp>
        <p:nvSpPr>
          <p:cNvPr id="3" name="TextBox 2">
            <a:extLst>
              <a:ext uri="{FF2B5EF4-FFF2-40B4-BE49-F238E27FC236}">
                <a16:creationId xmlns:a16="http://schemas.microsoft.com/office/drawing/2014/main" id="{A6D10C2D-6C46-716F-189C-BC752DAD1803}"/>
              </a:ext>
            </a:extLst>
          </p:cNvPr>
          <p:cNvSpPr txBox="1"/>
          <p:nvPr/>
        </p:nvSpPr>
        <p:spPr>
          <a:xfrm>
            <a:off x="168439" y="1058780"/>
            <a:ext cx="11903247" cy="2084866"/>
          </a:xfrm>
          <a:prstGeom prst="rect">
            <a:avLst/>
          </a:prstGeom>
          <a:noFill/>
        </p:spPr>
        <p:txBody>
          <a:bodyPr wrap="square" rtlCol="0">
            <a:spAutoFit/>
          </a:bodyPr>
          <a:lstStyle/>
          <a:p>
            <a:pPr marL="342900" indent="-342900">
              <a:buFont typeface="Wingdings" pitchFamily="2" charset="2"/>
              <a:buChar char="§"/>
            </a:pPr>
            <a:r>
              <a:rPr lang="en-US" sz="3100" dirty="0"/>
              <a:t>A hypothesis is a statement about the population(s).</a:t>
            </a:r>
          </a:p>
          <a:p>
            <a:endParaRPr lang="en-US" sz="1400" dirty="0"/>
          </a:p>
          <a:p>
            <a:pPr>
              <a:lnSpc>
                <a:spcPct val="120000"/>
              </a:lnSpc>
            </a:pPr>
            <a:r>
              <a:rPr lang="en-US" sz="2400" dirty="0"/>
              <a:t>	Example n.1: Carboplatin induced response in at least 70% of NSCLC patients</a:t>
            </a:r>
          </a:p>
          <a:p>
            <a:pPr>
              <a:lnSpc>
                <a:spcPct val="120000"/>
              </a:lnSpc>
            </a:pPr>
            <a:r>
              <a:rPr lang="en-US" sz="2400" dirty="0"/>
              <a:t>	Example n.2: The mean pressure is the same in C57BL/6J and DBA/2J mice</a:t>
            </a:r>
          </a:p>
          <a:p>
            <a:pPr>
              <a:lnSpc>
                <a:spcPct val="120000"/>
              </a:lnSpc>
            </a:pPr>
            <a:r>
              <a:rPr lang="en-US" sz="2400" dirty="0"/>
              <a:t>	Example n.3: The two populations A and B have the same height distribution</a:t>
            </a:r>
          </a:p>
        </p:txBody>
      </p:sp>
      <p:sp>
        <p:nvSpPr>
          <p:cNvPr id="6" name="TextBox 5">
            <a:extLst>
              <a:ext uri="{FF2B5EF4-FFF2-40B4-BE49-F238E27FC236}">
                <a16:creationId xmlns:a16="http://schemas.microsoft.com/office/drawing/2014/main" id="{D56D8FED-D5D6-A39F-90DE-9569FD6FBDD7}"/>
              </a:ext>
            </a:extLst>
          </p:cNvPr>
          <p:cNvSpPr txBox="1"/>
          <p:nvPr/>
        </p:nvSpPr>
        <p:spPr>
          <a:xfrm>
            <a:off x="176458" y="3725781"/>
            <a:ext cx="11903247" cy="2561920"/>
          </a:xfrm>
          <a:prstGeom prst="rect">
            <a:avLst/>
          </a:prstGeom>
          <a:noFill/>
        </p:spPr>
        <p:txBody>
          <a:bodyPr wrap="square" rtlCol="0">
            <a:spAutoFit/>
          </a:bodyPr>
          <a:lstStyle/>
          <a:p>
            <a:pPr marL="342900" indent="-342900">
              <a:buFont typeface="Wingdings" pitchFamily="2" charset="2"/>
              <a:buChar char="§"/>
            </a:pPr>
            <a:r>
              <a:rPr lang="en-US" sz="3100" dirty="0"/>
              <a:t>The goal of a hypothesis test is to decide, </a:t>
            </a:r>
            <a:r>
              <a:rPr lang="en-US" sz="3100" b="1" dirty="0"/>
              <a:t>based on data collected</a:t>
            </a:r>
            <a:r>
              <a:rPr lang="en-US" sz="3100" dirty="0"/>
              <a:t>, which of two complementary hypotheses is true.</a:t>
            </a:r>
          </a:p>
          <a:p>
            <a:endParaRPr lang="en-US" sz="1400" dirty="0"/>
          </a:p>
          <a:p>
            <a:pPr>
              <a:lnSpc>
                <a:spcPct val="120000"/>
              </a:lnSpc>
            </a:pPr>
            <a:r>
              <a:rPr lang="en-US" sz="2400" dirty="0"/>
              <a:t>	Example n.1: 	H</a:t>
            </a:r>
            <a:r>
              <a:rPr lang="en-US" sz="2400" baseline="-25000" dirty="0"/>
              <a:t>0</a:t>
            </a:r>
            <a:r>
              <a:rPr lang="en-US" sz="2400" dirty="0"/>
              <a:t>: RR &lt; 0.70; H</a:t>
            </a:r>
            <a:r>
              <a:rPr lang="en-US" sz="2400" baseline="-25000" dirty="0"/>
              <a:t>1</a:t>
            </a:r>
            <a:r>
              <a:rPr lang="en-US" sz="2400" dirty="0"/>
              <a:t>: RR </a:t>
            </a:r>
            <a:r>
              <a:rPr lang="en-US" sz="2400" u="sng" dirty="0"/>
              <a:t>&gt;</a:t>
            </a:r>
            <a:r>
              <a:rPr lang="en-US" sz="2400" dirty="0"/>
              <a:t> 0.70</a:t>
            </a:r>
          </a:p>
          <a:p>
            <a:pPr>
              <a:lnSpc>
                <a:spcPct val="120000"/>
              </a:lnSpc>
            </a:pPr>
            <a:r>
              <a:rPr lang="en-US" sz="2400" dirty="0"/>
              <a:t>	Example n.2: 	H</a:t>
            </a:r>
            <a:r>
              <a:rPr lang="en-US" sz="2400" baseline="-25000" dirty="0"/>
              <a:t>0</a:t>
            </a:r>
            <a:r>
              <a:rPr lang="en-US" sz="2400" dirty="0"/>
              <a:t>: 𝛍</a:t>
            </a:r>
            <a:r>
              <a:rPr lang="en-US" sz="2400" baseline="-25000" dirty="0"/>
              <a:t>1</a:t>
            </a:r>
            <a:r>
              <a:rPr lang="en-US" sz="2400" dirty="0"/>
              <a:t> = 𝛍</a:t>
            </a:r>
            <a:r>
              <a:rPr lang="en-US" sz="2400" baseline="-25000" dirty="0"/>
              <a:t>2</a:t>
            </a:r>
            <a:r>
              <a:rPr lang="en-US" sz="2400" dirty="0"/>
              <a:t>; H</a:t>
            </a:r>
            <a:r>
              <a:rPr lang="en-US" sz="2400" baseline="-25000" dirty="0"/>
              <a:t>1</a:t>
            </a:r>
            <a:r>
              <a:rPr lang="en-US" sz="2400" dirty="0"/>
              <a:t>: 𝛍</a:t>
            </a:r>
            <a:r>
              <a:rPr lang="en-US" sz="2400" baseline="-25000" dirty="0"/>
              <a:t>1 </a:t>
            </a:r>
            <a:r>
              <a:rPr lang="en-US" sz="2400" dirty="0"/>
              <a:t>≠ 𝛍	</a:t>
            </a:r>
          </a:p>
          <a:p>
            <a:pPr>
              <a:lnSpc>
                <a:spcPct val="120000"/>
              </a:lnSpc>
            </a:pPr>
            <a:r>
              <a:rPr lang="en-US" sz="2400" dirty="0"/>
              <a:t>	Example n.3: 	H</a:t>
            </a:r>
            <a:r>
              <a:rPr lang="en-US" sz="2400" baseline="-25000" dirty="0"/>
              <a:t>0</a:t>
            </a:r>
            <a:r>
              <a:rPr lang="en-US" sz="2400" dirty="0"/>
              <a:t>: D</a:t>
            </a:r>
            <a:r>
              <a:rPr lang="en-US" sz="2400" baseline="-25000" dirty="0"/>
              <a:t>A</a:t>
            </a:r>
            <a:r>
              <a:rPr lang="en-US" sz="2400" dirty="0"/>
              <a:t> = D</a:t>
            </a:r>
            <a:r>
              <a:rPr lang="en-US" sz="2400" baseline="-25000" dirty="0"/>
              <a:t>B</a:t>
            </a:r>
            <a:r>
              <a:rPr lang="en-US" sz="2400" dirty="0"/>
              <a:t>; H</a:t>
            </a:r>
            <a:r>
              <a:rPr lang="en-US" sz="2400" baseline="-25000" dirty="0"/>
              <a:t>1</a:t>
            </a:r>
            <a:r>
              <a:rPr lang="en-US" sz="2400" dirty="0"/>
              <a:t>: D</a:t>
            </a:r>
            <a:r>
              <a:rPr lang="en-US" sz="2400" baseline="-25000" dirty="0"/>
              <a:t>A</a:t>
            </a:r>
            <a:r>
              <a:rPr lang="en-US" sz="2400" dirty="0"/>
              <a:t> ≠ D</a:t>
            </a:r>
            <a:r>
              <a:rPr lang="en-US" sz="2400" baseline="-25000" dirty="0"/>
              <a:t>B</a:t>
            </a:r>
            <a:endParaRPr lang="en-US" sz="2400" dirty="0"/>
          </a:p>
        </p:txBody>
      </p:sp>
    </p:spTree>
    <p:extLst>
      <p:ext uri="{BB962C8B-B14F-4D97-AF65-F5344CB8AC3E}">
        <p14:creationId xmlns:p14="http://schemas.microsoft.com/office/powerpoint/2010/main" val="9262538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B6797-1173-AEF8-A885-BD33FD88F278}"/>
              </a:ext>
            </a:extLst>
          </p:cNvPr>
          <p:cNvSpPr txBox="1">
            <a:spLocks/>
          </p:cNvSpPr>
          <p:nvPr/>
        </p:nvSpPr>
        <p:spPr>
          <a:xfrm>
            <a:off x="14068" y="38136"/>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Hypothesis Testing</a:t>
            </a:r>
          </a:p>
        </p:txBody>
      </p:sp>
      <p:sp>
        <p:nvSpPr>
          <p:cNvPr id="3" name="TextBox 2">
            <a:extLst>
              <a:ext uri="{FF2B5EF4-FFF2-40B4-BE49-F238E27FC236}">
                <a16:creationId xmlns:a16="http://schemas.microsoft.com/office/drawing/2014/main" id="{A89D0AD0-A09F-DB13-3021-540A9D091801}"/>
              </a:ext>
            </a:extLst>
          </p:cNvPr>
          <p:cNvSpPr txBox="1"/>
          <p:nvPr/>
        </p:nvSpPr>
        <p:spPr>
          <a:xfrm>
            <a:off x="168439" y="1058780"/>
            <a:ext cx="11903247" cy="1796197"/>
          </a:xfrm>
          <a:prstGeom prst="rect">
            <a:avLst/>
          </a:prstGeom>
          <a:noFill/>
        </p:spPr>
        <p:txBody>
          <a:bodyPr wrap="square" rtlCol="0">
            <a:spAutoFit/>
          </a:bodyPr>
          <a:lstStyle/>
          <a:p>
            <a:r>
              <a:rPr lang="en-US" sz="3100" b="1" dirty="0"/>
              <a:t>H</a:t>
            </a:r>
            <a:r>
              <a:rPr lang="en-US" sz="3100" b="1" baseline="-25000" dirty="0"/>
              <a:t>0</a:t>
            </a:r>
            <a:r>
              <a:rPr lang="en-US" sz="3100" dirty="0"/>
              <a:t>: null hypothesis</a:t>
            </a:r>
          </a:p>
          <a:p>
            <a:r>
              <a:rPr lang="en-US" sz="3100" b="1" dirty="0"/>
              <a:t>H</a:t>
            </a:r>
            <a:r>
              <a:rPr lang="en-US" sz="3100" b="1" baseline="-25000" dirty="0"/>
              <a:t>1</a:t>
            </a:r>
            <a:r>
              <a:rPr lang="en-US" sz="3100" dirty="0"/>
              <a:t>: alternative hypothesis</a:t>
            </a:r>
          </a:p>
          <a:p>
            <a:endParaRPr lang="en-US" sz="1400" dirty="0"/>
          </a:p>
          <a:p>
            <a:pPr>
              <a:lnSpc>
                <a:spcPct val="120000"/>
              </a:lnSpc>
            </a:pPr>
            <a:r>
              <a:rPr lang="en-US" sz="3100" b="1" dirty="0"/>
              <a:t>There is no symmetry between H</a:t>
            </a:r>
            <a:r>
              <a:rPr lang="en-US" sz="3100" b="1" baseline="-25000" dirty="0"/>
              <a:t>0</a:t>
            </a:r>
            <a:r>
              <a:rPr lang="en-US" sz="3100" b="1" dirty="0"/>
              <a:t> and H</a:t>
            </a:r>
            <a:r>
              <a:rPr lang="en-US" sz="3100" b="1" baseline="-25000" dirty="0"/>
              <a:t>1</a:t>
            </a:r>
            <a:r>
              <a:rPr lang="en-US" sz="2400" dirty="0"/>
              <a:t>:</a:t>
            </a:r>
            <a:endParaRPr lang="en-US" sz="3100" dirty="0"/>
          </a:p>
        </p:txBody>
      </p:sp>
      <p:sp>
        <p:nvSpPr>
          <p:cNvPr id="6" name="Down Arrow 5">
            <a:extLst>
              <a:ext uri="{FF2B5EF4-FFF2-40B4-BE49-F238E27FC236}">
                <a16:creationId xmlns:a16="http://schemas.microsoft.com/office/drawing/2014/main" id="{B1E1DBBF-407A-4514-A282-56F9CA3039BA}"/>
              </a:ext>
            </a:extLst>
          </p:cNvPr>
          <p:cNvSpPr/>
          <p:nvPr/>
        </p:nvSpPr>
        <p:spPr>
          <a:xfrm>
            <a:off x="213557" y="3066673"/>
            <a:ext cx="653716" cy="2976940"/>
          </a:xfrm>
          <a:prstGeom prst="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 </a:t>
            </a:r>
            <a:r>
              <a:rPr lang="en-US" dirty="0" err="1">
                <a:solidFill>
                  <a:schemeClr val="tx1"/>
                </a:solidFill>
              </a:rPr>
              <a:t>cedure</a:t>
            </a:r>
            <a:endParaRPr lang="en-US" dirty="0">
              <a:solidFill>
                <a:schemeClr val="tx1"/>
              </a:solidFill>
            </a:endParaRPr>
          </a:p>
        </p:txBody>
      </p:sp>
      <p:sp>
        <p:nvSpPr>
          <p:cNvPr id="7" name="TextBox 6">
            <a:extLst>
              <a:ext uri="{FF2B5EF4-FFF2-40B4-BE49-F238E27FC236}">
                <a16:creationId xmlns:a16="http://schemas.microsoft.com/office/drawing/2014/main" id="{782F3F96-E073-5A5C-BFA4-EBD1269A59A3}"/>
              </a:ext>
            </a:extLst>
          </p:cNvPr>
          <p:cNvSpPr txBox="1"/>
          <p:nvPr/>
        </p:nvSpPr>
        <p:spPr>
          <a:xfrm>
            <a:off x="830177" y="3054615"/>
            <a:ext cx="5642811" cy="523220"/>
          </a:xfrm>
          <a:prstGeom prst="rect">
            <a:avLst/>
          </a:prstGeom>
          <a:noFill/>
        </p:spPr>
        <p:txBody>
          <a:bodyPr wrap="square" rtlCol="0">
            <a:spAutoFit/>
          </a:bodyPr>
          <a:lstStyle/>
          <a:p>
            <a:r>
              <a:rPr lang="en-US" sz="2750" dirty="0"/>
              <a:t>1</a:t>
            </a:r>
            <a:r>
              <a:rPr lang="en-US" sz="2750" baseline="30000" dirty="0"/>
              <a:t>st</a:t>
            </a:r>
            <a:r>
              <a:rPr lang="en-US" sz="2750" dirty="0"/>
              <a:t> step: We assume H</a:t>
            </a:r>
            <a:r>
              <a:rPr lang="en-US" sz="2750" baseline="-25000" dirty="0"/>
              <a:t>0</a:t>
            </a:r>
            <a:r>
              <a:rPr lang="en-US" sz="2750" dirty="0"/>
              <a:t> to be true</a:t>
            </a:r>
          </a:p>
        </p:txBody>
      </p:sp>
      <p:sp>
        <p:nvSpPr>
          <p:cNvPr id="8" name="TextBox 7">
            <a:extLst>
              <a:ext uri="{FF2B5EF4-FFF2-40B4-BE49-F238E27FC236}">
                <a16:creationId xmlns:a16="http://schemas.microsoft.com/office/drawing/2014/main" id="{3CA792A5-8F8C-378B-557A-2D3D203DB2E7}"/>
              </a:ext>
            </a:extLst>
          </p:cNvPr>
          <p:cNvSpPr txBox="1"/>
          <p:nvPr/>
        </p:nvSpPr>
        <p:spPr>
          <a:xfrm>
            <a:off x="814135" y="3938594"/>
            <a:ext cx="11377865" cy="515526"/>
          </a:xfrm>
          <a:prstGeom prst="rect">
            <a:avLst/>
          </a:prstGeom>
          <a:noFill/>
        </p:spPr>
        <p:txBody>
          <a:bodyPr wrap="square" rtlCol="0">
            <a:spAutoFit/>
          </a:bodyPr>
          <a:lstStyle/>
          <a:p>
            <a:r>
              <a:rPr lang="en-US" sz="2750" dirty="0"/>
              <a:t>2</a:t>
            </a:r>
            <a:r>
              <a:rPr lang="en-US" sz="2750" baseline="30000" dirty="0"/>
              <a:t>st</a:t>
            </a:r>
            <a:r>
              <a:rPr lang="en-US" sz="2750" dirty="0"/>
              <a:t> step: The strength of evidence provided by the data </a:t>
            </a:r>
            <a:r>
              <a:rPr lang="en-US" sz="2750" b="1" dirty="0"/>
              <a:t>against</a:t>
            </a:r>
            <a:r>
              <a:rPr lang="en-US" sz="2750" dirty="0"/>
              <a:t> H</a:t>
            </a:r>
            <a:r>
              <a:rPr lang="en-US" sz="2750" baseline="-25000" dirty="0"/>
              <a:t>0 </a:t>
            </a:r>
            <a:r>
              <a:rPr lang="en-US" sz="2750" dirty="0"/>
              <a:t>is measured</a:t>
            </a:r>
          </a:p>
        </p:txBody>
      </p:sp>
      <p:sp>
        <p:nvSpPr>
          <p:cNvPr id="9" name="TextBox 8">
            <a:extLst>
              <a:ext uri="{FF2B5EF4-FFF2-40B4-BE49-F238E27FC236}">
                <a16:creationId xmlns:a16="http://schemas.microsoft.com/office/drawing/2014/main" id="{787437D5-62AC-ED21-C629-B8BCC2CACEA2}"/>
              </a:ext>
            </a:extLst>
          </p:cNvPr>
          <p:cNvSpPr txBox="1"/>
          <p:nvPr/>
        </p:nvSpPr>
        <p:spPr>
          <a:xfrm>
            <a:off x="810120" y="4931022"/>
            <a:ext cx="11377865" cy="1361911"/>
          </a:xfrm>
          <a:prstGeom prst="rect">
            <a:avLst/>
          </a:prstGeom>
          <a:noFill/>
        </p:spPr>
        <p:txBody>
          <a:bodyPr wrap="square" rtlCol="0">
            <a:spAutoFit/>
          </a:bodyPr>
          <a:lstStyle/>
          <a:p>
            <a:r>
              <a:rPr lang="en-US" sz="2750" dirty="0"/>
              <a:t>3</a:t>
            </a:r>
            <a:r>
              <a:rPr lang="en-US" sz="2750" baseline="30000" dirty="0"/>
              <a:t>st</a:t>
            </a:r>
            <a:r>
              <a:rPr lang="en-US" sz="2750" dirty="0"/>
              <a:t> step: If a contradiction is found, H</a:t>
            </a:r>
            <a:r>
              <a:rPr lang="en-US" sz="2750" baseline="-25000" dirty="0"/>
              <a:t>1</a:t>
            </a:r>
            <a:r>
              <a:rPr lang="en-US" sz="2750" dirty="0"/>
              <a:t> is accepted.</a:t>
            </a:r>
          </a:p>
          <a:p>
            <a:r>
              <a:rPr lang="en-US" sz="2750" dirty="0"/>
              <a:t>	    If a contradiction is not found, the method of proof fails and the 		    hypothesis H</a:t>
            </a:r>
            <a:r>
              <a:rPr lang="en-US" sz="2750" baseline="-25000" dirty="0"/>
              <a:t>0</a:t>
            </a:r>
            <a:r>
              <a:rPr lang="en-US" sz="2750" dirty="0"/>
              <a:t> could be either true or false</a:t>
            </a:r>
          </a:p>
        </p:txBody>
      </p:sp>
    </p:spTree>
    <p:extLst>
      <p:ext uri="{BB962C8B-B14F-4D97-AF65-F5344CB8AC3E}">
        <p14:creationId xmlns:p14="http://schemas.microsoft.com/office/powerpoint/2010/main" val="6597188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E4D15-9BB9-4066-3183-86867E7E7D7D}"/>
              </a:ext>
            </a:extLst>
          </p:cNvPr>
          <p:cNvSpPr txBox="1">
            <a:spLocks/>
          </p:cNvSpPr>
          <p:nvPr/>
        </p:nvSpPr>
        <p:spPr>
          <a:xfrm>
            <a:off x="14068" y="38136"/>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Strength of evidence provided by the data</a:t>
            </a:r>
          </a:p>
        </p:txBody>
      </p:sp>
      <p:sp>
        <p:nvSpPr>
          <p:cNvPr id="3" name="TextBox 2">
            <a:extLst>
              <a:ext uri="{FF2B5EF4-FFF2-40B4-BE49-F238E27FC236}">
                <a16:creationId xmlns:a16="http://schemas.microsoft.com/office/drawing/2014/main" id="{F4025239-C6E7-E13F-3A47-43E6BF6A0B8A}"/>
              </a:ext>
            </a:extLst>
          </p:cNvPr>
          <p:cNvSpPr txBox="1"/>
          <p:nvPr/>
        </p:nvSpPr>
        <p:spPr>
          <a:xfrm>
            <a:off x="1051253" y="1217445"/>
            <a:ext cx="6485022" cy="584775"/>
          </a:xfrm>
          <a:prstGeom prst="rect">
            <a:avLst/>
          </a:prstGeom>
          <a:noFill/>
        </p:spPr>
        <p:txBody>
          <a:bodyPr wrap="square" rtlCol="0">
            <a:spAutoFit/>
          </a:bodyPr>
          <a:lstStyle/>
          <a:p>
            <a:r>
              <a:rPr lang="en-US" sz="3100" dirty="0"/>
              <a:t>Data: 			x</a:t>
            </a:r>
            <a:r>
              <a:rPr lang="en-US" sz="3100" baseline="-25000" dirty="0"/>
              <a:t>1</a:t>
            </a:r>
            <a:r>
              <a:rPr lang="en-US" sz="3100" dirty="0"/>
              <a:t>,…,</a:t>
            </a:r>
            <a:r>
              <a:rPr lang="en-US" sz="3100" dirty="0" err="1"/>
              <a:t>x</a:t>
            </a:r>
            <a:r>
              <a:rPr lang="en-US" sz="3100" baseline="-25000" dirty="0" err="1"/>
              <a:t>n</a:t>
            </a:r>
            <a:endParaRPr lang="en-US" sz="3100" baseline="-25000" dirty="0"/>
          </a:p>
        </p:txBody>
      </p:sp>
      <p:sp>
        <p:nvSpPr>
          <p:cNvPr id="6" name="TextBox 5">
            <a:extLst>
              <a:ext uri="{FF2B5EF4-FFF2-40B4-BE49-F238E27FC236}">
                <a16:creationId xmlns:a16="http://schemas.microsoft.com/office/drawing/2014/main" id="{DB5F4BA3-F5E7-0678-AC15-12501283D090}"/>
              </a:ext>
            </a:extLst>
          </p:cNvPr>
          <p:cNvSpPr txBox="1"/>
          <p:nvPr/>
        </p:nvSpPr>
        <p:spPr>
          <a:xfrm>
            <a:off x="1075809" y="2575602"/>
            <a:ext cx="6485022" cy="584775"/>
          </a:xfrm>
          <a:prstGeom prst="rect">
            <a:avLst/>
          </a:prstGeom>
          <a:noFill/>
        </p:spPr>
        <p:txBody>
          <a:bodyPr wrap="square" rtlCol="0">
            <a:spAutoFit/>
          </a:bodyPr>
          <a:lstStyle/>
          <a:p>
            <a:r>
              <a:rPr lang="en-US" sz="3100" dirty="0"/>
              <a:t>Test statistic: 		</a:t>
            </a:r>
            <a:r>
              <a:rPr lang="en-US" sz="3100" dirty="0" err="1"/>
              <a:t>t</a:t>
            </a:r>
            <a:r>
              <a:rPr lang="en-US" sz="3100" baseline="-25000" dirty="0" err="1"/>
              <a:t>s</a:t>
            </a:r>
            <a:r>
              <a:rPr lang="en-US" sz="3100" dirty="0"/>
              <a:t> = f(x</a:t>
            </a:r>
            <a:r>
              <a:rPr lang="en-US" sz="3100" baseline="-25000" dirty="0"/>
              <a:t>1</a:t>
            </a:r>
            <a:r>
              <a:rPr lang="en-US" sz="3100" dirty="0"/>
              <a:t>,…,</a:t>
            </a:r>
            <a:r>
              <a:rPr lang="en-US" sz="3100" dirty="0" err="1"/>
              <a:t>x</a:t>
            </a:r>
            <a:r>
              <a:rPr lang="en-US" sz="3100" baseline="-25000" dirty="0" err="1"/>
              <a:t>n</a:t>
            </a:r>
            <a:r>
              <a:rPr lang="en-US" sz="3100" dirty="0"/>
              <a:t>)</a:t>
            </a:r>
          </a:p>
        </p:txBody>
      </p:sp>
      <p:sp>
        <p:nvSpPr>
          <p:cNvPr id="7" name="Down Arrow 6">
            <a:extLst>
              <a:ext uri="{FF2B5EF4-FFF2-40B4-BE49-F238E27FC236}">
                <a16:creationId xmlns:a16="http://schemas.microsoft.com/office/drawing/2014/main" id="{FA5B1A36-2FEE-258D-E4EA-8FE922654DFB}"/>
              </a:ext>
            </a:extLst>
          </p:cNvPr>
          <p:cNvSpPr/>
          <p:nvPr/>
        </p:nvSpPr>
        <p:spPr>
          <a:xfrm>
            <a:off x="156404" y="1179093"/>
            <a:ext cx="697839" cy="5164557"/>
          </a:xfrm>
          <a:prstGeom prst="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 </a:t>
            </a:r>
            <a:r>
              <a:rPr lang="en-US" dirty="0" err="1">
                <a:solidFill>
                  <a:schemeClr val="tx1"/>
                </a:solidFill>
              </a:rPr>
              <a:t>cedure</a:t>
            </a:r>
            <a:endParaRPr lang="en-US" dirty="0">
              <a:solidFill>
                <a:schemeClr val="tx1"/>
              </a:solidFill>
            </a:endParaRPr>
          </a:p>
        </p:txBody>
      </p:sp>
      <p:sp>
        <p:nvSpPr>
          <p:cNvPr id="8" name="TextBox 7">
            <a:extLst>
              <a:ext uri="{FF2B5EF4-FFF2-40B4-BE49-F238E27FC236}">
                <a16:creationId xmlns:a16="http://schemas.microsoft.com/office/drawing/2014/main" id="{BEDF5CE2-D12C-62F7-6421-818CD5C862D9}"/>
              </a:ext>
            </a:extLst>
          </p:cNvPr>
          <p:cNvSpPr txBox="1"/>
          <p:nvPr/>
        </p:nvSpPr>
        <p:spPr>
          <a:xfrm>
            <a:off x="1053001" y="4034924"/>
            <a:ext cx="6933708" cy="569387"/>
          </a:xfrm>
          <a:prstGeom prst="rect">
            <a:avLst/>
          </a:prstGeom>
          <a:noFill/>
        </p:spPr>
        <p:txBody>
          <a:bodyPr wrap="square" rtlCol="0">
            <a:spAutoFit/>
          </a:bodyPr>
          <a:lstStyle/>
          <a:p>
            <a:r>
              <a:rPr lang="en-US" sz="3100" dirty="0"/>
              <a:t>Distribution of the test statistic under H</a:t>
            </a:r>
            <a:r>
              <a:rPr lang="en-US" sz="3100" baseline="-25000" dirty="0"/>
              <a:t>0</a:t>
            </a:r>
            <a:r>
              <a:rPr lang="en-US" sz="3100" dirty="0"/>
              <a:t>:</a:t>
            </a:r>
          </a:p>
        </p:txBody>
      </p:sp>
      <p:pic>
        <p:nvPicPr>
          <p:cNvPr id="10" name="Picture 9" descr="A diagram of a normal distribution&#10;&#10;Description automatically generated">
            <a:extLst>
              <a:ext uri="{FF2B5EF4-FFF2-40B4-BE49-F238E27FC236}">
                <a16:creationId xmlns:a16="http://schemas.microsoft.com/office/drawing/2014/main" id="{5798F266-04A0-8BD9-1E34-3ABF0978F269}"/>
              </a:ext>
            </a:extLst>
          </p:cNvPr>
          <p:cNvPicPr>
            <a:picLocks noChangeAspect="1"/>
          </p:cNvPicPr>
          <p:nvPr/>
        </p:nvPicPr>
        <p:blipFill>
          <a:blip r:embed="rId3"/>
          <a:stretch>
            <a:fillRect/>
          </a:stretch>
        </p:blipFill>
        <p:spPr>
          <a:xfrm>
            <a:off x="7928322" y="3024690"/>
            <a:ext cx="4080710" cy="2690903"/>
          </a:xfrm>
          <a:prstGeom prst="rect">
            <a:avLst/>
          </a:prstGeom>
          <a:ln>
            <a:solidFill>
              <a:schemeClr val="tx1"/>
            </a:solidFill>
          </a:ln>
        </p:spPr>
      </p:pic>
      <p:sp>
        <p:nvSpPr>
          <p:cNvPr id="11" name="TextBox 10">
            <a:extLst>
              <a:ext uri="{FF2B5EF4-FFF2-40B4-BE49-F238E27FC236}">
                <a16:creationId xmlns:a16="http://schemas.microsoft.com/office/drawing/2014/main" id="{A66ABCF0-68A7-8BD6-7B2A-C53BC23CA0EB}"/>
              </a:ext>
            </a:extLst>
          </p:cNvPr>
          <p:cNvSpPr txBox="1"/>
          <p:nvPr/>
        </p:nvSpPr>
        <p:spPr>
          <a:xfrm>
            <a:off x="1051253" y="6040401"/>
            <a:ext cx="10984343" cy="461665"/>
          </a:xfrm>
          <a:prstGeom prst="rect">
            <a:avLst/>
          </a:prstGeom>
          <a:solidFill>
            <a:schemeClr val="accent1">
              <a:lumMod val="20000"/>
              <a:lumOff val="80000"/>
            </a:schemeClr>
          </a:solidFill>
        </p:spPr>
        <p:txBody>
          <a:bodyPr wrap="square" rtlCol="0">
            <a:spAutoFit/>
          </a:bodyPr>
          <a:lstStyle/>
          <a:p>
            <a:pPr algn="r"/>
            <a:r>
              <a:rPr lang="en-US" sz="2400" dirty="0"/>
              <a:t>The p-value is the statistical index used to measure the strength of evidence against H</a:t>
            </a:r>
            <a:r>
              <a:rPr lang="en-US" sz="2400" baseline="-25000" dirty="0"/>
              <a:t>0</a:t>
            </a:r>
            <a:r>
              <a:rPr lang="en-US" sz="2400" dirty="0"/>
              <a:t>.</a:t>
            </a:r>
          </a:p>
        </p:txBody>
      </p:sp>
    </p:spTree>
    <p:extLst>
      <p:ext uri="{BB962C8B-B14F-4D97-AF65-F5344CB8AC3E}">
        <p14:creationId xmlns:p14="http://schemas.microsoft.com/office/powerpoint/2010/main" val="1052151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86571-A4DB-DB37-8E79-EFC8466824BF}"/>
              </a:ext>
            </a:extLst>
          </p:cNvPr>
          <p:cNvSpPr txBox="1">
            <a:spLocks/>
          </p:cNvSpPr>
          <p:nvPr/>
        </p:nvSpPr>
        <p:spPr>
          <a:xfrm>
            <a:off x="14068" y="38136"/>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The two types of errors in hypothesis testing</a:t>
            </a:r>
          </a:p>
        </p:txBody>
      </p:sp>
      <p:graphicFrame>
        <p:nvGraphicFramePr>
          <p:cNvPr id="3" name="Table 2">
            <a:extLst>
              <a:ext uri="{FF2B5EF4-FFF2-40B4-BE49-F238E27FC236}">
                <a16:creationId xmlns:a16="http://schemas.microsoft.com/office/drawing/2014/main" id="{1CF97066-0463-B020-FC89-E5B27F5DFB2E}"/>
              </a:ext>
            </a:extLst>
          </p:cNvPr>
          <p:cNvGraphicFramePr>
            <a:graphicFrameLocks noGrp="1"/>
          </p:cNvGraphicFramePr>
          <p:nvPr>
            <p:extLst>
              <p:ext uri="{D42A27DB-BD31-4B8C-83A1-F6EECF244321}">
                <p14:modId xmlns:p14="http://schemas.microsoft.com/office/powerpoint/2010/main" val="3375402645"/>
              </p:ext>
            </p:extLst>
          </p:nvPr>
        </p:nvGraphicFramePr>
        <p:xfrm>
          <a:off x="2940147" y="1547448"/>
          <a:ext cx="6332047" cy="2458720"/>
        </p:xfrm>
        <a:graphic>
          <a:graphicData uri="http://schemas.openxmlformats.org/drawingml/2006/table">
            <a:tbl>
              <a:tblPr firstRow="1" bandRow="1">
                <a:tableStyleId>{5C22544A-7EE6-4342-B048-85BDC9FD1C3A}</a:tableStyleId>
              </a:tblPr>
              <a:tblGrid>
                <a:gridCol w="1053656">
                  <a:extLst>
                    <a:ext uri="{9D8B030D-6E8A-4147-A177-3AD203B41FA5}">
                      <a16:colId xmlns:a16="http://schemas.microsoft.com/office/drawing/2014/main" val="4183264012"/>
                    </a:ext>
                  </a:extLst>
                </a:gridCol>
                <a:gridCol w="1156555">
                  <a:extLst>
                    <a:ext uri="{9D8B030D-6E8A-4147-A177-3AD203B41FA5}">
                      <a16:colId xmlns:a16="http://schemas.microsoft.com/office/drawing/2014/main" val="3890820727"/>
                    </a:ext>
                  </a:extLst>
                </a:gridCol>
                <a:gridCol w="2060918">
                  <a:extLst>
                    <a:ext uri="{9D8B030D-6E8A-4147-A177-3AD203B41FA5}">
                      <a16:colId xmlns:a16="http://schemas.microsoft.com/office/drawing/2014/main" val="3429917012"/>
                    </a:ext>
                  </a:extLst>
                </a:gridCol>
                <a:gridCol w="2060918">
                  <a:extLst>
                    <a:ext uri="{9D8B030D-6E8A-4147-A177-3AD203B41FA5}">
                      <a16:colId xmlns:a16="http://schemas.microsoft.com/office/drawing/2014/main" val="2216674969"/>
                    </a:ext>
                  </a:extLst>
                </a:gridCol>
              </a:tblGrid>
              <a:tr h="396747">
                <a:tc rowSpan="2" gridSpan="2">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hMerge="1">
                  <a:txBody>
                    <a:bodyPr/>
                    <a:lstStyle/>
                    <a:p>
                      <a:endParaRPr 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ctr"/>
                      <a:r>
                        <a:rPr lang="en-US" sz="2800" dirty="0">
                          <a:solidFill>
                            <a:schemeClr val="tx1"/>
                          </a:solidFill>
                        </a:rPr>
                        <a:t>Decision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4990504"/>
                  </a:ext>
                </a:extLst>
              </a:tr>
              <a:tr h="370840">
                <a:tc gridSpan="2" vMerge="1">
                  <a:txBody>
                    <a:bodyPr/>
                    <a:lstStyle/>
                    <a:p>
                      <a:endParaRPr 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vMerge="1">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solidFill>
                            <a:schemeClr val="tx1"/>
                          </a:solidFill>
                        </a:rPr>
                        <a:t>Accept H</a:t>
                      </a:r>
                      <a:r>
                        <a:rPr lang="en-US" sz="2400" baseline="-2500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solidFill>
                            <a:schemeClr val="tx1"/>
                          </a:solidFill>
                        </a:rPr>
                        <a:t>Reject H</a:t>
                      </a:r>
                      <a:r>
                        <a:rPr lang="en-US" sz="2400" baseline="-2500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6966702"/>
                  </a:ext>
                </a:extLst>
              </a:tr>
              <a:tr h="741680">
                <a:tc rowSpan="2">
                  <a:txBody>
                    <a:bodyPr/>
                    <a:lstStyle/>
                    <a:p>
                      <a:pPr>
                        <a:lnSpc>
                          <a:spcPct val="250000"/>
                        </a:lnSpc>
                      </a:pPr>
                      <a:r>
                        <a:rPr lang="en-US" sz="2800" b="1" dirty="0">
                          <a:solidFill>
                            <a:schemeClr val="tx1"/>
                          </a:solidFill>
                        </a:rPr>
                        <a:t>Truth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pPr>
                      <a:r>
                        <a:rPr lang="en-US" sz="2400" dirty="0">
                          <a:solidFill>
                            <a:schemeClr val="tx1"/>
                          </a:solidFill>
                        </a:rPr>
                        <a:t>H</a:t>
                      </a:r>
                      <a:r>
                        <a:rPr lang="en-US" sz="2400" baseline="-2500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80000"/>
                        </a:lnSpc>
                      </a:pPr>
                      <a:r>
                        <a:rPr lang="en-US" sz="2000" dirty="0">
                          <a:solidFill>
                            <a:schemeClr val="tx1"/>
                          </a:solidFill>
                        </a:rPr>
                        <a:t>Correct decision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lnSpc>
                          <a:spcPct val="180000"/>
                        </a:lnSpc>
                      </a:pPr>
                      <a:r>
                        <a:rPr lang="en-US" sz="2000" dirty="0">
                          <a:solidFill>
                            <a:schemeClr val="tx1"/>
                          </a:solidFill>
                        </a:rPr>
                        <a:t>Type I error (𝜶)</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1776888338"/>
                  </a:ext>
                </a:extLst>
              </a:tr>
              <a:tr h="741680">
                <a:tc vMerge="1">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pPr>
                      <a:r>
                        <a:rPr lang="en-US" sz="2400" dirty="0">
                          <a:solidFill>
                            <a:schemeClr val="tx1"/>
                          </a:solidFill>
                        </a:rPr>
                        <a:t>H</a:t>
                      </a:r>
                      <a:r>
                        <a:rPr lang="en-US" sz="2400" baseline="-250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80000"/>
                        </a:lnSpc>
                      </a:pPr>
                      <a:r>
                        <a:rPr lang="en-US" sz="2000" dirty="0">
                          <a:solidFill>
                            <a:schemeClr val="tx1"/>
                          </a:solidFill>
                        </a:rPr>
                        <a:t>Type II error (𝜷)</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lnSpc>
                          <a:spcPct val="180000"/>
                        </a:lnSpc>
                      </a:pPr>
                      <a:r>
                        <a:rPr lang="en-US" sz="2000" dirty="0">
                          <a:solidFill>
                            <a:schemeClr val="tx1"/>
                          </a:solidFill>
                        </a:rPr>
                        <a:t>Correct decision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139491027"/>
                  </a:ext>
                </a:extLst>
              </a:tr>
            </a:tbl>
          </a:graphicData>
        </a:graphic>
      </p:graphicFrame>
      <p:sp>
        <p:nvSpPr>
          <p:cNvPr id="7" name="TextBox 6">
            <a:extLst>
              <a:ext uri="{FF2B5EF4-FFF2-40B4-BE49-F238E27FC236}">
                <a16:creationId xmlns:a16="http://schemas.microsoft.com/office/drawing/2014/main" id="{A69A41B1-8F74-7CB0-1430-2172FEF50EED}"/>
              </a:ext>
            </a:extLst>
          </p:cNvPr>
          <p:cNvSpPr txBox="1"/>
          <p:nvPr/>
        </p:nvSpPr>
        <p:spPr>
          <a:xfrm>
            <a:off x="225082" y="4608919"/>
            <a:ext cx="11633983" cy="2092881"/>
          </a:xfrm>
          <a:prstGeom prst="rect">
            <a:avLst/>
          </a:prstGeom>
          <a:noFill/>
        </p:spPr>
        <p:txBody>
          <a:bodyPr wrap="square" rtlCol="0">
            <a:spAutoFit/>
          </a:bodyPr>
          <a:lstStyle/>
          <a:p>
            <a:pPr marL="457200" indent="-457200">
              <a:buFont typeface="+mj-lt"/>
              <a:buAutoNum type="arabicPeriod"/>
            </a:pPr>
            <a:r>
              <a:rPr lang="en-US" sz="2600" dirty="0"/>
              <a:t>If the hypothesis test incorrectly decides to reject H</a:t>
            </a:r>
            <a:r>
              <a:rPr lang="en-US" sz="2600" baseline="-25000" dirty="0"/>
              <a:t>0</a:t>
            </a:r>
            <a:r>
              <a:rPr lang="en-US" sz="2600" dirty="0"/>
              <a:t>, then the test has made a Type I error  (i.e. false positive decision)</a:t>
            </a:r>
          </a:p>
          <a:p>
            <a:pPr marL="457200" indent="-457200">
              <a:buFont typeface="+mj-lt"/>
              <a:buAutoNum type="arabicPeriod"/>
            </a:pPr>
            <a:endParaRPr lang="en-US" sz="2600" dirty="0"/>
          </a:p>
          <a:p>
            <a:pPr marL="457200" indent="-457200">
              <a:buFont typeface="+mj-lt"/>
              <a:buAutoNum type="arabicPeriod"/>
            </a:pPr>
            <a:r>
              <a:rPr lang="en-US" sz="2600" dirty="0"/>
              <a:t>If the hypothesis test incorrectly decides to not reject H</a:t>
            </a:r>
            <a:r>
              <a:rPr lang="en-US" sz="2600" baseline="-25000" dirty="0"/>
              <a:t>0</a:t>
            </a:r>
            <a:r>
              <a:rPr lang="en-US" sz="2600" dirty="0"/>
              <a:t>, then the test has made a Type II error (i.e. false negative decision)</a:t>
            </a:r>
          </a:p>
        </p:txBody>
      </p:sp>
    </p:spTree>
    <p:extLst>
      <p:ext uri="{BB962C8B-B14F-4D97-AF65-F5344CB8AC3E}">
        <p14:creationId xmlns:p14="http://schemas.microsoft.com/office/powerpoint/2010/main" val="7004894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E4D15-9BB9-4066-3183-86867E7E7D7D}"/>
              </a:ext>
            </a:extLst>
          </p:cNvPr>
          <p:cNvSpPr txBox="1">
            <a:spLocks/>
          </p:cNvSpPr>
          <p:nvPr/>
        </p:nvSpPr>
        <p:spPr>
          <a:xfrm>
            <a:off x="14068" y="38136"/>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Type I error (</a:t>
            </a:r>
            <a:r>
              <a:rPr lang="en-US" sz="5000" dirty="0"/>
              <a:t>𝛂</a:t>
            </a:r>
            <a:r>
              <a:rPr lang="en-US" sz="5000" b="1" dirty="0"/>
              <a:t>) and p-value</a:t>
            </a:r>
          </a:p>
        </p:txBody>
      </p:sp>
      <p:sp>
        <p:nvSpPr>
          <p:cNvPr id="4" name="TextBox 3">
            <a:extLst>
              <a:ext uri="{FF2B5EF4-FFF2-40B4-BE49-F238E27FC236}">
                <a16:creationId xmlns:a16="http://schemas.microsoft.com/office/drawing/2014/main" id="{AE5E069B-42E5-AF93-3DB7-4005EA7201AA}"/>
              </a:ext>
            </a:extLst>
          </p:cNvPr>
          <p:cNvSpPr txBox="1"/>
          <p:nvPr/>
        </p:nvSpPr>
        <p:spPr>
          <a:xfrm>
            <a:off x="168439" y="1058780"/>
            <a:ext cx="11903247" cy="1061829"/>
          </a:xfrm>
          <a:prstGeom prst="rect">
            <a:avLst/>
          </a:prstGeom>
          <a:noFill/>
        </p:spPr>
        <p:txBody>
          <a:bodyPr wrap="square" rtlCol="0">
            <a:spAutoFit/>
          </a:bodyPr>
          <a:lstStyle/>
          <a:p>
            <a:r>
              <a:rPr lang="en-US" sz="3100" dirty="0"/>
              <a:t>H</a:t>
            </a:r>
            <a:r>
              <a:rPr lang="en-US" sz="3100" baseline="-25000" dirty="0"/>
              <a:t>0</a:t>
            </a:r>
            <a:r>
              <a:rPr lang="en-US" sz="3100" dirty="0"/>
              <a:t>: </a:t>
            </a:r>
            <a:r>
              <a:rPr lang="en-US" sz="3100" dirty="0" err="1"/>
              <a:t>θ</a:t>
            </a:r>
            <a:r>
              <a:rPr lang="en-US" sz="3100" dirty="0"/>
              <a:t> = 0, 		</a:t>
            </a:r>
            <a:r>
              <a:rPr lang="en-US" sz="3100" dirty="0" err="1"/>
              <a:t>θ</a:t>
            </a:r>
            <a:r>
              <a:rPr lang="en-US" sz="3100" dirty="0"/>
              <a:t> ∈ {0, 1, 2}</a:t>
            </a:r>
          </a:p>
          <a:p>
            <a:r>
              <a:rPr lang="en-US" sz="3100" dirty="0"/>
              <a:t>H</a:t>
            </a:r>
            <a:r>
              <a:rPr lang="en-US" sz="3100" baseline="-25000" dirty="0"/>
              <a:t>1</a:t>
            </a:r>
            <a:r>
              <a:rPr lang="en-US" sz="3100" dirty="0"/>
              <a:t>: </a:t>
            </a:r>
            <a:r>
              <a:rPr lang="en-US" sz="3100" dirty="0" err="1"/>
              <a:t>θ</a:t>
            </a:r>
            <a:r>
              <a:rPr lang="en-US" sz="3100" dirty="0"/>
              <a:t> </a:t>
            </a:r>
            <a:r>
              <a:rPr lang="en-US" sz="3200" dirty="0"/>
              <a:t>=</a:t>
            </a:r>
            <a:r>
              <a:rPr lang="en-US" sz="3100" dirty="0"/>
              <a:t> 1,2</a:t>
            </a:r>
          </a:p>
        </p:txBody>
      </p:sp>
      <p:sp>
        <p:nvSpPr>
          <p:cNvPr id="9" name="TextBox 8">
            <a:extLst>
              <a:ext uri="{FF2B5EF4-FFF2-40B4-BE49-F238E27FC236}">
                <a16:creationId xmlns:a16="http://schemas.microsoft.com/office/drawing/2014/main" id="{1EA6F52D-B86C-0C18-467F-2B8A8568A67D}"/>
              </a:ext>
            </a:extLst>
          </p:cNvPr>
          <p:cNvSpPr txBox="1"/>
          <p:nvPr/>
        </p:nvSpPr>
        <p:spPr>
          <a:xfrm>
            <a:off x="168439" y="2467484"/>
            <a:ext cx="6894098" cy="569387"/>
          </a:xfrm>
          <a:prstGeom prst="rect">
            <a:avLst/>
          </a:prstGeom>
          <a:noFill/>
        </p:spPr>
        <p:txBody>
          <a:bodyPr wrap="square">
            <a:spAutoFit/>
          </a:bodyPr>
          <a:lstStyle/>
          <a:p>
            <a:r>
              <a:rPr lang="en-US" sz="3100" dirty="0"/>
              <a:t>Distribution of the test statistic under H</a:t>
            </a:r>
            <a:r>
              <a:rPr lang="en-US" sz="3100" baseline="-25000" dirty="0"/>
              <a:t>0</a:t>
            </a:r>
            <a:r>
              <a:rPr lang="en-US" sz="3100" dirty="0"/>
              <a:t>:</a:t>
            </a:r>
          </a:p>
        </p:txBody>
      </p:sp>
      <p:graphicFrame>
        <p:nvGraphicFramePr>
          <p:cNvPr id="12" name="Table 11">
            <a:extLst>
              <a:ext uri="{FF2B5EF4-FFF2-40B4-BE49-F238E27FC236}">
                <a16:creationId xmlns:a16="http://schemas.microsoft.com/office/drawing/2014/main" id="{FCAF7488-B17E-622C-7C1A-4DA652EDA10A}"/>
              </a:ext>
            </a:extLst>
          </p:cNvPr>
          <p:cNvGraphicFramePr>
            <a:graphicFrameLocks noGrp="1"/>
          </p:cNvGraphicFramePr>
          <p:nvPr>
            <p:extLst>
              <p:ext uri="{D42A27DB-BD31-4B8C-83A1-F6EECF244321}">
                <p14:modId xmlns:p14="http://schemas.microsoft.com/office/powerpoint/2010/main" val="1733853745"/>
              </p:ext>
            </p:extLst>
          </p:nvPr>
        </p:nvGraphicFramePr>
        <p:xfrm>
          <a:off x="263358" y="3084394"/>
          <a:ext cx="8128000" cy="123444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995020491"/>
                    </a:ext>
                  </a:extLst>
                </a:gridCol>
                <a:gridCol w="1625600">
                  <a:extLst>
                    <a:ext uri="{9D8B030D-6E8A-4147-A177-3AD203B41FA5}">
                      <a16:colId xmlns:a16="http://schemas.microsoft.com/office/drawing/2014/main" val="1560216640"/>
                    </a:ext>
                  </a:extLst>
                </a:gridCol>
                <a:gridCol w="1625600">
                  <a:extLst>
                    <a:ext uri="{9D8B030D-6E8A-4147-A177-3AD203B41FA5}">
                      <a16:colId xmlns:a16="http://schemas.microsoft.com/office/drawing/2014/main" val="4207007727"/>
                    </a:ext>
                  </a:extLst>
                </a:gridCol>
                <a:gridCol w="1625600">
                  <a:extLst>
                    <a:ext uri="{9D8B030D-6E8A-4147-A177-3AD203B41FA5}">
                      <a16:colId xmlns:a16="http://schemas.microsoft.com/office/drawing/2014/main" val="3090225201"/>
                    </a:ext>
                  </a:extLst>
                </a:gridCol>
                <a:gridCol w="1625600">
                  <a:extLst>
                    <a:ext uri="{9D8B030D-6E8A-4147-A177-3AD203B41FA5}">
                      <a16:colId xmlns:a16="http://schemas.microsoft.com/office/drawing/2014/main" val="506187760"/>
                    </a:ext>
                  </a:extLst>
                </a:gridCol>
              </a:tblGrid>
              <a:tr h="370840">
                <a:tc>
                  <a:txBody>
                    <a:bodyPr/>
                    <a:lstStyle/>
                    <a:p>
                      <a:r>
                        <a:rPr lang="en-US" sz="2100" dirty="0" err="1">
                          <a:solidFill>
                            <a:schemeClr val="tx1"/>
                          </a:solidFill>
                        </a:rPr>
                        <a:t>t</a:t>
                      </a:r>
                      <a:r>
                        <a:rPr lang="en-US" sz="2100" baseline="-25000" dirty="0" err="1">
                          <a:solidFill>
                            <a:schemeClr val="tx1"/>
                          </a:solidFill>
                        </a:rPr>
                        <a:t>s</a:t>
                      </a:r>
                      <a:endParaRPr lang="en-US" sz="2100" baseline="-25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US" sz="2100"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100"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100"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100"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75718600"/>
                  </a:ext>
                </a:extLst>
              </a:tr>
              <a:tr h="370840">
                <a:tc>
                  <a:txBody>
                    <a:bodyPr/>
                    <a:lstStyle/>
                    <a:p>
                      <a:r>
                        <a:rPr lang="en-US" sz="2100" b="1" dirty="0"/>
                        <a:t>Prob (</a:t>
                      </a:r>
                      <a:r>
                        <a:rPr lang="en-US" sz="2100" b="1" dirty="0" err="1"/>
                        <a:t>t</a:t>
                      </a:r>
                      <a:r>
                        <a:rPr lang="en-US" sz="2100" b="1" baseline="-25000" dirty="0" err="1"/>
                        <a:t>s</a:t>
                      </a:r>
                      <a:r>
                        <a:rPr lang="en-US" sz="2100" b="1" dirty="0"/>
                        <a:t> | H</a:t>
                      </a:r>
                      <a:r>
                        <a:rPr lang="en-US" sz="2100" b="1" baseline="-25000" dirty="0"/>
                        <a:t>0</a:t>
                      </a:r>
                      <a:r>
                        <a:rPr lang="en-US" sz="2100" b="1"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US" sz="2100" dirty="0"/>
                        <a:t>0.980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100" dirty="0"/>
                        <a:t>0.005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100" dirty="0"/>
                        <a:t>0.005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100" dirty="0"/>
                        <a:t>0.010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8294484"/>
                  </a:ext>
                </a:extLst>
              </a:tr>
              <a:tr h="370840">
                <a:tc>
                  <a:txBody>
                    <a:bodyPr/>
                    <a:lstStyle/>
                    <a:p>
                      <a:r>
                        <a:rPr lang="en-US" sz="2100" b="1" dirty="0"/>
                        <a:t>P-value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US" sz="2100" dirty="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100" dirty="0"/>
                        <a:t>0.01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100" dirty="0"/>
                        <a:t>0.01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100" dirty="0"/>
                        <a:t>0.020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01436594"/>
                  </a:ext>
                </a:extLst>
              </a:tr>
            </a:tbl>
          </a:graphicData>
        </a:graphic>
      </p:graphicFrame>
      <p:sp>
        <p:nvSpPr>
          <p:cNvPr id="14" name="TextBox 13">
            <a:extLst>
              <a:ext uri="{FF2B5EF4-FFF2-40B4-BE49-F238E27FC236}">
                <a16:creationId xmlns:a16="http://schemas.microsoft.com/office/drawing/2014/main" id="{2343CD0A-5AC6-0530-61B1-B3FC62562E9C}"/>
              </a:ext>
            </a:extLst>
          </p:cNvPr>
          <p:cNvSpPr txBox="1"/>
          <p:nvPr/>
        </p:nvSpPr>
        <p:spPr>
          <a:xfrm>
            <a:off x="227262" y="4610621"/>
            <a:ext cx="11575716" cy="2123658"/>
          </a:xfrm>
          <a:prstGeom prst="rect">
            <a:avLst/>
          </a:prstGeom>
          <a:noFill/>
        </p:spPr>
        <p:txBody>
          <a:bodyPr wrap="square">
            <a:spAutoFit/>
          </a:bodyPr>
          <a:lstStyle/>
          <a:p>
            <a:pPr algn="just"/>
            <a:r>
              <a:rPr lang="en-GB" sz="2200" dirty="0">
                <a:effectLst/>
              </a:rPr>
              <a:t>An </a:t>
            </a:r>
            <a:r>
              <a:rPr lang="el-GR" sz="2200" b="1" dirty="0">
                <a:effectLst/>
              </a:rPr>
              <a:t>α </a:t>
            </a:r>
            <a:r>
              <a:rPr lang="en-GB" sz="2200" b="1" dirty="0">
                <a:effectLst/>
              </a:rPr>
              <a:t>significance level </a:t>
            </a:r>
            <a:r>
              <a:rPr lang="en-GB" sz="2200" dirty="0">
                <a:effectLst/>
              </a:rPr>
              <a:t>(e.g. 0.05) is simply a decision rule as to which p-values will cause one to reject the null hypothesis. In other words, it is merely a decision point as to how weird the data must be before rejecting the null model. If the p-value is less than or equal to </a:t>
            </a:r>
            <a:r>
              <a:rPr lang="el-GR" sz="2200" dirty="0">
                <a:effectLst/>
              </a:rPr>
              <a:t>α, </a:t>
            </a:r>
            <a:r>
              <a:rPr lang="en-GB" sz="2200" dirty="0">
                <a:effectLst/>
              </a:rPr>
              <a:t>the null is rejected. Implicitly, an </a:t>
            </a:r>
            <a:r>
              <a:rPr lang="el-GR" sz="2200" dirty="0">
                <a:effectLst/>
              </a:rPr>
              <a:t>α </a:t>
            </a:r>
            <a:r>
              <a:rPr lang="en-GB" sz="2200" dirty="0">
                <a:effectLst/>
              </a:rPr>
              <a:t>level determines what data would cause one to reject H</a:t>
            </a:r>
            <a:r>
              <a:rPr lang="en-GB" sz="2200" baseline="-25000" dirty="0">
                <a:effectLst/>
              </a:rPr>
              <a:t>0</a:t>
            </a:r>
            <a:r>
              <a:rPr lang="en-GB" sz="2200" dirty="0">
                <a:effectLst/>
              </a:rPr>
              <a:t> and what data will not cause rejection. The </a:t>
            </a:r>
            <a:r>
              <a:rPr lang="el-GR" sz="2200" dirty="0">
                <a:effectLst/>
              </a:rPr>
              <a:t>α </a:t>
            </a:r>
            <a:r>
              <a:rPr lang="en-GB" sz="2200" dirty="0">
                <a:effectLst/>
              </a:rPr>
              <a:t>level rejection region is defined as the set of all data points that have a p-value less than or equal to </a:t>
            </a:r>
            <a:r>
              <a:rPr lang="el-GR" sz="2200" dirty="0">
                <a:effectLst/>
              </a:rPr>
              <a:t>α. </a:t>
            </a:r>
            <a:endParaRPr lang="el-GR" sz="2200" dirty="0"/>
          </a:p>
        </p:txBody>
      </p:sp>
    </p:spTree>
    <p:extLst>
      <p:ext uri="{BB962C8B-B14F-4D97-AF65-F5344CB8AC3E}">
        <p14:creationId xmlns:p14="http://schemas.microsoft.com/office/powerpoint/2010/main" val="4991738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DB286-CCED-98D8-C3BA-52F25092E93E}"/>
              </a:ext>
            </a:extLst>
          </p:cNvPr>
          <p:cNvSpPr txBox="1">
            <a:spLocks/>
          </p:cNvSpPr>
          <p:nvPr/>
        </p:nvSpPr>
        <p:spPr>
          <a:xfrm>
            <a:off x="14068" y="38136"/>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Statistical power (1-</a:t>
            </a:r>
            <a:r>
              <a:rPr lang="en-US" sz="5000" dirty="0"/>
              <a:t>𝛃</a:t>
            </a:r>
            <a:r>
              <a:rPr lang="en-US" sz="5000" b="1" dirty="0"/>
              <a:t>)</a:t>
            </a:r>
          </a:p>
        </p:txBody>
      </p:sp>
      <p:sp>
        <p:nvSpPr>
          <p:cNvPr id="3" name="TextBox 2">
            <a:extLst>
              <a:ext uri="{FF2B5EF4-FFF2-40B4-BE49-F238E27FC236}">
                <a16:creationId xmlns:a16="http://schemas.microsoft.com/office/drawing/2014/main" id="{D34C2C6F-02AD-CEC6-A607-E99B315037DC}"/>
              </a:ext>
            </a:extLst>
          </p:cNvPr>
          <p:cNvSpPr txBox="1"/>
          <p:nvPr/>
        </p:nvSpPr>
        <p:spPr>
          <a:xfrm>
            <a:off x="97659" y="1004444"/>
            <a:ext cx="11925086" cy="1046440"/>
          </a:xfrm>
          <a:prstGeom prst="rect">
            <a:avLst/>
          </a:prstGeom>
          <a:noFill/>
        </p:spPr>
        <p:txBody>
          <a:bodyPr wrap="square">
            <a:spAutoFit/>
          </a:bodyPr>
          <a:lstStyle/>
          <a:p>
            <a:r>
              <a:rPr lang="en-US" sz="3000" dirty="0"/>
              <a:t>The power (1-</a:t>
            </a:r>
            <a:r>
              <a:rPr lang="en-US" sz="3000" dirty="0">
                <a:solidFill>
                  <a:schemeClr val="tx1"/>
                </a:solidFill>
              </a:rPr>
              <a:t>𝜷) </a:t>
            </a:r>
            <a:r>
              <a:rPr lang="en-US" sz="3000" dirty="0"/>
              <a:t>of a hypothesis test is the probability to reject the null hypothesis (H</a:t>
            </a:r>
            <a:r>
              <a:rPr lang="en-US" sz="3000" baseline="-25000" dirty="0"/>
              <a:t>0</a:t>
            </a:r>
            <a:r>
              <a:rPr lang="en-US" sz="3000" dirty="0"/>
              <a:t>) if H</a:t>
            </a:r>
            <a:r>
              <a:rPr lang="en-US" sz="3000" baseline="-25000" dirty="0"/>
              <a:t>1</a:t>
            </a:r>
            <a:r>
              <a:rPr lang="en-US" sz="3000" dirty="0"/>
              <a:t> is true. It is a function of alternative simple hypotheses.</a:t>
            </a:r>
          </a:p>
        </p:txBody>
      </p:sp>
      <p:sp>
        <p:nvSpPr>
          <p:cNvPr id="6" name="TextBox 5">
            <a:extLst>
              <a:ext uri="{FF2B5EF4-FFF2-40B4-BE49-F238E27FC236}">
                <a16:creationId xmlns:a16="http://schemas.microsoft.com/office/drawing/2014/main" id="{678F1156-F016-5FF4-A5F2-00FAE65EF212}"/>
              </a:ext>
            </a:extLst>
          </p:cNvPr>
          <p:cNvSpPr txBox="1"/>
          <p:nvPr/>
        </p:nvSpPr>
        <p:spPr>
          <a:xfrm>
            <a:off x="168439" y="2509688"/>
            <a:ext cx="6894098" cy="569387"/>
          </a:xfrm>
          <a:prstGeom prst="rect">
            <a:avLst/>
          </a:prstGeom>
          <a:noFill/>
        </p:spPr>
        <p:txBody>
          <a:bodyPr wrap="square">
            <a:spAutoFit/>
          </a:bodyPr>
          <a:lstStyle/>
          <a:p>
            <a:r>
              <a:rPr lang="en-US" sz="3100" dirty="0"/>
              <a:t>Distribution of the test statistic under H</a:t>
            </a:r>
            <a:r>
              <a:rPr lang="en-US" sz="3100" baseline="-25000" dirty="0"/>
              <a:t>0</a:t>
            </a:r>
            <a:r>
              <a:rPr lang="en-US" sz="3100" dirty="0"/>
              <a:t>:</a:t>
            </a:r>
          </a:p>
        </p:txBody>
      </p:sp>
      <p:graphicFrame>
        <p:nvGraphicFramePr>
          <p:cNvPr id="7" name="Table 6">
            <a:extLst>
              <a:ext uri="{FF2B5EF4-FFF2-40B4-BE49-F238E27FC236}">
                <a16:creationId xmlns:a16="http://schemas.microsoft.com/office/drawing/2014/main" id="{96711E22-ACEB-6099-0D8C-9380C788B8DD}"/>
              </a:ext>
            </a:extLst>
          </p:cNvPr>
          <p:cNvGraphicFramePr>
            <a:graphicFrameLocks noGrp="1"/>
          </p:cNvGraphicFramePr>
          <p:nvPr>
            <p:extLst>
              <p:ext uri="{D42A27DB-BD31-4B8C-83A1-F6EECF244321}">
                <p14:modId xmlns:p14="http://schemas.microsoft.com/office/powerpoint/2010/main" val="2231618117"/>
              </p:ext>
            </p:extLst>
          </p:nvPr>
        </p:nvGraphicFramePr>
        <p:xfrm>
          <a:off x="263358" y="3126596"/>
          <a:ext cx="8128000" cy="1112520"/>
        </p:xfrm>
        <a:graphic>
          <a:graphicData uri="http://schemas.openxmlformats.org/drawingml/2006/table">
            <a:tbl>
              <a:tblPr firstRow="1" bandRow="1">
                <a:tableStyleId>{5C22544A-7EE6-4342-B048-85BDC9FD1C3A}</a:tableStyleId>
              </a:tblPr>
              <a:tblGrid>
                <a:gridCol w="1692051">
                  <a:extLst>
                    <a:ext uri="{9D8B030D-6E8A-4147-A177-3AD203B41FA5}">
                      <a16:colId xmlns:a16="http://schemas.microsoft.com/office/drawing/2014/main" val="2995020491"/>
                    </a:ext>
                  </a:extLst>
                </a:gridCol>
                <a:gridCol w="1559149">
                  <a:extLst>
                    <a:ext uri="{9D8B030D-6E8A-4147-A177-3AD203B41FA5}">
                      <a16:colId xmlns:a16="http://schemas.microsoft.com/office/drawing/2014/main" val="1560216640"/>
                    </a:ext>
                  </a:extLst>
                </a:gridCol>
                <a:gridCol w="1625600">
                  <a:extLst>
                    <a:ext uri="{9D8B030D-6E8A-4147-A177-3AD203B41FA5}">
                      <a16:colId xmlns:a16="http://schemas.microsoft.com/office/drawing/2014/main" val="4207007727"/>
                    </a:ext>
                  </a:extLst>
                </a:gridCol>
                <a:gridCol w="1625600">
                  <a:extLst>
                    <a:ext uri="{9D8B030D-6E8A-4147-A177-3AD203B41FA5}">
                      <a16:colId xmlns:a16="http://schemas.microsoft.com/office/drawing/2014/main" val="3090225201"/>
                    </a:ext>
                  </a:extLst>
                </a:gridCol>
                <a:gridCol w="1625600">
                  <a:extLst>
                    <a:ext uri="{9D8B030D-6E8A-4147-A177-3AD203B41FA5}">
                      <a16:colId xmlns:a16="http://schemas.microsoft.com/office/drawing/2014/main" val="506187760"/>
                    </a:ext>
                  </a:extLst>
                </a:gridCol>
              </a:tblGrid>
              <a:tr h="370840">
                <a:tc>
                  <a:txBody>
                    <a:bodyPr/>
                    <a:lstStyle/>
                    <a:p>
                      <a:r>
                        <a:rPr lang="en-US" dirty="0" err="1">
                          <a:solidFill>
                            <a:schemeClr val="tx1"/>
                          </a:solidFill>
                        </a:rPr>
                        <a:t>t</a:t>
                      </a:r>
                      <a:r>
                        <a:rPr lang="en-US" baseline="-25000" dirty="0" err="1">
                          <a:solidFill>
                            <a:schemeClr val="tx1"/>
                          </a:solidFill>
                        </a:rPr>
                        <a:t>s</a:t>
                      </a:r>
                      <a:endParaRPr lang="en-US" baseline="-25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75718600"/>
                  </a:ext>
                </a:extLst>
              </a:tr>
              <a:tr h="370840">
                <a:tc>
                  <a:txBody>
                    <a:bodyPr/>
                    <a:lstStyle/>
                    <a:p>
                      <a:r>
                        <a:rPr lang="en-US" b="1" dirty="0"/>
                        <a:t>Prob (</a:t>
                      </a:r>
                      <a:r>
                        <a:rPr lang="en-US" b="1" dirty="0" err="1"/>
                        <a:t>t</a:t>
                      </a:r>
                      <a:r>
                        <a:rPr lang="en-US" b="1" baseline="-25000" dirty="0" err="1"/>
                        <a:t>s</a:t>
                      </a:r>
                      <a:r>
                        <a:rPr lang="en-US" b="1" dirty="0"/>
                        <a:t> | H</a:t>
                      </a:r>
                      <a:r>
                        <a:rPr lang="en-US" b="1" baseline="-25000" dirty="0"/>
                        <a:t>0</a:t>
                      </a:r>
                      <a:r>
                        <a:rPr lang="en-US" b="1"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US" dirty="0"/>
                        <a:t>0.980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0.005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0.005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8294484"/>
                  </a:ext>
                </a:extLst>
              </a:tr>
              <a:tr h="370840">
                <a:tc>
                  <a:txBody>
                    <a:bodyPr/>
                    <a:lstStyle/>
                    <a:p>
                      <a:r>
                        <a:rPr lang="en-US" b="1" dirty="0"/>
                        <a:t>P-value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US" dirty="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0.020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01436594"/>
                  </a:ext>
                </a:extLst>
              </a:tr>
            </a:tbl>
          </a:graphicData>
        </a:graphic>
      </p:graphicFrame>
      <p:sp>
        <p:nvSpPr>
          <p:cNvPr id="8" name="Rectangle 7">
            <a:extLst>
              <a:ext uri="{FF2B5EF4-FFF2-40B4-BE49-F238E27FC236}">
                <a16:creationId xmlns:a16="http://schemas.microsoft.com/office/drawing/2014/main" id="{92D80183-F1DC-933D-AFEE-038605D71416}"/>
              </a:ext>
            </a:extLst>
          </p:cNvPr>
          <p:cNvSpPr/>
          <p:nvPr/>
        </p:nvSpPr>
        <p:spPr>
          <a:xfrm>
            <a:off x="3348111" y="3050939"/>
            <a:ext cx="5162843" cy="508187"/>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endParaRPr>
          </a:p>
        </p:txBody>
      </p:sp>
      <p:cxnSp>
        <p:nvCxnSpPr>
          <p:cNvPr id="10" name="Straight Arrow Connector 9">
            <a:extLst>
              <a:ext uri="{FF2B5EF4-FFF2-40B4-BE49-F238E27FC236}">
                <a16:creationId xmlns:a16="http://schemas.microsoft.com/office/drawing/2014/main" id="{714FF031-6272-56FF-3B83-57A515C8BB94}"/>
              </a:ext>
            </a:extLst>
          </p:cNvPr>
          <p:cNvCxnSpPr>
            <a:stCxn id="8" idx="3"/>
          </p:cNvCxnSpPr>
          <p:nvPr/>
        </p:nvCxnSpPr>
        <p:spPr>
          <a:xfrm>
            <a:off x="8510954" y="3305033"/>
            <a:ext cx="548640" cy="87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C583B1A-2E52-D7AC-5AC6-BF038DBC3DF3}"/>
              </a:ext>
            </a:extLst>
          </p:cNvPr>
          <p:cNvSpPr txBox="1"/>
          <p:nvPr/>
        </p:nvSpPr>
        <p:spPr>
          <a:xfrm>
            <a:off x="9017389" y="2954217"/>
            <a:ext cx="3033932" cy="646331"/>
          </a:xfrm>
          <a:prstGeom prst="rect">
            <a:avLst/>
          </a:prstGeom>
          <a:noFill/>
        </p:spPr>
        <p:txBody>
          <a:bodyPr wrap="square" rtlCol="0">
            <a:spAutoFit/>
          </a:bodyPr>
          <a:lstStyle/>
          <a:p>
            <a:r>
              <a:rPr lang="en-US" dirty="0"/>
              <a:t>Rejection region of the test with </a:t>
            </a:r>
            <a:r>
              <a:rPr lang="el-GR" sz="1800" b="1" dirty="0">
                <a:effectLst/>
              </a:rPr>
              <a:t>α </a:t>
            </a:r>
            <a:r>
              <a:rPr lang="en-GB" sz="1800" b="1" dirty="0">
                <a:effectLst/>
              </a:rPr>
              <a:t>significance level= 0.05</a:t>
            </a:r>
            <a:r>
              <a:rPr lang="en-GB" sz="1800" dirty="0">
                <a:effectLst/>
              </a:rPr>
              <a:t> </a:t>
            </a:r>
            <a:endParaRPr lang="en-US" dirty="0"/>
          </a:p>
        </p:txBody>
      </p:sp>
      <p:graphicFrame>
        <p:nvGraphicFramePr>
          <p:cNvPr id="12" name="Table 11">
            <a:extLst>
              <a:ext uri="{FF2B5EF4-FFF2-40B4-BE49-F238E27FC236}">
                <a16:creationId xmlns:a16="http://schemas.microsoft.com/office/drawing/2014/main" id="{768C0F56-C259-F665-245A-E735FFE897E2}"/>
              </a:ext>
            </a:extLst>
          </p:cNvPr>
          <p:cNvGraphicFramePr>
            <a:graphicFrameLocks noGrp="1"/>
          </p:cNvGraphicFramePr>
          <p:nvPr>
            <p:extLst>
              <p:ext uri="{D42A27DB-BD31-4B8C-83A1-F6EECF244321}">
                <p14:modId xmlns:p14="http://schemas.microsoft.com/office/powerpoint/2010/main" val="3569263940"/>
              </p:ext>
            </p:extLst>
          </p:nvPr>
        </p:nvGraphicFramePr>
        <p:xfrm>
          <a:off x="205156" y="5426954"/>
          <a:ext cx="8128000" cy="1112520"/>
        </p:xfrm>
        <a:graphic>
          <a:graphicData uri="http://schemas.openxmlformats.org/drawingml/2006/table">
            <a:tbl>
              <a:tblPr firstRow="1" bandRow="1">
                <a:tableStyleId>{5C22544A-7EE6-4342-B048-85BDC9FD1C3A}</a:tableStyleId>
              </a:tblPr>
              <a:tblGrid>
                <a:gridCol w="1764321">
                  <a:extLst>
                    <a:ext uri="{9D8B030D-6E8A-4147-A177-3AD203B41FA5}">
                      <a16:colId xmlns:a16="http://schemas.microsoft.com/office/drawing/2014/main" val="1507220227"/>
                    </a:ext>
                  </a:extLst>
                </a:gridCol>
                <a:gridCol w="1486879">
                  <a:extLst>
                    <a:ext uri="{9D8B030D-6E8A-4147-A177-3AD203B41FA5}">
                      <a16:colId xmlns:a16="http://schemas.microsoft.com/office/drawing/2014/main" val="3500073230"/>
                    </a:ext>
                  </a:extLst>
                </a:gridCol>
                <a:gridCol w="1625600">
                  <a:extLst>
                    <a:ext uri="{9D8B030D-6E8A-4147-A177-3AD203B41FA5}">
                      <a16:colId xmlns:a16="http://schemas.microsoft.com/office/drawing/2014/main" val="3241880820"/>
                    </a:ext>
                  </a:extLst>
                </a:gridCol>
                <a:gridCol w="1625600">
                  <a:extLst>
                    <a:ext uri="{9D8B030D-6E8A-4147-A177-3AD203B41FA5}">
                      <a16:colId xmlns:a16="http://schemas.microsoft.com/office/drawing/2014/main" val="2288183185"/>
                    </a:ext>
                  </a:extLst>
                </a:gridCol>
                <a:gridCol w="1625600">
                  <a:extLst>
                    <a:ext uri="{9D8B030D-6E8A-4147-A177-3AD203B41FA5}">
                      <a16:colId xmlns:a16="http://schemas.microsoft.com/office/drawing/2014/main" val="4230537282"/>
                    </a:ext>
                  </a:extLst>
                </a:gridCol>
              </a:tblGrid>
              <a:tr h="370840">
                <a:tc>
                  <a:txBody>
                    <a:bodyPr/>
                    <a:lstStyle/>
                    <a:p>
                      <a:r>
                        <a:rPr lang="en-US" dirty="0" err="1">
                          <a:solidFill>
                            <a:schemeClr val="tx1"/>
                          </a:solidFill>
                        </a:rPr>
                        <a:t>t</a:t>
                      </a:r>
                      <a:r>
                        <a:rPr lang="en-US" baseline="-25000" dirty="0" err="1">
                          <a:solidFill>
                            <a:schemeClr val="tx1"/>
                          </a:solidFill>
                        </a:rPr>
                        <a:t>s</a:t>
                      </a:r>
                      <a:endParaRPr lang="en-US" baseline="-25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211704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rPr>
                        <a:t>Prob (</a:t>
                      </a:r>
                      <a:r>
                        <a:rPr lang="en-US" b="1" dirty="0" err="1">
                          <a:solidFill>
                            <a:schemeClr val="tx1"/>
                          </a:solidFill>
                        </a:rPr>
                        <a:t>t</a:t>
                      </a:r>
                      <a:r>
                        <a:rPr lang="en-US" b="1" baseline="-25000" dirty="0" err="1">
                          <a:solidFill>
                            <a:schemeClr val="tx1"/>
                          </a:solidFill>
                        </a:rPr>
                        <a:t>s</a:t>
                      </a:r>
                      <a:r>
                        <a:rPr lang="en-US" b="1" dirty="0">
                          <a:solidFill>
                            <a:schemeClr val="tx1"/>
                          </a:solidFill>
                        </a:rPr>
                        <a:t> | </a:t>
                      </a:r>
                      <a:r>
                        <a:rPr lang="en-US" sz="1800" b="1" dirty="0" err="1">
                          <a:solidFill>
                            <a:schemeClr val="tx1"/>
                          </a:solidFill>
                        </a:rPr>
                        <a:t>θ</a:t>
                      </a:r>
                      <a:r>
                        <a:rPr lang="en-US" sz="1800" b="1" dirty="0">
                          <a:solidFill>
                            <a:schemeClr val="tx1"/>
                          </a:solidFill>
                        </a:rPr>
                        <a:t> = 1</a:t>
                      </a:r>
                      <a:r>
                        <a:rPr lang="en-US" b="1"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GB" sz="1800" kern="1200" dirty="0">
                          <a:solidFill>
                            <a:schemeClr val="dk1"/>
                          </a:solidFill>
                          <a:effectLst/>
                          <a:latin typeface="+mn-lt"/>
                          <a:ea typeface="+mn-ea"/>
                          <a:cs typeface="+mn-cs"/>
                        </a:rPr>
                        <a:t>0.100 </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0.200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0.200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0.500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661184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rPr>
                        <a:t>Prob (</a:t>
                      </a:r>
                      <a:r>
                        <a:rPr lang="en-US" b="1" dirty="0" err="1">
                          <a:solidFill>
                            <a:schemeClr val="tx1"/>
                          </a:solidFill>
                        </a:rPr>
                        <a:t>t</a:t>
                      </a:r>
                      <a:r>
                        <a:rPr lang="en-US" b="1" baseline="-25000" dirty="0" err="1">
                          <a:solidFill>
                            <a:schemeClr val="tx1"/>
                          </a:solidFill>
                        </a:rPr>
                        <a:t>s</a:t>
                      </a:r>
                      <a:r>
                        <a:rPr lang="en-US" b="1" dirty="0">
                          <a:solidFill>
                            <a:schemeClr val="tx1"/>
                          </a:solidFill>
                        </a:rPr>
                        <a:t> | </a:t>
                      </a:r>
                      <a:r>
                        <a:rPr lang="en-US" sz="1800" b="1" dirty="0" err="1">
                          <a:solidFill>
                            <a:schemeClr val="tx1"/>
                          </a:solidFill>
                        </a:rPr>
                        <a:t>θ</a:t>
                      </a:r>
                      <a:r>
                        <a:rPr lang="en-US" sz="1800" b="1" dirty="0">
                          <a:solidFill>
                            <a:schemeClr val="tx1"/>
                          </a:solidFill>
                        </a:rPr>
                        <a:t> = 2</a:t>
                      </a:r>
                      <a:r>
                        <a:rPr lang="en-US" b="1"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US" dirty="0"/>
                        <a:t>0.098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0.001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0.001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0.900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16890964"/>
                  </a:ext>
                </a:extLst>
              </a:tr>
            </a:tbl>
          </a:graphicData>
        </a:graphic>
      </p:graphicFrame>
      <p:sp>
        <p:nvSpPr>
          <p:cNvPr id="13" name="TextBox 12">
            <a:extLst>
              <a:ext uri="{FF2B5EF4-FFF2-40B4-BE49-F238E27FC236}">
                <a16:creationId xmlns:a16="http://schemas.microsoft.com/office/drawing/2014/main" id="{B72431B2-0204-028B-7975-8357842FE6E2}"/>
              </a:ext>
            </a:extLst>
          </p:cNvPr>
          <p:cNvSpPr txBox="1"/>
          <p:nvPr/>
        </p:nvSpPr>
        <p:spPr>
          <a:xfrm>
            <a:off x="109824" y="4814444"/>
            <a:ext cx="6894098" cy="569387"/>
          </a:xfrm>
          <a:prstGeom prst="rect">
            <a:avLst/>
          </a:prstGeom>
          <a:noFill/>
        </p:spPr>
        <p:txBody>
          <a:bodyPr wrap="square">
            <a:spAutoFit/>
          </a:bodyPr>
          <a:lstStyle/>
          <a:p>
            <a:r>
              <a:rPr lang="en-US" sz="3100" dirty="0"/>
              <a:t>Distribution of the test statistic under H</a:t>
            </a:r>
            <a:r>
              <a:rPr lang="en-US" sz="3100" baseline="-25000" dirty="0"/>
              <a:t>1</a:t>
            </a:r>
            <a:r>
              <a:rPr lang="en-US" sz="3100" dirty="0"/>
              <a:t>:</a:t>
            </a:r>
          </a:p>
        </p:txBody>
      </p:sp>
      <p:sp>
        <p:nvSpPr>
          <p:cNvPr id="15" name="TextBox 14">
            <a:extLst>
              <a:ext uri="{FF2B5EF4-FFF2-40B4-BE49-F238E27FC236}">
                <a16:creationId xmlns:a16="http://schemas.microsoft.com/office/drawing/2014/main" id="{D57BC41E-4EEE-2AF5-88BF-E0D5A7274A79}"/>
              </a:ext>
            </a:extLst>
          </p:cNvPr>
          <p:cNvSpPr txBox="1"/>
          <p:nvPr/>
        </p:nvSpPr>
        <p:spPr>
          <a:xfrm>
            <a:off x="9158461" y="5811352"/>
            <a:ext cx="2194166" cy="369332"/>
          </a:xfrm>
          <a:prstGeom prst="rect">
            <a:avLst/>
          </a:prstGeom>
          <a:noFill/>
        </p:spPr>
        <p:txBody>
          <a:bodyPr wrap="square">
            <a:spAutoFit/>
          </a:bodyPr>
          <a:lstStyle/>
          <a:p>
            <a:r>
              <a:rPr lang="en-US" sz="1800" dirty="0"/>
              <a:t>(1-</a:t>
            </a:r>
            <a:r>
              <a:rPr lang="en-US" sz="1800" dirty="0">
                <a:solidFill>
                  <a:schemeClr val="tx1"/>
                </a:solidFill>
              </a:rPr>
              <a:t>𝜷 | </a:t>
            </a:r>
            <a:r>
              <a:rPr lang="en-US" sz="1800" b="1" dirty="0" err="1">
                <a:solidFill>
                  <a:schemeClr val="tx1"/>
                </a:solidFill>
              </a:rPr>
              <a:t>θ</a:t>
            </a:r>
            <a:r>
              <a:rPr lang="en-US" sz="1800" b="1" dirty="0">
                <a:solidFill>
                  <a:schemeClr val="tx1"/>
                </a:solidFill>
              </a:rPr>
              <a:t> = 1</a:t>
            </a:r>
            <a:r>
              <a:rPr lang="en-US" sz="1800" dirty="0">
                <a:solidFill>
                  <a:schemeClr val="tx1"/>
                </a:solidFill>
              </a:rPr>
              <a:t>) = 0.900 </a:t>
            </a:r>
            <a:endParaRPr lang="en-US" dirty="0"/>
          </a:p>
        </p:txBody>
      </p:sp>
      <p:sp>
        <p:nvSpPr>
          <p:cNvPr id="16" name="TextBox 15">
            <a:extLst>
              <a:ext uri="{FF2B5EF4-FFF2-40B4-BE49-F238E27FC236}">
                <a16:creationId xmlns:a16="http://schemas.microsoft.com/office/drawing/2014/main" id="{EAE1E47C-F216-3A61-F7C5-EC81FDBB1FCB}"/>
              </a:ext>
            </a:extLst>
          </p:cNvPr>
          <p:cNvSpPr txBox="1"/>
          <p:nvPr/>
        </p:nvSpPr>
        <p:spPr>
          <a:xfrm>
            <a:off x="9156116" y="6160700"/>
            <a:ext cx="2194166" cy="369332"/>
          </a:xfrm>
          <a:prstGeom prst="rect">
            <a:avLst/>
          </a:prstGeom>
          <a:noFill/>
        </p:spPr>
        <p:txBody>
          <a:bodyPr wrap="square">
            <a:spAutoFit/>
          </a:bodyPr>
          <a:lstStyle/>
          <a:p>
            <a:r>
              <a:rPr lang="en-US" sz="1800" dirty="0"/>
              <a:t>(1-</a:t>
            </a:r>
            <a:r>
              <a:rPr lang="en-US" sz="1800" dirty="0">
                <a:solidFill>
                  <a:schemeClr val="tx1"/>
                </a:solidFill>
              </a:rPr>
              <a:t>𝜷 | </a:t>
            </a:r>
            <a:r>
              <a:rPr lang="en-US" sz="1800" b="1" dirty="0" err="1">
                <a:solidFill>
                  <a:schemeClr val="tx1"/>
                </a:solidFill>
              </a:rPr>
              <a:t>θ</a:t>
            </a:r>
            <a:r>
              <a:rPr lang="en-US" sz="1800" b="1" dirty="0">
                <a:solidFill>
                  <a:schemeClr val="tx1"/>
                </a:solidFill>
              </a:rPr>
              <a:t> = 2</a:t>
            </a:r>
            <a:r>
              <a:rPr lang="en-US" sz="1800" dirty="0">
                <a:solidFill>
                  <a:schemeClr val="tx1"/>
                </a:solidFill>
              </a:rPr>
              <a:t>) = 0.902 </a:t>
            </a:r>
            <a:endParaRPr lang="en-US" dirty="0"/>
          </a:p>
        </p:txBody>
      </p:sp>
      <p:cxnSp>
        <p:nvCxnSpPr>
          <p:cNvPr id="18" name="Straight Arrow Connector 17">
            <a:extLst>
              <a:ext uri="{FF2B5EF4-FFF2-40B4-BE49-F238E27FC236}">
                <a16:creationId xmlns:a16="http://schemas.microsoft.com/office/drawing/2014/main" id="{C33B7EAD-9A42-5C1B-3918-F58546DA6F31}"/>
              </a:ext>
            </a:extLst>
          </p:cNvPr>
          <p:cNvCxnSpPr/>
          <p:nvPr/>
        </p:nvCxnSpPr>
        <p:spPr>
          <a:xfrm>
            <a:off x="8459768" y="5996018"/>
            <a:ext cx="684233" cy="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EC7FB6DA-66BA-FC8E-8D89-C5EBD952D27F}"/>
              </a:ext>
            </a:extLst>
          </p:cNvPr>
          <p:cNvCxnSpPr/>
          <p:nvPr/>
        </p:nvCxnSpPr>
        <p:spPr>
          <a:xfrm>
            <a:off x="8471488" y="6359436"/>
            <a:ext cx="684233" cy="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21862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DB286-CCED-98D8-C3BA-52F25092E93E}"/>
              </a:ext>
            </a:extLst>
          </p:cNvPr>
          <p:cNvSpPr txBox="1">
            <a:spLocks/>
          </p:cNvSpPr>
          <p:nvPr/>
        </p:nvSpPr>
        <p:spPr>
          <a:xfrm>
            <a:off x="14068" y="38136"/>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Statistical power</a:t>
            </a:r>
          </a:p>
        </p:txBody>
      </p:sp>
      <p:sp>
        <p:nvSpPr>
          <p:cNvPr id="4" name="Up Arrow 3">
            <a:extLst>
              <a:ext uri="{FF2B5EF4-FFF2-40B4-BE49-F238E27FC236}">
                <a16:creationId xmlns:a16="http://schemas.microsoft.com/office/drawing/2014/main" id="{E657FB52-ED6B-21C9-5B72-D2E5BC8CAA4E}"/>
              </a:ext>
            </a:extLst>
          </p:cNvPr>
          <p:cNvSpPr/>
          <p:nvPr/>
        </p:nvSpPr>
        <p:spPr>
          <a:xfrm>
            <a:off x="291319" y="1295986"/>
            <a:ext cx="2250831" cy="4811151"/>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sz="3200" dirty="0"/>
              <a:t>Statistical power</a:t>
            </a:r>
          </a:p>
        </p:txBody>
      </p:sp>
      <p:sp>
        <p:nvSpPr>
          <p:cNvPr id="5" name="Up Arrow 4">
            <a:extLst>
              <a:ext uri="{FF2B5EF4-FFF2-40B4-BE49-F238E27FC236}">
                <a16:creationId xmlns:a16="http://schemas.microsoft.com/office/drawing/2014/main" id="{510AFB1C-A98E-C184-B6A5-49A00E786492}"/>
              </a:ext>
            </a:extLst>
          </p:cNvPr>
          <p:cNvSpPr/>
          <p:nvPr/>
        </p:nvSpPr>
        <p:spPr>
          <a:xfrm>
            <a:off x="5198599" y="1321777"/>
            <a:ext cx="2250831" cy="4811151"/>
          </a:xfrm>
          <a:prstGeom prst="up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sz="3200" dirty="0">
                <a:solidFill>
                  <a:schemeClr val="tx1"/>
                </a:solidFill>
              </a:rPr>
              <a:t>Sample size</a:t>
            </a:r>
          </a:p>
        </p:txBody>
      </p:sp>
      <p:sp>
        <p:nvSpPr>
          <p:cNvPr id="14" name="Down Arrow 13">
            <a:extLst>
              <a:ext uri="{FF2B5EF4-FFF2-40B4-BE49-F238E27FC236}">
                <a16:creationId xmlns:a16="http://schemas.microsoft.com/office/drawing/2014/main" id="{373BC6C0-CFB8-62A0-20E6-57C4930C9DC9}"/>
              </a:ext>
            </a:extLst>
          </p:cNvPr>
          <p:cNvSpPr/>
          <p:nvPr/>
        </p:nvSpPr>
        <p:spPr>
          <a:xfrm>
            <a:off x="9873343" y="1396368"/>
            <a:ext cx="2014055" cy="4811151"/>
          </a:xfrm>
          <a:prstGeom prst="downArrow">
            <a:avLst/>
          </a:prstGeom>
          <a:noFill/>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sz="3200" dirty="0">
                <a:solidFill>
                  <a:schemeClr val="tx1"/>
                </a:solidFill>
              </a:rPr>
              <a:t>Biological noise</a:t>
            </a:r>
          </a:p>
        </p:txBody>
      </p:sp>
      <p:sp>
        <p:nvSpPr>
          <p:cNvPr id="3" name="Up Arrow 2">
            <a:extLst>
              <a:ext uri="{FF2B5EF4-FFF2-40B4-BE49-F238E27FC236}">
                <a16:creationId xmlns:a16="http://schemas.microsoft.com/office/drawing/2014/main" id="{E7AEEC18-1C54-6440-8038-521F350D405C}"/>
              </a:ext>
            </a:extLst>
          </p:cNvPr>
          <p:cNvSpPr/>
          <p:nvPr/>
        </p:nvSpPr>
        <p:spPr>
          <a:xfrm>
            <a:off x="2741149" y="1302727"/>
            <a:ext cx="2250831" cy="4811151"/>
          </a:xfrm>
          <a:prstGeom prst="up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sz="3200" dirty="0">
                <a:solidFill>
                  <a:schemeClr val="tx1"/>
                </a:solidFill>
              </a:rPr>
              <a:t>Biological signal</a:t>
            </a:r>
          </a:p>
        </p:txBody>
      </p:sp>
      <p:sp>
        <p:nvSpPr>
          <p:cNvPr id="6" name="Up Arrow 5">
            <a:extLst>
              <a:ext uri="{FF2B5EF4-FFF2-40B4-BE49-F238E27FC236}">
                <a16:creationId xmlns:a16="http://schemas.microsoft.com/office/drawing/2014/main" id="{0450A212-2D10-7316-0A0E-B81E54E00D87}"/>
              </a:ext>
            </a:extLst>
          </p:cNvPr>
          <p:cNvSpPr/>
          <p:nvPr/>
        </p:nvSpPr>
        <p:spPr>
          <a:xfrm>
            <a:off x="7598899" y="1340827"/>
            <a:ext cx="2250831" cy="4811151"/>
          </a:xfrm>
          <a:prstGeom prst="up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sz="3200" dirty="0">
                <a:solidFill>
                  <a:schemeClr val="tx1"/>
                </a:solidFill>
              </a:rPr>
              <a:t>Significance level (𝛂)</a:t>
            </a:r>
          </a:p>
        </p:txBody>
      </p:sp>
      <p:sp>
        <p:nvSpPr>
          <p:cNvPr id="7" name="TextBox 6">
            <a:extLst>
              <a:ext uri="{FF2B5EF4-FFF2-40B4-BE49-F238E27FC236}">
                <a16:creationId xmlns:a16="http://schemas.microsoft.com/office/drawing/2014/main" id="{EE4A7EA5-81F9-840E-B229-219F16305663}"/>
              </a:ext>
            </a:extLst>
          </p:cNvPr>
          <p:cNvSpPr txBox="1"/>
          <p:nvPr/>
        </p:nvSpPr>
        <p:spPr>
          <a:xfrm>
            <a:off x="9883943" y="149400"/>
            <a:ext cx="2171700" cy="892552"/>
          </a:xfrm>
          <a:prstGeom prst="rect">
            <a:avLst/>
          </a:prstGeom>
          <a:solidFill>
            <a:schemeClr val="accent4">
              <a:lumMod val="40000"/>
              <a:lumOff val="60000"/>
            </a:schemeClr>
          </a:solidFill>
          <a:ln>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p:spPr>
        <p:txBody>
          <a:bodyPr wrap="square" rtlCol="0">
            <a:spAutoFit/>
          </a:bodyPr>
          <a:lstStyle/>
          <a:p>
            <a:pPr algn="ctr"/>
            <a:r>
              <a:rPr lang="en-US" sz="2600" dirty="0">
                <a:solidFill>
                  <a:srgbClr val="FF0000"/>
                </a:solidFill>
                <a:latin typeface="American Typewriter" panose="02090604020004020304" pitchFamily="18" charset="77"/>
              </a:rPr>
              <a:t>Additional slide</a:t>
            </a:r>
          </a:p>
        </p:txBody>
      </p:sp>
    </p:spTree>
    <p:extLst>
      <p:ext uri="{BB962C8B-B14F-4D97-AF65-F5344CB8AC3E}">
        <p14:creationId xmlns:p14="http://schemas.microsoft.com/office/powerpoint/2010/main" val="17426623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3874B2E-908C-5929-24C9-6579C38BB48D}"/>
              </a:ext>
            </a:extLst>
          </p:cNvPr>
          <p:cNvSpPr txBox="1">
            <a:spLocks/>
          </p:cNvSpPr>
          <p:nvPr/>
        </p:nvSpPr>
        <p:spPr>
          <a:xfrm>
            <a:off x="14068" y="38136"/>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Distribution-free tests</a:t>
            </a:r>
          </a:p>
        </p:txBody>
      </p:sp>
      <p:sp>
        <p:nvSpPr>
          <p:cNvPr id="2" name="TextBox 1">
            <a:extLst>
              <a:ext uri="{FF2B5EF4-FFF2-40B4-BE49-F238E27FC236}">
                <a16:creationId xmlns:a16="http://schemas.microsoft.com/office/drawing/2014/main" id="{BFD3EF16-BC6E-5287-5D92-1E0BF29080AC}"/>
              </a:ext>
            </a:extLst>
          </p:cNvPr>
          <p:cNvSpPr txBox="1"/>
          <p:nvPr/>
        </p:nvSpPr>
        <p:spPr>
          <a:xfrm>
            <a:off x="200025" y="1000125"/>
            <a:ext cx="11844337" cy="2000548"/>
          </a:xfrm>
          <a:prstGeom prst="rect">
            <a:avLst/>
          </a:prstGeom>
          <a:noFill/>
        </p:spPr>
        <p:txBody>
          <a:bodyPr wrap="square" rtlCol="0">
            <a:spAutoFit/>
          </a:bodyPr>
          <a:lstStyle/>
          <a:p>
            <a:pPr algn="just"/>
            <a:r>
              <a:rPr lang="en-US" sz="3100" dirty="0"/>
              <a:t>A distribution-free test is one which makes </a:t>
            </a:r>
            <a:r>
              <a:rPr lang="en-US" sz="3100" b="1" dirty="0"/>
              <a:t>no assumptions</a:t>
            </a:r>
            <a:r>
              <a:rPr lang="en-US" sz="3100" dirty="0"/>
              <a:t> about the precise form of the sampled population or the assumptions are never so elaborate as to imply a population whose distribution is </a:t>
            </a:r>
            <a:r>
              <a:rPr lang="en-US" sz="3100" b="1" dirty="0"/>
              <a:t>completely specified</a:t>
            </a:r>
            <a:r>
              <a:rPr lang="en-US" sz="3100" dirty="0"/>
              <a:t>. </a:t>
            </a:r>
          </a:p>
        </p:txBody>
      </p:sp>
      <p:graphicFrame>
        <p:nvGraphicFramePr>
          <p:cNvPr id="5" name="Table 4">
            <a:extLst>
              <a:ext uri="{FF2B5EF4-FFF2-40B4-BE49-F238E27FC236}">
                <a16:creationId xmlns:a16="http://schemas.microsoft.com/office/drawing/2014/main" id="{4FF96210-2631-F534-5859-9E509B4025BC}"/>
              </a:ext>
            </a:extLst>
          </p:cNvPr>
          <p:cNvGraphicFramePr>
            <a:graphicFrameLocks noGrp="1"/>
          </p:cNvGraphicFramePr>
          <p:nvPr>
            <p:extLst>
              <p:ext uri="{D42A27DB-BD31-4B8C-83A1-F6EECF244321}">
                <p14:modId xmlns:p14="http://schemas.microsoft.com/office/powerpoint/2010/main" val="1198563792"/>
              </p:ext>
            </p:extLst>
          </p:nvPr>
        </p:nvGraphicFramePr>
        <p:xfrm>
          <a:off x="242888" y="3269341"/>
          <a:ext cx="11687176" cy="1706880"/>
        </p:xfrm>
        <a:graphic>
          <a:graphicData uri="http://schemas.openxmlformats.org/drawingml/2006/table">
            <a:tbl>
              <a:tblPr firstRow="1" bandRow="1">
                <a:tableStyleId>{5C22544A-7EE6-4342-B048-85BDC9FD1C3A}</a:tableStyleId>
              </a:tblPr>
              <a:tblGrid>
                <a:gridCol w="5843588">
                  <a:extLst>
                    <a:ext uri="{9D8B030D-6E8A-4147-A177-3AD203B41FA5}">
                      <a16:colId xmlns:a16="http://schemas.microsoft.com/office/drawing/2014/main" val="114947516"/>
                    </a:ext>
                  </a:extLst>
                </a:gridCol>
                <a:gridCol w="5843588">
                  <a:extLst>
                    <a:ext uri="{9D8B030D-6E8A-4147-A177-3AD203B41FA5}">
                      <a16:colId xmlns:a16="http://schemas.microsoft.com/office/drawing/2014/main" val="3035343913"/>
                    </a:ext>
                  </a:extLst>
                </a:gridCol>
              </a:tblGrid>
              <a:tr h="370840">
                <a:tc>
                  <a:txBody>
                    <a:bodyPr/>
                    <a:lstStyle/>
                    <a:p>
                      <a:r>
                        <a:rPr lang="en-US" sz="2200" dirty="0">
                          <a:solidFill>
                            <a:schemeClr val="tx1"/>
                          </a:solidFill>
                        </a:rPr>
                        <a:t>Distribution-free tests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sz="2200" dirty="0">
                          <a:solidFill>
                            <a:schemeClr val="tx1"/>
                          </a:solidFill>
                        </a:rPr>
                        <a:t>Distribution-dependent tests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407601817"/>
                  </a:ext>
                </a:extLst>
              </a:tr>
              <a:tr h="370840">
                <a:tc>
                  <a:txBody>
                    <a:bodyPr/>
                    <a:lstStyle/>
                    <a:p>
                      <a:r>
                        <a:rPr lang="en-US" sz="2200" dirty="0"/>
                        <a:t>Sign test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r>
                        <a:rPr lang="en-US" sz="2200" b="0" kern="1200" dirty="0">
                          <a:solidFill>
                            <a:schemeClr val="dk1"/>
                          </a:solidFill>
                          <a:latin typeface="+mn-lt"/>
                          <a:ea typeface="+mn-ea"/>
                          <a:cs typeface="+mn-cs"/>
                        </a:rPr>
                        <a:t>One-sample Student’s </a:t>
                      </a:r>
                      <a:r>
                        <a:rPr lang="en-US" sz="2200" b="0" i="1" kern="1200" dirty="0">
                          <a:solidFill>
                            <a:schemeClr val="dk1"/>
                          </a:solidFill>
                          <a:latin typeface="+mn-lt"/>
                          <a:ea typeface="+mn-ea"/>
                          <a:cs typeface="+mn-cs"/>
                        </a:rPr>
                        <a:t>t</a:t>
                      </a:r>
                      <a:r>
                        <a:rPr lang="en-US" sz="2200" b="0" kern="1200" dirty="0">
                          <a:solidFill>
                            <a:schemeClr val="dk1"/>
                          </a:solidFill>
                          <a:latin typeface="+mn-lt"/>
                          <a:ea typeface="+mn-ea"/>
                          <a:cs typeface="+mn-cs"/>
                        </a:rPr>
                        <a:t>-test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3450668684"/>
                  </a:ext>
                </a:extLst>
              </a:tr>
              <a:tr h="370840">
                <a:tc>
                  <a:txBody>
                    <a:bodyPr/>
                    <a:lstStyle/>
                    <a:p>
                      <a:r>
                        <a:rPr lang="en-US" sz="2200" dirty="0"/>
                        <a:t>Wilcoxon signed-rank test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r>
                        <a:rPr lang="en-US" sz="2200" b="0" kern="1200" dirty="0">
                          <a:solidFill>
                            <a:schemeClr val="dk1"/>
                          </a:solidFill>
                          <a:latin typeface="+mn-lt"/>
                          <a:ea typeface="+mn-ea"/>
                          <a:cs typeface="+mn-cs"/>
                        </a:rPr>
                        <a:t>Two-sample Student’s </a:t>
                      </a:r>
                      <a:r>
                        <a:rPr lang="en-US" sz="2200" b="0" i="1" kern="1200" dirty="0">
                          <a:solidFill>
                            <a:schemeClr val="dk1"/>
                          </a:solidFill>
                          <a:latin typeface="+mn-lt"/>
                          <a:ea typeface="+mn-ea"/>
                          <a:cs typeface="+mn-cs"/>
                        </a:rPr>
                        <a:t>t</a:t>
                      </a:r>
                      <a:r>
                        <a:rPr lang="en-US" sz="2200" b="0" kern="1200" dirty="0">
                          <a:solidFill>
                            <a:schemeClr val="dk1"/>
                          </a:solidFill>
                          <a:latin typeface="+mn-lt"/>
                          <a:ea typeface="+mn-ea"/>
                          <a:cs typeface="+mn-cs"/>
                        </a:rPr>
                        <a:t>-test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970051405"/>
                  </a:ext>
                </a:extLst>
              </a:tr>
              <a:tr h="370840">
                <a:tc>
                  <a:txBody>
                    <a:bodyPr/>
                    <a:lstStyle/>
                    <a:p>
                      <a:r>
                        <a:rPr lang="en-US" sz="2200" dirty="0"/>
                        <a:t>Wilcoxon rank-sum test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b="0" dirty="0"/>
                        <a:t>Unequal variance </a:t>
                      </a:r>
                      <a:r>
                        <a:rPr lang="en-US" sz="2200" b="0" i="1" dirty="0"/>
                        <a:t>t</a:t>
                      </a:r>
                      <a:r>
                        <a:rPr lang="en-US" sz="2200" b="0" dirty="0"/>
                        <a:t>-test (i.e. Welch’s </a:t>
                      </a:r>
                      <a:r>
                        <a:rPr lang="en-US" sz="2200" b="0" i="1" dirty="0"/>
                        <a:t>t</a:t>
                      </a:r>
                      <a:r>
                        <a:rPr lang="en-US" sz="2200" b="0" dirty="0"/>
                        <a:t>-test)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1803745"/>
                  </a:ext>
                </a:extLst>
              </a:tr>
            </a:tbl>
          </a:graphicData>
        </a:graphic>
      </p:graphicFrame>
      <p:graphicFrame>
        <p:nvGraphicFramePr>
          <p:cNvPr id="9" name="Table 8">
            <a:extLst>
              <a:ext uri="{FF2B5EF4-FFF2-40B4-BE49-F238E27FC236}">
                <a16:creationId xmlns:a16="http://schemas.microsoft.com/office/drawing/2014/main" id="{238ADE97-D6DB-CC37-A50C-69D381466BDA}"/>
              </a:ext>
            </a:extLst>
          </p:cNvPr>
          <p:cNvGraphicFramePr>
            <a:graphicFrameLocks noGrp="1"/>
          </p:cNvGraphicFramePr>
          <p:nvPr>
            <p:extLst>
              <p:ext uri="{D42A27DB-BD31-4B8C-83A1-F6EECF244321}">
                <p14:modId xmlns:p14="http://schemas.microsoft.com/office/powerpoint/2010/main" val="728246411"/>
              </p:ext>
            </p:extLst>
          </p:nvPr>
        </p:nvGraphicFramePr>
        <p:xfrm>
          <a:off x="57142" y="5808950"/>
          <a:ext cx="12134857" cy="1028700"/>
        </p:xfrm>
        <a:graphic>
          <a:graphicData uri="http://schemas.openxmlformats.org/drawingml/2006/table">
            <a:tbl>
              <a:tblPr firstRow="1" bandRow="1">
                <a:tableStyleId>{5C22544A-7EE6-4342-B048-85BDC9FD1C3A}</a:tableStyleId>
              </a:tblPr>
              <a:tblGrid>
                <a:gridCol w="12134857">
                  <a:extLst>
                    <a:ext uri="{9D8B030D-6E8A-4147-A177-3AD203B41FA5}">
                      <a16:colId xmlns:a16="http://schemas.microsoft.com/office/drawing/2014/main" val="3899042540"/>
                    </a:ext>
                  </a:extLst>
                </a:gridCol>
              </a:tblGrid>
              <a:tr h="270867">
                <a:tc>
                  <a:txBody>
                    <a:bodyPr/>
                    <a:lstStyle/>
                    <a:p>
                      <a:pPr marL="180000" indent="-180000">
                        <a:spcBef>
                          <a:spcPts val="0"/>
                        </a:spcBef>
                        <a:spcAft>
                          <a:spcPts val="0"/>
                        </a:spcAft>
                        <a:buFont typeface="Arial" panose="020B0604020202020204" pitchFamily="34" charset="0"/>
                        <a:buChar char="•"/>
                        <a:tabLst/>
                      </a:pPr>
                      <a:r>
                        <a:rPr lang="en-GB" sz="1850" b="0" i="0" u="none" strike="noStrike" kern="1200" dirty="0">
                          <a:solidFill>
                            <a:schemeClr val="tx1"/>
                          </a:solidFill>
                          <a:effectLst/>
                          <a:latin typeface="+mn-lt"/>
                          <a:ea typeface="+mn-ea"/>
                          <a:cs typeface="+mn-cs"/>
                        </a:rPr>
                        <a:t>Bradley, J.V. (1968) Distribution-Free Statistical Tests. Prentice-Hall, Englewood Cliffs, NJ</a:t>
                      </a:r>
                    </a:p>
                  </a:txBody>
                  <a:tcPr>
                    <a:noFill/>
                  </a:tcPr>
                </a:tc>
                <a:extLst>
                  <a:ext uri="{0D108BD9-81ED-4DB2-BD59-A6C34878D82A}">
                    <a16:rowId xmlns:a16="http://schemas.microsoft.com/office/drawing/2014/main" val="3228007059"/>
                  </a:ext>
                </a:extLst>
              </a:tr>
              <a:tr h="504221">
                <a:tc>
                  <a:txBody>
                    <a:bodyPr/>
                    <a:lstStyle/>
                    <a:p>
                      <a:pPr marL="180000" indent="-180000">
                        <a:spcBef>
                          <a:spcPts val="0"/>
                        </a:spcBef>
                        <a:spcAft>
                          <a:spcPts val="0"/>
                        </a:spcAft>
                        <a:buFont typeface="Arial" panose="020B0604020202020204" pitchFamily="34" charset="0"/>
                        <a:buChar char="•"/>
                        <a:tabLst/>
                      </a:pPr>
                      <a:r>
                        <a:rPr lang="en-US" sz="1850" dirty="0"/>
                        <a:t>Kendall, M.G. and </a:t>
                      </a:r>
                      <a:r>
                        <a:rPr lang="en-US" sz="1850" dirty="0" err="1"/>
                        <a:t>R.M.Sundrum</a:t>
                      </a:r>
                      <a:r>
                        <a:rPr lang="en-US" sz="1850" dirty="0"/>
                        <a:t>, Distribution-Free Methods and Order Properties, Review of the International Statistical Institute, 3 (1953), 124-134</a:t>
                      </a:r>
                    </a:p>
                  </a:txBody>
                  <a:tcPr>
                    <a:noFill/>
                  </a:tcPr>
                </a:tc>
                <a:extLst>
                  <a:ext uri="{0D108BD9-81ED-4DB2-BD59-A6C34878D82A}">
                    <a16:rowId xmlns:a16="http://schemas.microsoft.com/office/drawing/2014/main" val="2124855320"/>
                  </a:ext>
                </a:extLst>
              </a:tr>
            </a:tbl>
          </a:graphicData>
        </a:graphic>
      </p:graphicFrame>
      <p:sp>
        <p:nvSpPr>
          <p:cNvPr id="3" name="TextBox 2">
            <a:extLst>
              <a:ext uri="{FF2B5EF4-FFF2-40B4-BE49-F238E27FC236}">
                <a16:creationId xmlns:a16="http://schemas.microsoft.com/office/drawing/2014/main" id="{430AD3BA-2B50-14C6-C783-F5F62F5371C9}"/>
              </a:ext>
            </a:extLst>
          </p:cNvPr>
          <p:cNvSpPr txBox="1"/>
          <p:nvPr/>
        </p:nvSpPr>
        <p:spPr>
          <a:xfrm>
            <a:off x="9883943" y="149400"/>
            <a:ext cx="2171700" cy="892552"/>
          </a:xfrm>
          <a:prstGeom prst="rect">
            <a:avLst/>
          </a:prstGeom>
          <a:solidFill>
            <a:schemeClr val="accent4">
              <a:lumMod val="40000"/>
              <a:lumOff val="60000"/>
            </a:schemeClr>
          </a:solidFill>
          <a:ln>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p:spPr>
        <p:txBody>
          <a:bodyPr wrap="square" rtlCol="0">
            <a:spAutoFit/>
          </a:bodyPr>
          <a:lstStyle/>
          <a:p>
            <a:pPr algn="ctr"/>
            <a:r>
              <a:rPr lang="en-US" sz="2600" dirty="0">
                <a:solidFill>
                  <a:srgbClr val="FF0000"/>
                </a:solidFill>
                <a:latin typeface="American Typewriter" panose="02090604020004020304" pitchFamily="18" charset="77"/>
              </a:rPr>
              <a:t>Additional slide</a:t>
            </a:r>
          </a:p>
        </p:txBody>
      </p:sp>
    </p:spTree>
    <p:extLst>
      <p:ext uri="{BB962C8B-B14F-4D97-AF65-F5344CB8AC3E}">
        <p14:creationId xmlns:p14="http://schemas.microsoft.com/office/powerpoint/2010/main" val="28408643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2FAFA-1B93-A2BB-96BA-378DC8C788E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9AC7A24-DDA0-F482-CA67-CB85433B1FDD}"/>
              </a:ext>
            </a:extLst>
          </p:cNvPr>
          <p:cNvSpPr txBox="1"/>
          <p:nvPr/>
        </p:nvSpPr>
        <p:spPr>
          <a:xfrm>
            <a:off x="184922" y="2657616"/>
            <a:ext cx="11520238" cy="492443"/>
          </a:xfrm>
          <a:prstGeom prst="rect">
            <a:avLst/>
          </a:prstGeom>
          <a:noFill/>
        </p:spPr>
        <p:txBody>
          <a:bodyPr wrap="square">
            <a:spAutoFit/>
          </a:bodyPr>
          <a:lstStyle/>
          <a:p>
            <a:r>
              <a:rPr lang="en-GB" sz="2600" dirty="0">
                <a:effectLst/>
              </a:rPr>
              <a:t>http://bioinformatics-core-shared-</a:t>
            </a:r>
            <a:r>
              <a:rPr lang="en-GB" sz="2600" dirty="0" err="1">
                <a:effectLst/>
              </a:rPr>
              <a:t>training.github.io</a:t>
            </a:r>
            <a:r>
              <a:rPr lang="en-GB" sz="2600" dirty="0">
                <a:effectLst/>
              </a:rPr>
              <a:t>/</a:t>
            </a:r>
            <a:r>
              <a:rPr lang="en-GB" sz="2600" dirty="0" err="1">
                <a:effectLst/>
              </a:rPr>
              <a:t>IntroductionToStats</a:t>
            </a:r>
            <a:endParaRPr lang="en-GB" sz="2600" dirty="0">
              <a:effectLst/>
            </a:endParaRPr>
          </a:p>
        </p:txBody>
      </p:sp>
      <p:sp>
        <p:nvSpPr>
          <p:cNvPr id="8" name="Title 1">
            <a:extLst>
              <a:ext uri="{FF2B5EF4-FFF2-40B4-BE49-F238E27FC236}">
                <a16:creationId xmlns:a16="http://schemas.microsoft.com/office/drawing/2014/main" id="{6320B99C-97CD-057D-5D53-A5FF44DF55C9}"/>
              </a:ext>
            </a:extLst>
          </p:cNvPr>
          <p:cNvSpPr txBox="1">
            <a:spLocks/>
          </p:cNvSpPr>
          <p:nvPr/>
        </p:nvSpPr>
        <p:spPr>
          <a:xfrm>
            <a:off x="0" y="24068"/>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Exercises</a:t>
            </a:r>
          </a:p>
        </p:txBody>
      </p:sp>
    </p:spTree>
    <p:extLst>
      <p:ext uri="{BB962C8B-B14F-4D97-AF65-F5344CB8AC3E}">
        <p14:creationId xmlns:p14="http://schemas.microsoft.com/office/powerpoint/2010/main" val="284626570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0A7E1-DFE2-9AD4-8BF2-B4CAE741BFF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ABC6098-967E-8F9B-95AC-6EA9D2EB75A8}"/>
              </a:ext>
            </a:extLst>
          </p:cNvPr>
          <p:cNvSpPr>
            <a:spLocks noGrp="1"/>
          </p:cNvSpPr>
          <p:nvPr>
            <p:ph type="title"/>
          </p:nvPr>
        </p:nvSpPr>
        <p:spPr>
          <a:xfrm>
            <a:off x="7273101" y="2281573"/>
            <a:ext cx="2752638" cy="1033123"/>
          </a:xfrm>
        </p:spPr>
        <p:txBody>
          <a:bodyPr>
            <a:normAutofit fontScale="90000"/>
          </a:bodyPr>
          <a:lstStyle/>
          <a:p>
            <a:pPr algn="ctr"/>
            <a:r>
              <a:rPr lang="en-US" sz="3600" dirty="0"/>
              <a:t>Inferential Statistics</a:t>
            </a:r>
          </a:p>
        </p:txBody>
      </p:sp>
      <p:sp>
        <p:nvSpPr>
          <p:cNvPr id="5" name="Text Placeholder 4">
            <a:extLst>
              <a:ext uri="{FF2B5EF4-FFF2-40B4-BE49-F238E27FC236}">
                <a16:creationId xmlns:a16="http://schemas.microsoft.com/office/drawing/2014/main" id="{75BFF58A-06B9-CF55-7AEA-6285C20C859B}"/>
              </a:ext>
            </a:extLst>
          </p:cNvPr>
          <p:cNvSpPr>
            <a:spLocks noGrp="1"/>
          </p:cNvSpPr>
          <p:nvPr>
            <p:ph type="body" sz="quarter" idx="22"/>
          </p:nvPr>
        </p:nvSpPr>
        <p:spPr>
          <a:xfrm>
            <a:off x="7920000" y="5328000"/>
            <a:ext cx="2947523" cy="569080"/>
          </a:xfrm>
        </p:spPr>
        <p:txBody>
          <a:bodyPr>
            <a:noAutofit/>
          </a:bodyPr>
          <a:lstStyle/>
          <a:p>
            <a:r>
              <a:rPr lang="en-US" sz="2500" dirty="0"/>
              <a:t>14.15 - 14.40</a:t>
            </a:r>
          </a:p>
        </p:txBody>
      </p:sp>
      <p:sp>
        <p:nvSpPr>
          <p:cNvPr id="13" name="Text Placeholder 2">
            <a:extLst>
              <a:ext uri="{FF2B5EF4-FFF2-40B4-BE49-F238E27FC236}">
                <a16:creationId xmlns:a16="http://schemas.microsoft.com/office/drawing/2014/main" id="{84990546-EABD-262D-6612-1E455C27FD9E}"/>
              </a:ext>
            </a:extLst>
          </p:cNvPr>
          <p:cNvSpPr>
            <a:spLocks noGrp="1"/>
          </p:cNvSpPr>
          <p:nvPr>
            <p:ph type="body" sz="quarter" idx="11"/>
          </p:nvPr>
        </p:nvSpPr>
        <p:spPr>
          <a:xfrm>
            <a:off x="7920000" y="4500000"/>
            <a:ext cx="3225109" cy="566630"/>
          </a:xfrm>
        </p:spPr>
        <p:txBody>
          <a:bodyPr>
            <a:normAutofit/>
          </a:bodyPr>
          <a:lstStyle/>
          <a:p>
            <a:r>
              <a:rPr lang="en-US" sz="2500" dirty="0"/>
              <a:t>One-Sample tests</a:t>
            </a:r>
          </a:p>
        </p:txBody>
      </p:sp>
      <p:sp>
        <p:nvSpPr>
          <p:cNvPr id="18" name="TextBox 17">
            <a:extLst>
              <a:ext uri="{FF2B5EF4-FFF2-40B4-BE49-F238E27FC236}">
                <a16:creationId xmlns:a16="http://schemas.microsoft.com/office/drawing/2014/main" id="{E9B4BE51-8AD4-C203-ABDC-192D75E03888}"/>
              </a:ext>
            </a:extLst>
          </p:cNvPr>
          <p:cNvSpPr txBox="1"/>
          <p:nvPr/>
        </p:nvSpPr>
        <p:spPr>
          <a:xfrm>
            <a:off x="127712" y="920464"/>
            <a:ext cx="3195887" cy="461665"/>
          </a:xfrm>
          <a:prstGeom prst="rect">
            <a:avLst/>
          </a:prstGeom>
          <a:noFill/>
        </p:spPr>
        <p:txBody>
          <a:bodyPr wrap="square" rtlCol="0">
            <a:spAutoFit/>
          </a:bodyPr>
          <a:lstStyle/>
          <a:p>
            <a:pPr algn="ctr"/>
            <a:r>
              <a:rPr lang="en-US" sz="2400" dirty="0"/>
              <a:t>1) Statistical distribution </a:t>
            </a:r>
          </a:p>
        </p:txBody>
      </p:sp>
      <p:pic>
        <p:nvPicPr>
          <p:cNvPr id="19" name="Picture 2" descr="Binomial distribution - Wikipedia">
            <a:extLst>
              <a:ext uri="{FF2B5EF4-FFF2-40B4-BE49-F238E27FC236}">
                <a16:creationId xmlns:a16="http://schemas.microsoft.com/office/drawing/2014/main" id="{3A9580A5-A79A-FC6B-DF47-36328688E7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60421" y="592072"/>
            <a:ext cx="2176908" cy="1449482"/>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4" descr="The History of the Coin Flip – Heads or Tails? - Hattons of London">
            <a:extLst>
              <a:ext uri="{FF2B5EF4-FFF2-40B4-BE49-F238E27FC236}">
                <a16:creationId xmlns:a16="http://schemas.microsoft.com/office/drawing/2014/main" id="{26F3BAFD-C79A-11AB-871D-658B973E33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04311" y="3738321"/>
            <a:ext cx="2187508" cy="1455687"/>
          </a:xfrm>
          <a:prstGeom prst="rect">
            <a:avLst/>
          </a:prstGeom>
          <a:noFill/>
          <a:extLst>
            <a:ext uri="{909E8E84-426E-40DD-AFC4-6F175D3DCCD1}">
              <a14:hiddenFill xmlns:a14="http://schemas.microsoft.com/office/drawing/2010/main">
                <a:solidFill>
                  <a:srgbClr val="FFFFFF"/>
                </a:solidFill>
              </a14:hiddenFill>
            </a:ext>
          </a:extLst>
        </p:spPr>
      </p:pic>
      <p:cxnSp>
        <p:nvCxnSpPr>
          <p:cNvPr id="23" name="Straight Arrow Connector 22">
            <a:extLst>
              <a:ext uri="{FF2B5EF4-FFF2-40B4-BE49-F238E27FC236}">
                <a16:creationId xmlns:a16="http://schemas.microsoft.com/office/drawing/2014/main" id="{95FBBA6A-AAA7-55F8-A9FF-5F5728322EDA}"/>
              </a:ext>
            </a:extLst>
          </p:cNvPr>
          <p:cNvCxnSpPr>
            <a:cxnSpLocks/>
          </p:cNvCxnSpPr>
          <p:nvPr/>
        </p:nvCxnSpPr>
        <p:spPr>
          <a:xfrm>
            <a:off x="4848875" y="2232586"/>
            <a:ext cx="0" cy="1327041"/>
          </a:xfrm>
          <a:prstGeom prst="straightConnector1">
            <a:avLst/>
          </a:prstGeom>
          <a:ln w="25400">
            <a:solidFill>
              <a:schemeClr val="tx1"/>
            </a:solidFill>
            <a:prstDash val="sysDash"/>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35E79D6-15E6-A9FB-9579-41750F07134A}"/>
              </a:ext>
            </a:extLst>
          </p:cNvPr>
          <p:cNvCxnSpPr>
            <a:cxnSpLocks/>
          </p:cNvCxnSpPr>
          <p:nvPr/>
        </p:nvCxnSpPr>
        <p:spPr>
          <a:xfrm>
            <a:off x="1828798" y="4466164"/>
            <a:ext cx="1690460" cy="0"/>
          </a:xfrm>
          <a:prstGeom prst="line">
            <a:avLst/>
          </a:prstGeom>
          <a:ln w="63500">
            <a:solidFill>
              <a:schemeClr val="accent1">
                <a:lumMod val="40000"/>
                <a:lumOff val="60000"/>
              </a:schemeClr>
            </a:solidFill>
            <a:headEnd type="none"/>
            <a:tailEnd type="ova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3F64B2CE-1F5B-A7FF-1260-08816531384D}"/>
              </a:ext>
            </a:extLst>
          </p:cNvPr>
          <p:cNvSpPr txBox="1"/>
          <p:nvPr/>
        </p:nvSpPr>
        <p:spPr>
          <a:xfrm>
            <a:off x="293418" y="4631939"/>
            <a:ext cx="3201392" cy="461665"/>
          </a:xfrm>
          <a:prstGeom prst="rect">
            <a:avLst/>
          </a:prstGeom>
          <a:solidFill>
            <a:schemeClr val="accent1">
              <a:lumMod val="20000"/>
              <a:lumOff val="80000"/>
            </a:schemeClr>
          </a:solidFill>
          <a:ln>
            <a:solidFill>
              <a:schemeClr val="accent1">
                <a:lumMod val="20000"/>
                <a:lumOff val="80000"/>
              </a:schemeClr>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r"/>
            <a:r>
              <a:rPr lang="en-US" sz="2400" b="1" dirty="0"/>
              <a:t>3) Frequentist inference</a:t>
            </a:r>
          </a:p>
        </p:txBody>
      </p:sp>
      <p:sp>
        <p:nvSpPr>
          <p:cNvPr id="29" name="TextBox 28">
            <a:extLst>
              <a:ext uri="{FF2B5EF4-FFF2-40B4-BE49-F238E27FC236}">
                <a16:creationId xmlns:a16="http://schemas.microsoft.com/office/drawing/2014/main" id="{6F99F879-6B8D-EE85-2918-E98673F06E56}"/>
              </a:ext>
            </a:extLst>
          </p:cNvPr>
          <p:cNvSpPr txBox="1"/>
          <p:nvPr/>
        </p:nvSpPr>
        <p:spPr>
          <a:xfrm>
            <a:off x="5016191" y="2434146"/>
            <a:ext cx="1653075" cy="830997"/>
          </a:xfrm>
          <a:prstGeom prst="rect">
            <a:avLst/>
          </a:prstGeom>
          <a:noFill/>
        </p:spPr>
        <p:txBody>
          <a:bodyPr wrap="square" rtlCol="0">
            <a:spAutoFit/>
          </a:bodyPr>
          <a:lstStyle/>
          <a:p>
            <a:r>
              <a:rPr lang="en-US" sz="2400" dirty="0"/>
              <a:t>2) Data generation</a:t>
            </a:r>
          </a:p>
        </p:txBody>
      </p:sp>
      <p:cxnSp>
        <p:nvCxnSpPr>
          <p:cNvPr id="36" name="Straight Arrow Connector 35">
            <a:extLst>
              <a:ext uri="{FF2B5EF4-FFF2-40B4-BE49-F238E27FC236}">
                <a16:creationId xmlns:a16="http://schemas.microsoft.com/office/drawing/2014/main" id="{13B88E6D-8D51-F4A2-8DF6-C3CE33433916}"/>
              </a:ext>
            </a:extLst>
          </p:cNvPr>
          <p:cNvCxnSpPr/>
          <p:nvPr/>
        </p:nvCxnSpPr>
        <p:spPr>
          <a:xfrm flipV="1">
            <a:off x="1828798" y="1518556"/>
            <a:ext cx="0" cy="2988000"/>
          </a:xfrm>
          <a:prstGeom prst="straightConnector1">
            <a:avLst/>
          </a:prstGeom>
          <a:ln w="63500">
            <a:solidFill>
              <a:schemeClr val="accent1">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60233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91F2E8B-8139-6A93-FBB5-F100AFB049CB}"/>
              </a:ext>
            </a:extLst>
          </p:cNvPr>
          <p:cNvSpPr txBox="1"/>
          <p:nvPr/>
        </p:nvSpPr>
        <p:spPr>
          <a:xfrm>
            <a:off x="72181" y="902365"/>
            <a:ext cx="12083724" cy="6124754"/>
          </a:xfrm>
          <a:prstGeom prst="rect">
            <a:avLst/>
          </a:prstGeom>
          <a:noFill/>
        </p:spPr>
        <p:txBody>
          <a:bodyPr wrap="square" rtlCol="0">
            <a:spAutoFit/>
          </a:bodyPr>
          <a:lstStyle/>
          <a:p>
            <a:r>
              <a:rPr lang="en-US" sz="2800" b="1" dirty="0"/>
              <a:t>Assumptions:</a:t>
            </a:r>
            <a:r>
              <a:rPr lang="en-US" sz="2800" dirty="0"/>
              <a:t> 	1. the data are continuous</a:t>
            </a:r>
          </a:p>
          <a:p>
            <a:r>
              <a:rPr lang="en-US" sz="2800" dirty="0"/>
              <a:t>			2. </a:t>
            </a:r>
            <a:r>
              <a:rPr lang="en-GB" sz="2800" b="0" i="0" u="none" strike="noStrike" dirty="0">
                <a:solidFill>
                  <a:srgbClr val="202124"/>
                </a:solidFill>
                <a:effectLst/>
                <a:latin typeface="Google Sans"/>
              </a:rPr>
              <a:t>sample data have been randomly sampled from a population</a:t>
            </a:r>
            <a:endParaRPr lang="en-US" sz="2800" dirty="0"/>
          </a:p>
          <a:p>
            <a:r>
              <a:rPr lang="en-US" sz="2800" dirty="0"/>
              <a:t>			3. independent observations x</a:t>
            </a:r>
            <a:r>
              <a:rPr lang="en-US" sz="2800" baseline="-25000" dirty="0"/>
              <a:t>i</a:t>
            </a:r>
            <a:r>
              <a:rPr lang="en-US" sz="2800" dirty="0"/>
              <a:t>, </a:t>
            </a:r>
            <a:r>
              <a:rPr lang="en-US" sz="2800" dirty="0" err="1"/>
              <a:t>i</a:t>
            </a:r>
            <a:r>
              <a:rPr lang="en-US" sz="2800" dirty="0"/>
              <a:t>=1,…,n</a:t>
            </a:r>
          </a:p>
          <a:p>
            <a:r>
              <a:rPr lang="en-US" sz="2800" dirty="0"/>
              <a:t>			4. the population is normally distributed</a:t>
            </a:r>
          </a:p>
          <a:p>
            <a:endParaRPr lang="en-US" sz="2800" b="1" dirty="0"/>
          </a:p>
          <a:p>
            <a:r>
              <a:rPr lang="en-US" sz="2800" b="1" dirty="0"/>
              <a:t>Hypotheses to test:</a:t>
            </a:r>
            <a:r>
              <a:rPr lang="en-US" sz="2800" dirty="0"/>
              <a:t>			</a:t>
            </a:r>
          </a:p>
          <a:p>
            <a:r>
              <a:rPr lang="en-US" sz="2800" dirty="0"/>
              <a:t>H</a:t>
            </a:r>
            <a:r>
              <a:rPr lang="en-US" sz="2800" baseline="-25000" dirty="0"/>
              <a:t>0</a:t>
            </a:r>
            <a:r>
              <a:rPr lang="en-US" sz="2800" dirty="0"/>
              <a:t>: 	mean of the population distribution 𝛍 = 𝛍</a:t>
            </a:r>
            <a:r>
              <a:rPr lang="en-US" sz="2800" baseline="-25000" dirty="0"/>
              <a:t>0</a:t>
            </a:r>
            <a:endParaRPr lang="en-US" sz="2800" dirty="0"/>
          </a:p>
          <a:p>
            <a:r>
              <a:rPr lang="en-US" sz="2800" dirty="0"/>
              <a:t>H</a:t>
            </a:r>
            <a:r>
              <a:rPr lang="en-US" sz="2800" baseline="-25000" dirty="0"/>
              <a:t>1</a:t>
            </a:r>
            <a:r>
              <a:rPr lang="en-US" sz="2800" dirty="0"/>
              <a:t>: 	𝛍 ≠ 𝛍</a:t>
            </a:r>
            <a:r>
              <a:rPr lang="en-US" sz="2800" baseline="-25000" dirty="0"/>
              <a:t>0</a:t>
            </a:r>
            <a:endParaRPr lang="en-US" sz="2800" dirty="0"/>
          </a:p>
          <a:p>
            <a:endParaRPr lang="en-US" sz="2800" dirty="0"/>
          </a:p>
          <a:p>
            <a:endParaRPr lang="en-US" sz="2800" b="1" dirty="0"/>
          </a:p>
          <a:p>
            <a:endParaRPr lang="en-US" sz="2800" b="1" dirty="0"/>
          </a:p>
          <a:p>
            <a:r>
              <a:rPr lang="en-US" sz="2800" b="1" dirty="0"/>
              <a:t>Test statistic:</a:t>
            </a:r>
          </a:p>
          <a:p>
            <a:r>
              <a:rPr lang="en-US" sz="2800" baseline="-25000" dirty="0"/>
              <a:t>	</a:t>
            </a:r>
            <a:endParaRPr lang="en-US" sz="2800" dirty="0"/>
          </a:p>
          <a:p>
            <a:r>
              <a:rPr lang="en-US" sz="2800" dirty="0"/>
              <a:t> </a:t>
            </a:r>
            <a:r>
              <a:rPr lang="en-US" sz="2800" baseline="-25000" dirty="0"/>
              <a:t>				</a:t>
            </a:r>
          </a:p>
        </p:txBody>
      </p:sp>
      <p:pic>
        <p:nvPicPr>
          <p:cNvPr id="1026" name="Picture 2" descr="t-Test | Definition, Formula &amp; Calculation - Video &amp; Lesson Transcript |  Study.com">
            <a:extLst>
              <a:ext uri="{FF2B5EF4-FFF2-40B4-BE49-F238E27FC236}">
                <a16:creationId xmlns:a16="http://schemas.microsoft.com/office/drawing/2014/main" id="{08E98FE1-7882-6751-304F-739133C97D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5544" y="4989176"/>
            <a:ext cx="3042015" cy="184475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8D638D6-5E70-E1C4-108A-B624B3C7B17C}"/>
              </a:ext>
            </a:extLst>
          </p:cNvPr>
          <p:cNvSpPr txBox="1"/>
          <p:nvPr/>
        </p:nvSpPr>
        <p:spPr>
          <a:xfrm>
            <a:off x="6617369" y="5366085"/>
            <a:ext cx="4668252" cy="954107"/>
          </a:xfrm>
          <a:prstGeom prst="rect">
            <a:avLst/>
          </a:prstGeom>
          <a:noFill/>
        </p:spPr>
        <p:txBody>
          <a:bodyPr wrap="square" rtlCol="0">
            <a:spAutoFit/>
          </a:bodyPr>
          <a:lstStyle/>
          <a:p>
            <a:r>
              <a:rPr lang="en-US" sz="2800" dirty="0" err="1"/>
              <a:t>ẋ</a:t>
            </a:r>
            <a:r>
              <a:rPr lang="en-US" sz="2800" dirty="0"/>
              <a:t> = sample mean</a:t>
            </a:r>
          </a:p>
          <a:p>
            <a:r>
              <a:rPr lang="en-US" sz="2800" dirty="0"/>
              <a:t>s = sample standard deviation</a:t>
            </a:r>
          </a:p>
        </p:txBody>
      </p:sp>
      <p:sp>
        <p:nvSpPr>
          <p:cNvPr id="5" name="Title 1">
            <a:extLst>
              <a:ext uri="{FF2B5EF4-FFF2-40B4-BE49-F238E27FC236}">
                <a16:creationId xmlns:a16="http://schemas.microsoft.com/office/drawing/2014/main" id="{03AA3A46-59E5-085A-5D0C-98295F0F0D9C}"/>
              </a:ext>
            </a:extLst>
          </p:cNvPr>
          <p:cNvSpPr txBox="1">
            <a:spLocks/>
          </p:cNvSpPr>
          <p:nvPr/>
        </p:nvSpPr>
        <p:spPr>
          <a:xfrm>
            <a:off x="0" y="24068"/>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One-sample Student’s </a:t>
            </a:r>
            <a:r>
              <a:rPr lang="en-US" sz="5000" b="1" i="1" dirty="0"/>
              <a:t>t</a:t>
            </a:r>
            <a:r>
              <a:rPr lang="en-US" sz="5000" b="1" dirty="0"/>
              <a:t>-test</a:t>
            </a:r>
          </a:p>
        </p:txBody>
      </p:sp>
    </p:spTree>
    <p:extLst>
      <p:ext uri="{BB962C8B-B14F-4D97-AF65-F5344CB8AC3E}">
        <p14:creationId xmlns:p14="http://schemas.microsoft.com/office/powerpoint/2010/main" val="41484829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764A3-C142-5065-1A4F-BE6A0C6D9451}"/>
              </a:ext>
            </a:extLst>
          </p:cNvPr>
          <p:cNvSpPr txBox="1">
            <a:spLocks/>
          </p:cNvSpPr>
          <p:nvPr/>
        </p:nvSpPr>
        <p:spPr>
          <a:xfrm>
            <a:off x="0" y="24068"/>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One-sample Student’s </a:t>
            </a:r>
            <a:r>
              <a:rPr lang="en-US" sz="5000" b="1" i="1" dirty="0"/>
              <a:t>t</a:t>
            </a:r>
            <a:r>
              <a:rPr lang="en-US" sz="5000" b="1" dirty="0"/>
              <a:t>-test</a:t>
            </a:r>
          </a:p>
        </p:txBody>
      </p:sp>
      <p:sp>
        <p:nvSpPr>
          <p:cNvPr id="4" name="TextBox 3">
            <a:extLst>
              <a:ext uri="{FF2B5EF4-FFF2-40B4-BE49-F238E27FC236}">
                <a16:creationId xmlns:a16="http://schemas.microsoft.com/office/drawing/2014/main" id="{A91F2E8B-8139-6A93-FBB5-F100AFB049CB}"/>
              </a:ext>
            </a:extLst>
          </p:cNvPr>
          <p:cNvSpPr txBox="1"/>
          <p:nvPr/>
        </p:nvSpPr>
        <p:spPr>
          <a:xfrm>
            <a:off x="84211" y="938460"/>
            <a:ext cx="11949945" cy="954107"/>
          </a:xfrm>
          <a:prstGeom prst="rect">
            <a:avLst/>
          </a:prstGeom>
          <a:noFill/>
        </p:spPr>
        <p:txBody>
          <a:bodyPr wrap="square" rtlCol="0">
            <a:spAutoFit/>
          </a:bodyPr>
          <a:lstStyle/>
          <a:p>
            <a:r>
              <a:rPr lang="en-US" sz="2800" b="1" dirty="0"/>
              <a:t>Distribution of the test statistic under H</a:t>
            </a:r>
            <a:r>
              <a:rPr lang="en-US" sz="2800" b="1" baseline="-25000" dirty="0"/>
              <a:t>0</a:t>
            </a:r>
            <a:r>
              <a:rPr lang="en-US" sz="2800" b="1" dirty="0"/>
              <a:t>: </a:t>
            </a:r>
          </a:p>
          <a:p>
            <a:r>
              <a:rPr lang="en-GB" sz="2800" b="0" i="1" u="none" strike="noStrike" dirty="0">
                <a:solidFill>
                  <a:srgbClr val="202122"/>
                </a:solidFill>
                <a:effectLst/>
                <a:latin typeface="Arial" panose="020B0604020202020204" pitchFamily="34" charset="0"/>
              </a:rPr>
              <a:t>t</a:t>
            </a:r>
            <a:r>
              <a:rPr lang="en-GB" sz="2800" b="0" i="0" u="none" strike="noStrike" dirty="0">
                <a:solidFill>
                  <a:srgbClr val="202122"/>
                </a:solidFill>
                <a:effectLst/>
                <a:latin typeface="Arial" panose="020B0604020202020204" pitchFamily="34" charset="0"/>
              </a:rPr>
              <a:t>-distribution with n-1 degrees of freedom</a:t>
            </a:r>
            <a:endParaRPr lang="en-US" sz="2800" dirty="0"/>
          </a:p>
        </p:txBody>
      </p:sp>
      <p:pic>
        <p:nvPicPr>
          <p:cNvPr id="2050" name="Picture 2">
            <a:extLst>
              <a:ext uri="{FF2B5EF4-FFF2-40B4-BE49-F238E27FC236}">
                <a16:creationId xmlns:a16="http://schemas.microsoft.com/office/drawing/2014/main" id="{1D33377E-D898-A0BF-8553-B27393F207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7417" y="2085064"/>
            <a:ext cx="5774311" cy="4619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10234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764A3-C142-5065-1A4F-BE6A0C6D9451}"/>
              </a:ext>
            </a:extLst>
          </p:cNvPr>
          <p:cNvSpPr txBox="1">
            <a:spLocks/>
          </p:cNvSpPr>
          <p:nvPr/>
        </p:nvSpPr>
        <p:spPr>
          <a:xfrm>
            <a:off x="0" y="24068"/>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Sign test</a:t>
            </a:r>
          </a:p>
        </p:txBody>
      </p:sp>
      <p:sp>
        <p:nvSpPr>
          <p:cNvPr id="4" name="TextBox 3">
            <a:extLst>
              <a:ext uri="{FF2B5EF4-FFF2-40B4-BE49-F238E27FC236}">
                <a16:creationId xmlns:a16="http://schemas.microsoft.com/office/drawing/2014/main" id="{A91F2E8B-8139-6A93-FBB5-F100AFB049CB}"/>
              </a:ext>
            </a:extLst>
          </p:cNvPr>
          <p:cNvSpPr txBox="1"/>
          <p:nvPr/>
        </p:nvSpPr>
        <p:spPr>
          <a:xfrm>
            <a:off x="72181" y="902365"/>
            <a:ext cx="12083724" cy="6124754"/>
          </a:xfrm>
          <a:prstGeom prst="rect">
            <a:avLst/>
          </a:prstGeom>
          <a:noFill/>
        </p:spPr>
        <p:txBody>
          <a:bodyPr wrap="square" rtlCol="0">
            <a:spAutoFit/>
          </a:bodyPr>
          <a:lstStyle/>
          <a:p>
            <a:r>
              <a:rPr lang="en-US" sz="2800" b="1" dirty="0"/>
              <a:t>Assumptions:</a:t>
            </a:r>
            <a:r>
              <a:rPr lang="en-US" sz="2800" dirty="0"/>
              <a:t> 	1. the data are continuous</a:t>
            </a:r>
          </a:p>
          <a:p>
            <a:r>
              <a:rPr lang="en-US" sz="2800" dirty="0"/>
              <a:t>			2. </a:t>
            </a:r>
            <a:r>
              <a:rPr lang="en-GB" sz="2800" b="0" i="0" u="none" strike="noStrike" dirty="0">
                <a:solidFill>
                  <a:srgbClr val="202124"/>
                </a:solidFill>
                <a:effectLst/>
                <a:latin typeface="Google Sans"/>
              </a:rPr>
              <a:t>sample data have been randomly sampled from a population</a:t>
            </a:r>
            <a:endParaRPr lang="en-US" sz="2800" dirty="0"/>
          </a:p>
          <a:p>
            <a:r>
              <a:rPr lang="en-US" sz="2800" dirty="0"/>
              <a:t>			3. independent observations x</a:t>
            </a:r>
            <a:r>
              <a:rPr lang="en-US" sz="2800" baseline="-25000" dirty="0"/>
              <a:t>i</a:t>
            </a:r>
            <a:r>
              <a:rPr lang="en-US" sz="2800" dirty="0"/>
              <a:t>, </a:t>
            </a:r>
            <a:r>
              <a:rPr lang="en-US" sz="2800" dirty="0" err="1"/>
              <a:t>i</a:t>
            </a:r>
            <a:r>
              <a:rPr lang="en-US" sz="2800" dirty="0"/>
              <a:t>=1,…,n</a:t>
            </a:r>
          </a:p>
          <a:p>
            <a:endParaRPr lang="en-US" sz="2800" dirty="0"/>
          </a:p>
          <a:p>
            <a:endParaRPr lang="en-US" sz="2800" b="1" dirty="0"/>
          </a:p>
          <a:p>
            <a:r>
              <a:rPr lang="en-US" sz="2800" b="1" dirty="0"/>
              <a:t>Hypotheses to test:</a:t>
            </a:r>
            <a:r>
              <a:rPr lang="en-US" sz="2800" dirty="0"/>
              <a:t>			</a:t>
            </a:r>
          </a:p>
          <a:p>
            <a:r>
              <a:rPr lang="en-US" sz="2800" dirty="0"/>
              <a:t>H</a:t>
            </a:r>
            <a:r>
              <a:rPr lang="en-US" sz="2800" baseline="-25000" dirty="0"/>
              <a:t>0</a:t>
            </a:r>
            <a:r>
              <a:rPr lang="en-US" sz="2800" dirty="0"/>
              <a:t>: 	median of the population distribution 𝜽 = 𝜽</a:t>
            </a:r>
            <a:r>
              <a:rPr lang="en-US" sz="2800" baseline="-25000" dirty="0"/>
              <a:t>0</a:t>
            </a:r>
          </a:p>
          <a:p>
            <a:r>
              <a:rPr lang="en-US" sz="2800" dirty="0"/>
              <a:t>H</a:t>
            </a:r>
            <a:r>
              <a:rPr lang="en-US" sz="2800" baseline="-25000" dirty="0"/>
              <a:t>1</a:t>
            </a:r>
            <a:r>
              <a:rPr lang="en-US" sz="2800" dirty="0"/>
              <a:t>: 	 𝜽 ≠ 𝜽</a:t>
            </a:r>
            <a:r>
              <a:rPr lang="en-US" sz="2800" baseline="-25000" dirty="0"/>
              <a:t>0</a:t>
            </a:r>
            <a:endParaRPr lang="en-US" sz="2800" dirty="0"/>
          </a:p>
          <a:p>
            <a:endParaRPr lang="en-US" sz="2800" dirty="0"/>
          </a:p>
          <a:p>
            <a:endParaRPr lang="en-US" sz="2800" b="1" dirty="0"/>
          </a:p>
          <a:p>
            <a:endParaRPr lang="en-US" sz="2800" b="1" dirty="0"/>
          </a:p>
          <a:p>
            <a:r>
              <a:rPr lang="en-US" sz="2800" b="1" dirty="0"/>
              <a:t>Test statistic:	</a:t>
            </a:r>
            <a:r>
              <a:rPr lang="en-US" sz="2800" dirty="0"/>
              <a:t>number of values above (or below) 𝜽</a:t>
            </a:r>
            <a:r>
              <a:rPr lang="en-US" sz="2800" baseline="-25000" dirty="0"/>
              <a:t>0</a:t>
            </a:r>
            <a:r>
              <a:rPr lang="en-US" sz="2800" dirty="0"/>
              <a:t>.</a:t>
            </a:r>
          </a:p>
          <a:p>
            <a:r>
              <a:rPr lang="en-US" sz="2800" baseline="-25000" dirty="0"/>
              <a:t>	</a:t>
            </a:r>
            <a:endParaRPr lang="en-US" sz="2800" dirty="0"/>
          </a:p>
          <a:p>
            <a:r>
              <a:rPr lang="en-US" sz="2800" dirty="0"/>
              <a:t> </a:t>
            </a:r>
            <a:r>
              <a:rPr lang="en-US" sz="2800" baseline="-25000" dirty="0"/>
              <a:t>				</a:t>
            </a:r>
          </a:p>
        </p:txBody>
      </p:sp>
    </p:spTree>
    <p:extLst>
      <p:ext uri="{BB962C8B-B14F-4D97-AF65-F5344CB8AC3E}">
        <p14:creationId xmlns:p14="http://schemas.microsoft.com/office/powerpoint/2010/main" val="410142123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91F2E8B-8139-6A93-FBB5-F100AFB049CB}"/>
              </a:ext>
            </a:extLst>
          </p:cNvPr>
          <p:cNvSpPr txBox="1"/>
          <p:nvPr/>
        </p:nvSpPr>
        <p:spPr>
          <a:xfrm>
            <a:off x="27491" y="932445"/>
            <a:ext cx="11863146" cy="523220"/>
          </a:xfrm>
          <a:prstGeom prst="rect">
            <a:avLst/>
          </a:prstGeom>
          <a:noFill/>
        </p:spPr>
        <p:txBody>
          <a:bodyPr wrap="square" rtlCol="0">
            <a:spAutoFit/>
          </a:bodyPr>
          <a:lstStyle/>
          <a:p>
            <a:r>
              <a:rPr lang="en-US" sz="2800" b="1" dirty="0"/>
              <a:t>Distribution of the test statistic: </a:t>
            </a:r>
            <a:r>
              <a:rPr lang="en-GB" sz="2800" b="0" u="none" strike="noStrike" dirty="0">
                <a:solidFill>
                  <a:srgbClr val="202122"/>
                </a:solidFill>
                <a:effectLst/>
                <a:latin typeface="Arial" panose="020B0604020202020204" pitchFamily="34" charset="0"/>
              </a:rPr>
              <a:t>binomial </a:t>
            </a:r>
            <a:r>
              <a:rPr lang="en-GB" sz="2800" dirty="0">
                <a:solidFill>
                  <a:srgbClr val="202122"/>
                </a:solidFill>
                <a:latin typeface="Arial" panose="020B0604020202020204" pitchFamily="34" charset="0"/>
              </a:rPr>
              <a:t>distribution, X ∼ Bin (n,</a:t>
            </a:r>
            <a:r>
              <a:rPr lang="en-US" sz="2800" dirty="0">
                <a:solidFill>
                  <a:srgbClr val="202122"/>
                </a:solidFill>
                <a:latin typeface="Arial" panose="020B0604020202020204" pitchFamily="34" charset="0"/>
              </a:rPr>
              <a:t> 0.5)</a:t>
            </a:r>
            <a:r>
              <a:rPr lang="en-GB" sz="2800" dirty="0">
                <a:solidFill>
                  <a:srgbClr val="202122"/>
                </a:solidFill>
                <a:latin typeface="Arial" panose="020B0604020202020204" pitchFamily="34" charset="0"/>
              </a:rPr>
              <a:t>  </a:t>
            </a:r>
            <a:endParaRPr lang="en-US" sz="2800" dirty="0">
              <a:solidFill>
                <a:srgbClr val="202122"/>
              </a:solidFill>
              <a:latin typeface="Arial" panose="020B0604020202020204" pitchFamily="34" charset="0"/>
            </a:endParaRPr>
          </a:p>
        </p:txBody>
      </p:sp>
      <p:sp>
        <p:nvSpPr>
          <p:cNvPr id="3" name="Title 1">
            <a:extLst>
              <a:ext uri="{FF2B5EF4-FFF2-40B4-BE49-F238E27FC236}">
                <a16:creationId xmlns:a16="http://schemas.microsoft.com/office/drawing/2014/main" id="{6539DBE8-6901-72C0-3716-5C1E248DF8C2}"/>
              </a:ext>
            </a:extLst>
          </p:cNvPr>
          <p:cNvSpPr txBox="1">
            <a:spLocks/>
          </p:cNvSpPr>
          <p:nvPr/>
        </p:nvSpPr>
        <p:spPr>
          <a:xfrm>
            <a:off x="0" y="21553"/>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Sign test</a:t>
            </a:r>
          </a:p>
        </p:txBody>
      </p:sp>
      <p:pic>
        <p:nvPicPr>
          <p:cNvPr id="5122" name="Picture 2" descr="Binomial distribution: ten trials with &lt;i&gt;p&lt;/i&gt; = 0.5.">
            <a:extLst>
              <a:ext uri="{FF2B5EF4-FFF2-40B4-BE49-F238E27FC236}">
                <a16:creationId xmlns:a16="http://schemas.microsoft.com/office/drawing/2014/main" id="{578E4B26-4237-128C-BCE5-F3394294D5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3126" y="1782338"/>
            <a:ext cx="6578844" cy="375933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49EA65F-B958-B139-4075-2D6FC7C67070}"/>
              </a:ext>
            </a:extLst>
          </p:cNvPr>
          <p:cNvSpPr txBox="1"/>
          <p:nvPr/>
        </p:nvSpPr>
        <p:spPr>
          <a:xfrm>
            <a:off x="20932" y="6216120"/>
            <a:ext cx="11869706" cy="415498"/>
          </a:xfrm>
          <a:prstGeom prst="rect">
            <a:avLst/>
          </a:prstGeom>
          <a:noFill/>
        </p:spPr>
        <p:txBody>
          <a:bodyPr wrap="square" rtlCol="0">
            <a:spAutoFit/>
          </a:bodyPr>
          <a:lstStyle/>
          <a:p>
            <a:r>
              <a:rPr lang="en-US" sz="2100" dirty="0"/>
              <a:t>In case of values equal to 𝜽</a:t>
            </a:r>
            <a:r>
              <a:rPr lang="en-US" sz="2100" baseline="-25000" dirty="0"/>
              <a:t>0</a:t>
            </a:r>
            <a:r>
              <a:rPr lang="en-US" sz="2100" dirty="0"/>
              <a:t>, discard these values and apply the sign test only to values above or below 𝜽</a:t>
            </a:r>
            <a:r>
              <a:rPr lang="en-US" sz="2100" baseline="-25000" dirty="0"/>
              <a:t>0</a:t>
            </a:r>
            <a:r>
              <a:rPr lang="en-US" sz="2100" dirty="0"/>
              <a:t>. </a:t>
            </a:r>
          </a:p>
        </p:txBody>
      </p:sp>
    </p:spTree>
    <p:extLst>
      <p:ext uri="{BB962C8B-B14F-4D97-AF65-F5344CB8AC3E}">
        <p14:creationId xmlns:p14="http://schemas.microsoft.com/office/powerpoint/2010/main" val="38817298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764A3-C142-5065-1A4F-BE6A0C6D9451}"/>
              </a:ext>
            </a:extLst>
          </p:cNvPr>
          <p:cNvSpPr txBox="1">
            <a:spLocks/>
          </p:cNvSpPr>
          <p:nvPr/>
        </p:nvSpPr>
        <p:spPr>
          <a:xfrm>
            <a:off x="0" y="24068"/>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Wilcoxon signed-rank test</a:t>
            </a:r>
          </a:p>
        </p:txBody>
      </p:sp>
      <p:sp>
        <p:nvSpPr>
          <p:cNvPr id="4" name="TextBox 3">
            <a:extLst>
              <a:ext uri="{FF2B5EF4-FFF2-40B4-BE49-F238E27FC236}">
                <a16:creationId xmlns:a16="http://schemas.microsoft.com/office/drawing/2014/main" id="{A91F2E8B-8139-6A93-FBB5-F100AFB049CB}"/>
              </a:ext>
            </a:extLst>
          </p:cNvPr>
          <p:cNvSpPr txBox="1"/>
          <p:nvPr/>
        </p:nvSpPr>
        <p:spPr>
          <a:xfrm>
            <a:off x="72181" y="902365"/>
            <a:ext cx="12083724" cy="5693866"/>
          </a:xfrm>
          <a:prstGeom prst="rect">
            <a:avLst/>
          </a:prstGeom>
          <a:noFill/>
        </p:spPr>
        <p:txBody>
          <a:bodyPr wrap="square" rtlCol="0">
            <a:spAutoFit/>
          </a:bodyPr>
          <a:lstStyle/>
          <a:p>
            <a:r>
              <a:rPr lang="en-US" sz="2800" b="1" dirty="0"/>
              <a:t>Assumptions:</a:t>
            </a:r>
            <a:r>
              <a:rPr lang="en-US" sz="2800" dirty="0"/>
              <a:t> 	1. the data are continuous</a:t>
            </a:r>
          </a:p>
          <a:p>
            <a:r>
              <a:rPr lang="en-US" sz="2800" dirty="0"/>
              <a:t>			2. </a:t>
            </a:r>
            <a:r>
              <a:rPr lang="en-GB" sz="2800" b="0" i="0" u="none" strike="noStrike" dirty="0">
                <a:solidFill>
                  <a:srgbClr val="202124"/>
                </a:solidFill>
                <a:effectLst/>
                <a:latin typeface="Google Sans"/>
              </a:rPr>
              <a:t>sample data have been randomly sampled from a population</a:t>
            </a:r>
            <a:endParaRPr lang="en-US" sz="2800" dirty="0"/>
          </a:p>
          <a:p>
            <a:r>
              <a:rPr lang="en-US" sz="2800" dirty="0"/>
              <a:t>			3. independent observations x</a:t>
            </a:r>
            <a:r>
              <a:rPr lang="en-US" sz="2800" baseline="-25000" dirty="0"/>
              <a:t>i</a:t>
            </a:r>
            <a:r>
              <a:rPr lang="en-US" sz="2800" dirty="0"/>
              <a:t>, </a:t>
            </a:r>
            <a:r>
              <a:rPr lang="en-US" sz="2800" dirty="0" err="1"/>
              <a:t>i</a:t>
            </a:r>
            <a:r>
              <a:rPr lang="en-US" sz="2800" dirty="0"/>
              <a:t>=1,…,n</a:t>
            </a:r>
          </a:p>
          <a:p>
            <a:r>
              <a:rPr lang="en-US" sz="2800" dirty="0"/>
              <a:t>			4. the population distribution is symmetric</a:t>
            </a:r>
          </a:p>
          <a:p>
            <a:endParaRPr lang="en-US" sz="2800" b="1" dirty="0"/>
          </a:p>
          <a:p>
            <a:r>
              <a:rPr lang="en-US" sz="2800" b="1" dirty="0"/>
              <a:t>Hypotheses to test:</a:t>
            </a:r>
            <a:r>
              <a:rPr lang="en-US" sz="2800" dirty="0"/>
              <a:t>			</a:t>
            </a:r>
          </a:p>
          <a:p>
            <a:r>
              <a:rPr lang="en-US" sz="2800" dirty="0"/>
              <a:t>H</a:t>
            </a:r>
            <a:r>
              <a:rPr lang="en-US" sz="2800" baseline="-25000" dirty="0"/>
              <a:t>0</a:t>
            </a:r>
            <a:r>
              <a:rPr lang="en-US" sz="2800" dirty="0"/>
              <a:t>: 	median/mean of the population distribution 𝜽 = 𝜽</a:t>
            </a:r>
            <a:r>
              <a:rPr lang="en-US" sz="2800" baseline="-25000" dirty="0"/>
              <a:t>0</a:t>
            </a:r>
          </a:p>
          <a:p>
            <a:r>
              <a:rPr lang="en-US" sz="2800" dirty="0"/>
              <a:t>H</a:t>
            </a:r>
            <a:r>
              <a:rPr lang="en-US" sz="2800" baseline="-25000" dirty="0"/>
              <a:t>1</a:t>
            </a:r>
            <a:r>
              <a:rPr lang="en-US" sz="2800" dirty="0"/>
              <a:t>: 	 𝜽 ≠ 𝜽</a:t>
            </a:r>
            <a:r>
              <a:rPr lang="en-US" sz="2800" baseline="-25000" dirty="0"/>
              <a:t>0</a:t>
            </a:r>
          </a:p>
          <a:p>
            <a:endParaRPr lang="en-US" sz="2800" dirty="0"/>
          </a:p>
          <a:p>
            <a:endParaRPr lang="en-US" sz="2800" b="1" dirty="0"/>
          </a:p>
          <a:p>
            <a:endParaRPr lang="en-US" sz="2800" b="1" dirty="0"/>
          </a:p>
          <a:p>
            <a:r>
              <a:rPr lang="en-US" sz="2800" b="1" dirty="0"/>
              <a:t>Test statistic:	</a:t>
            </a:r>
            <a:r>
              <a:rPr lang="en-US" sz="2800" dirty="0"/>
              <a:t>sum of positive signed ranks (ranks</a:t>
            </a:r>
            <a:r>
              <a:rPr lang="en-US" sz="2800" baseline="30000" dirty="0"/>
              <a:t>+</a:t>
            </a:r>
            <a:r>
              <a:rPr lang="en-US" sz="2800" dirty="0"/>
              <a:t>).</a:t>
            </a:r>
            <a:r>
              <a:rPr lang="en-US" sz="2800" baseline="-25000" dirty="0"/>
              <a:t>	</a:t>
            </a:r>
            <a:endParaRPr lang="en-US" sz="2800" dirty="0"/>
          </a:p>
          <a:p>
            <a:r>
              <a:rPr lang="en-US" sz="2800" dirty="0"/>
              <a:t> </a:t>
            </a:r>
            <a:r>
              <a:rPr lang="en-US" sz="2800" baseline="-25000" dirty="0"/>
              <a:t>				</a:t>
            </a:r>
          </a:p>
        </p:txBody>
      </p:sp>
    </p:spTree>
    <p:extLst>
      <p:ext uri="{BB962C8B-B14F-4D97-AF65-F5344CB8AC3E}">
        <p14:creationId xmlns:p14="http://schemas.microsoft.com/office/powerpoint/2010/main" val="420456956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764A3-C142-5065-1A4F-BE6A0C6D9451}"/>
              </a:ext>
            </a:extLst>
          </p:cNvPr>
          <p:cNvSpPr txBox="1">
            <a:spLocks/>
          </p:cNvSpPr>
          <p:nvPr/>
        </p:nvSpPr>
        <p:spPr>
          <a:xfrm>
            <a:off x="0" y="24068"/>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Wilcoxon signed-rank test</a:t>
            </a:r>
          </a:p>
        </p:txBody>
      </p:sp>
      <p:sp>
        <p:nvSpPr>
          <p:cNvPr id="4" name="TextBox 3">
            <a:extLst>
              <a:ext uri="{FF2B5EF4-FFF2-40B4-BE49-F238E27FC236}">
                <a16:creationId xmlns:a16="http://schemas.microsoft.com/office/drawing/2014/main" id="{A91F2E8B-8139-6A93-FBB5-F100AFB049CB}"/>
              </a:ext>
            </a:extLst>
          </p:cNvPr>
          <p:cNvSpPr txBox="1"/>
          <p:nvPr/>
        </p:nvSpPr>
        <p:spPr>
          <a:xfrm>
            <a:off x="72181" y="902365"/>
            <a:ext cx="12083724" cy="5262979"/>
          </a:xfrm>
          <a:prstGeom prst="rect">
            <a:avLst/>
          </a:prstGeom>
          <a:noFill/>
        </p:spPr>
        <p:txBody>
          <a:bodyPr wrap="square" rtlCol="0">
            <a:spAutoFit/>
          </a:bodyPr>
          <a:lstStyle/>
          <a:p>
            <a:r>
              <a:rPr lang="en-US" sz="2800" b="1" dirty="0"/>
              <a:t>n:						</a:t>
            </a:r>
            <a:r>
              <a:rPr lang="en-US" sz="2800" dirty="0"/>
              <a:t>3</a:t>
            </a:r>
          </a:p>
          <a:p>
            <a:r>
              <a:rPr lang="en-US" sz="2800" b="1" dirty="0"/>
              <a:t>Raw data: </a:t>
            </a:r>
            <a:r>
              <a:rPr lang="en-US" sz="2800" dirty="0"/>
              <a:t>					67, -12, 55</a:t>
            </a:r>
          </a:p>
          <a:p>
            <a:r>
              <a:rPr lang="en-US" sz="2800" b="1" dirty="0"/>
              <a:t>𝜽</a:t>
            </a:r>
            <a:r>
              <a:rPr lang="en-US" sz="2800" b="1" baseline="-25000" dirty="0"/>
              <a:t>0</a:t>
            </a:r>
            <a:r>
              <a:rPr lang="en-US" sz="2800" b="1" dirty="0"/>
              <a:t>:</a:t>
            </a:r>
            <a:r>
              <a:rPr lang="en-US" sz="2800" dirty="0"/>
              <a:t>						50</a:t>
            </a:r>
          </a:p>
          <a:p>
            <a:endParaRPr lang="en-US" sz="2800" dirty="0"/>
          </a:p>
          <a:p>
            <a:r>
              <a:rPr lang="en-US" sz="2800" b="1" dirty="0"/>
              <a:t>Absolute differences:</a:t>
            </a:r>
            <a:r>
              <a:rPr lang="en-US" sz="2800" dirty="0"/>
              <a:t>			5, 17, 62</a:t>
            </a:r>
          </a:p>
          <a:p>
            <a:r>
              <a:rPr lang="en-US" sz="2800" b="1" dirty="0"/>
              <a:t>Signed ranks:				</a:t>
            </a:r>
            <a:r>
              <a:rPr lang="en-US" sz="2800" dirty="0"/>
              <a:t>+1, +2, -3</a:t>
            </a:r>
          </a:p>
          <a:p>
            <a:endParaRPr lang="en-US" sz="2800" b="1" dirty="0"/>
          </a:p>
          <a:p>
            <a:r>
              <a:rPr lang="en-US" sz="2800" b="1" dirty="0"/>
              <a:t>Test statistic:				</a:t>
            </a:r>
            <a:r>
              <a:rPr lang="en-US" sz="2800" dirty="0"/>
              <a:t>+3</a:t>
            </a:r>
            <a:r>
              <a:rPr lang="en-US" sz="2800" baseline="-25000" dirty="0"/>
              <a:t>	</a:t>
            </a:r>
            <a:endParaRPr lang="en-US" sz="2800" dirty="0"/>
          </a:p>
          <a:p>
            <a:r>
              <a:rPr lang="en-US" sz="2800" dirty="0"/>
              <a:t> </a:t>
            </a:r>
            <a:r>
              <a:rPr lang="en-US" sz="2800" baseline="-25000" dirty="0"/>
              <a:t>				</a:t>
            </a:r>
          </a:p>
          <a:p>
            <a:r>
              <a:rPr lang="en-US" sz="2800" b="1" dirty="0"/>
              <a:t>Distribution of the test statistic:	</a:t>
            </a:r>
            <a:r>
              <a:rPr lang="en-US" sz="2800" dirty="0"/>
              <a:t>P(+1,+2,+3) = P(+1,+2,-3) = P(+1,-2,+3) =</a:t>
            </a:r>
          </a:p>
          <a:p>
            <a:r>
              <a:rPr lang="en-US" sz="2800" dirty="0"/>
              <a:t>    						P(+1,-2,-3) = P(-1,+2,+3) = P(-1,+2,-3) =</a:t>
            </a:r>
          </a:p>
          <a:p>
            <a:r>
              <a:rPr lang="en-US" sz="2800" dirty="0"/>
              <a:t>						P(-1,-2,+3) = (-1,-2,-3)= 1/8, hence…</a:t>
            </a:r>
          </a:p>
        </p:txBody>
      </p:sp>
    </p:spTree>
    <p:extLst>
      <p:ext uri="{BB962C8B-B14F-4D97-AF65-F5344CB8AC3E}">
        <p14:creationId xmlns:p14="http://schemas.microsoft.com/office/powerpoint/2010/main" val="413791508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764A3-C142-5065-1A4F-BE6A0C6D9451}"/>
              </a:ext>
            </a:extLst>
          </p:cNvPr>
          <p:cNvSpPr txBox="1">
            <a:spLocks/>
          </p:cNvSpPr>
          <p:nvPr/>
        </p:nvSpPr>
        <p:spPr>
          <a:xfrm>
            <a:off x="0" y="24068"/>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Wilcoxon signed-rank test</a:t>
            </a:r>
          </a:p>
        </p:txBody>
      </p:sp>
      <p:sp>
        <p:nvSpPr>
          <p:cNvPr id="4" name="TextBox 3">
            <a:extLst>
              <a:ext uri="{FF2B5EF4-FFF2-40B4-BE49-F238E27FC236}">
                <a16:creationId xmlns:a16="http://schemas.microsoft.com/office/drawing/2014/main" id="{A91F2E8B-8139-6A93-FBB5-F100AFB049CB}"/>
              </a:ext>
            </a:extLst>
          </p:cNvPr>
          <p:cNvSpPr txBox="1"/>
          <p:nvPr/>
        </p:nvSpPr>
        <p:spPr>
          <a:xfrm>
            <a:off x="72181" y="1082839"/>
            <a:ext cx="12083724" cy="954107"/>
          </a:xfrm>
          <a:prstGeom prst="rect">
            <a:avLst/>
          </a:prstGeom>
          <a:noFill/>
        </p:spPr>
        <p:txBody>
          <a:bodyPr wrap="square" rtlCol="0">
            <a:spAutoFit/>
          </a:bodyPr>
          <a:lstStyle/>
          <a:p>
            <a:r>
              <a:rPr lang="en-US" sz="2800" dirty="0"/>
              <a:t> </a:t>
            </a:r>
            <a:r>
              <a:rPr lang="en-US" sz="2800" b="1" dirty="0"/>
              <a:t>Distribution of the test statistic:</a:t>
            </a:r>
          </a:p>
          <a:p>
            <a:endParaRPr lang="en-US" sz="2800" dirty="0"/>
          </a:p>
        </p:txBody>
      </p:sp>
      <p:graphicFrame>
        <p:nvGraphicFramePr>
          <p:cNvPr id="3" name="Table 2">
            <a:extLst>
              <a:ext uri="{FF2B5EF4-FFF2-40B4-BE49-F238E27FC236}">
                <a16:creationId xmlns:a16="http://schemas.microsoft.com/office/drawing/2014/main" id="{A4C50F59-7A45-89C9-0348-F0F8663FF5FE}"/>
              </a:ext>
            </a:extLst>
          </p:cNvPr>
          <p:cNvGraphicFramePr>
            <a:graphicFrameLocks noGrp="1"/>
          </p:cNvGraphicFramePr>
          <p:nvPr>
            <p:extLst>
              <p:ext uri="{D42A27DB-BD31-4B8C-83A1-F6EECF244321}">
                <p14:modId xmlns:p14="http://schemas.microsoft.com/office/powerpoint/2010/main" val="4185326302"/>
              </p:ext>
            </p:extLst>
          </p:nvPr>
        </p:nvGraphicFramePr>
        <p:xfrm>
          <a:off x="227262" y="1778444"/>
          <a:ext cx="11515560" cy="1036320"/>
        </p:xfrm>
        <a:graphic>
          <a:graphicData uri="http://schemas.openxmlformats.org/drawingml/2006/table">
            <a:tbl>
              <a:tblPr firstRow="1" bandRow="1">
                <a:tableStyleId>{5C22544A-7EE6-4342-B048-85BDC9FD1C3A}</a:tableStyleId>
              </a:tblPr>
              <a:tblGrid>
                <a:gridCol w="3406275">
                  <a:extLst>
                    <a:ext uri="{9D8B030D-6E8A-4147-A177-3AD203B41FA5}">
                      <a16:colId xmlns:a16="http://schemas.microsoft.com/office/drawing/2014/main" val="1128547295"/>
                    </a:ext>
                  </a:extLst>
                </a:gridCol>
                <a:gridCol w="1359568">
                  <a:extLst>
                    <a:ext uri="{9D8B030D-6E8A-4147-A177-3AD203B41FA5}">
                      <a16:colId xmlns:a16="http://schemas.microsoft.com/office/drawing/2014/main" val="2573236757"/>
                    </a:ext>
                  </a:extLst>
                </a:gridCol>
                <a:gridCol w="1179095">
                  <a:extLst>
                    <a:ext uri="{9D8B030D-6E8A-4147-A177-3AD203B41FA5}">
                      <a16:colId xmlns:a16="http://schemas.microsoft.com/office/drawing/2014/main" val="1365797540"/>
                    </a:ext>
                  </a:extLst>
                </a:gridCol>
                <a:gridCol w="1143000">
                  <a:extLst>
                    <a:ext uri="{9D8B030D-6E8A-4147-A177-3AD203B41FA5}">
                      <a16:colId xmlns:a16="http://schemas.microsoft.com/office/drawing/2014/main" val="936577011"/>
                    </a:ext>
                  </a:extLst>
                </a:gridCol>
                <a:gridCol w="1203158">
                  <a:extLst>
                    <a:ext uri="{9D8B030D-6E8A-4147-A177-3AD203B41FA5}">
                      <a16:colId xmlns:a16="http://schemas.microsoft.com/office/drawing/2014/main" val="1969977139"/>
                    </a:ext>
                  </a:extLst>
                </a:gridCol>
                <a:gridCol w="1167063">
                  <a:extLst>
                    <a:ext uri="{9D8B030D-6E8A-4147-A177-3AD203B41FA5}">
                      <a16:colId xmlns:a16="http://schemas.microsoft.com/office/drawing/2014/main" val="863421400"/>
                    </a:ext>
                  </a:extLst>
                </a:gridCol>
                <a:gridCol w="1046747">
                  <a:extLst>
                    <a:ext uri="{9D8B030D-6E8A-4147-A177-3AD203B41FA5}">
                      <a16:colId xmlns:a16="http://schemas.microsoft.com/office/drawing/2014/main" val="1572597354"/>
                    </a:ext>
                  </a:extLst>
                </a:gridCol>
                <a:gridCol w="1010654">
                  <a:extLst>
                    <a:ext uri="{9D8B030D-6E8A-4147-A177-3AD203B41FA5}">
                      <a16:colId xmlns:a16="http://schemas.microsoft.com/office/drawing/2014/main" val="3875769876"/>
                    </a:ext>
                  </a:extLst>
                </a:gridCol>
              </a:tblGrid>
              <a:tr h="370840">
                <a:tc>
                  <a:txBody>
                    <a:bodyPr/>
                    <a:lstStyle/>
                    <a:p>
                      <a:r>
                        <a:rPr lang="en-US" sz="2800" dirty="0">
                          <a:solidFill>
                            <a:schemeClr val="tx1"/>
                          </a:solidFill>
                        </a:rPr>
                        <a:t>Sum of ranks</a:t>
                      </a:r>
                      <a:r>
                        <a:rPr lang="en-US" sz="2800" baseline="30000"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80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8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80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80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80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80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80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81586851"/>
                  </a:ext>
                </a:extLst>
              </a:tr>
              <a:tr h="370840">
                <a:tc>
                  <a:txBody>
                    <a:bodyPr/>
                    <a:lstStyle/>
                    <a:p>
                      <a:r>
                        <a:rPr lang="en-US" sz="2800" b="1" dirty="0"/>
                        <a:t>Probability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800" dirty="0"/>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800" dirty="0"/>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800" dirty="0"/>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800" dirty="0"/>
                        <a:t>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800" dirty="0"/>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800" dirty="0"/>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800" dirty="0"/>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4299181"/>
                  </a:ext>
                </a:extLst>
              </a:tr>
            </a:tbl>
          </a:graphicData>
        </a:graphic>
      </p:graphicFrame>
      <p:sp>
        <p:nvSpPr>
          <p:cNvPr id="5" name="TextBox 4">
            <a:extLst>
              <a:ext uri="{FF2B5EF4-FFF2-40B4-BE49-F238E27FC236}">
                <a16:creationId xmlns:a16="http://schemas.microsoft.com/office/drawing/2014/main" id="{ACDB1A0E-FEDA-999B-D056-2BB0CCA5D871}"/>
              </a:ext>
            </a:extLst>
          </p:cNvPr>
          <p:cNvSpPr txBox="1"/>
          <p:nvPr/>
        </p:nvSpPr>
        <p:spPr>
          <a:xfrm>
            <a:off x="168439" y="3416971"/>
            <a:ext cx="6773781" cy="1031051"/>
          </a:xfrm>
          <a:prstGeom prst="rect">
            <a:avLst/>
          </a:prstGeom>
          <a:noFill/>
        </p:spPr>
        <p:txBody>
          <a:bodyPr wrap="square" rtlCol="0">
            <a:spAutoFit/>
          </a:bodyPr>
          <a:lstStyle/>
          <a:p>
            <a:r>
              <a:rPr lang="en-US" sz="3050" dirty="0"/>
              <a:t>Two-sided p-value: 	1.0</a:t>
            </a:r>
          </a:p>
          <a:p>
            <a:r>
              <a:rPr lang="en-US" sz="3050" dirty="0"/>
              <a:t>One-sided p-value:	5/8=0.625</a:t>
            </a:r>
          </a:p>
        </p:txBody>
      </p:sp>
      <p:sp>
        <p:nvSpPr>
          <p:cNvPr id="6" name="TextBox 5">
            <a:extLst>
              <a:ext uri="{FF2B5EF4-FFF2-40B4-BE49-F238E27FC236}">
                <a16:creationId xmlns:a16="http://schemas.microsoft.com/office/drawing/2014/main" id="{1B63A6FF-63A9-4296-502A-7F6A538E3248}"/>
              </a:ext>
            </a:extLst>
          </p:cNvPr>
          <p:cNvSpPr txBox="1"/>
          <p:nvPr/>
        </p:nvSpPr>
        <p:spPr>
          <a:xfrm>
            <a:off x="168439" y="5149516"/>
            <a:ext cx="11987466" cy="546303"/>
          </a:xfrm>
          <a:prstGeom prst="rect">
            <a:avLst/>
          </a:prstGeom>
          <a:noFill/>
        </p:spPr>
        <p:txBody>
          <a:bodyPr wrap="square" rtlCol="0">
            <a:spAutoFit/>
          </a:bodyPr>
          <a:lstStyle/>
          <a:p>
            <a:r>
              <a:rPr lang="en-US" sz="2950" dirty="0"/>
              <a:t>At the significance level 𝛂 of 0.05, we can’t reject the null hypothesis  (𝜽=50).</a:t>
            </a:r>
          </a:p>
        </p:txBody>
      </p:sp>
    </p:spTree>
    <p:extLst>
      <p:ext uri="{BB962C8B-B14F-4D97-AF65-F5344CB8AC3E}">
        <p14:creationId xmlns:p14="http://schemas.microsoft.com/office/powerpoint/2010/main" val="404034388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E93E1-BCE8-6A7A-133F-CC7B67F93E01}"/>
              </a:ext>
            </a:extLst>
          </p:cNvPr>
          <p:cNvSpPr txBox="1">
            <a:spLocks/>
          </p:cNvSpPr>
          <p:nvPr/>
        </p:nvSpPr>
        <p:spPr>
          <a:xfrm>
            <a:off x="0" y="24068"/>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Take home message</a:t>
            </a:r>
          </a:p>
        </p:txBody>
      </p:sp>
      <p:sp>
        <p:nvSpPr>
          <p:cNvPr id="3" name="TextBox 2">
            <a:extLst>
              <a:ext uri="{FF2B5EF4-FFF2-40B4-BE49-F238E27FC236}">
                <a16:creationId xmlns:a16="http://schemas.microsoft.com/office/drawing/2014/main" id="{E64F652A-FC2A-C030-F5CE-A1367011B7C0}"/>
              </a:ext>
            </a:extLst>
          </p:cNvPr>
          <p:cNvSpPr txBox="1"/>
          <p:nvPr/>
        </p:nvSpPr>
        <p:spPr>
          <a:xfrm>
            <a:off x="120314" y="1010655"/>
            <a:ext cx="12047622" cy="4524315"/>
          </a:xfrm>
          <a:prstGeom prst="rect">
            <a:avLst/>
          </a:prstGeom>
          <a:noFill/>
        </p:spPr>
        <p:txBody>
          <a:bodyPr wrap="square" rtlCol="0">
            <a:spAutoFit/>
          </a:bodyPr>
          <a:lstStyle/>
          <a:p>
            <a:r>
              <a:rPr lang="en-US" sz="3200" dirty="0"/>
              <a:t>The Wilcoxon signed-rank test is more powerful than the sign test because it makes use of the magnitudes of the differences rather than just their sign.</a:t>
            </a:r>
          </a:p>
          <a:p>
            <a:endParaRPr lang="en-US" sz="3200" dirty="0"/>
          </a:p>
          <a:p>
            <a:r>
              <a:rPr lang="en-US" sz="3200" dirty="0"/>
              <a:t>It should be the preferred method, but it makes a stronger assumption: the distribution of the differences is symmetric.</a:t>
            </a:r>
          </a:p>
          <a:p>
            <a:endParaRPr lang="en-US" sz="3200" dirty="0"/>
          </a:p>
          <a:p>
            <a:r>
              <a:rPr lang="en-US" sz="3200" dirty="0"/>
              <a:t>In case this assumption is doubtful, the sign test should be used. Graphical display is </a:t>
            </a:r>
            <a:r>
              <a:rPr lang="en-US" sz="3200" i="1" dirty="0"/>
              <a:t>recommended.</a:t>
            </a:r>
          </a:p>
        </p:txBody>
      </p:sp>
      <p:sp>
        <p:nvSpPr>
          <p:cNvPr id="4" name="TextBox 3">
            <a:extLst>
              <a:ext uri="{FF2B5EF4-FFF2-40B4-BE49-F238E27FC236}">
                <a16:creationId xmlns:a16="http://schemas.microsoft.com/office/drawing/2014/main" id="{BA229BEC-6FFD-4F05-8E2A-400E853EE770}"/>
              </a:ext>
            </a:extLst>
          </p:cNvPr>
          <p:cNvSpPr txBox="1"/>
          <p:nvPr/>
        </p:nvSpPr>
        <p:spPr>
          <a:xfrm>
            <a:off x="9883943" y="149400"/>
            <a:ext cx="2171700" cy="892552"/>
          </a:xfrm>
          <a:prstGeom prst="rect">
            <a:avLst/>
          </a:prstGeom>
          <a:solidFill>
            <a:schemeClr val="accent4">
              <a:lumMod val="40000"/>
              <a:lumOff val="60000"/>
            </a:schemeClr>
          </a:solidFill>
          <a:ln>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p:spPr>
        <p:txBody>
          <a:bodyPr wrap="square" rtlCol="0">
            <a:spAutoFit/>
          </a:bodyPr>
          <a:lstStyle/>
          <a:p>
            <a:pPr algn="ctr"/>
            <a:r>
              <a:rPr lang="en-US" sz="2600" dirty="0">
                <a:solidFill>
                  <a:srgbClr val="FF0000"/>
                </a:solidFill>
                <a:latin typeface="American Typewriter" panose="02090604020004020304" pitchFamily="18" charset="77"/>
              </a:rPr>
              <a:t>Additional slide</a:t>
            </a:r>
          </a:p>
        </p:txBody>
      </p:sp>
    </p:spTree>
    <p:extLst>
      <p:ext uri="{BB962C8B-B14F-4D97-AF65-F5344CB8AC3E}">
        <p14:creationId xmlns:p14="http://schemas.microsoft.com/office/powerpoint/2010/main" val="315728829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E93E1-BCE8-6A7A-133F-CC7B67F93E01}"/>
              </a:ext>
            </a:extLst>
          </p:cNvPr>
          <p:cNvSpPr txBox="1">
            <a:spLocks/>
          </p:cNvSpPr>
          <p:nvPr/>
        </p:nvSpPr>
        <p:spPr>
          <a:xfrm>
            <a:off x="0" y="24068"/>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Take home message</a:t>
            </a:r>
          </a:p>
        </p:txBody>
      </p:sp>
      <p:sp>
        <p:nvSpPr>
          <p:cNvPr id="3" name="TextBox 2">
            <a:extLst>
              <a:ext uri="{FF2B5EF4-FFF2-40B4-BE49-F238E27FC236}">
                <a16:creationId xmlns:a16="http://schemas.microsoft.com/office/drawing/2014/main" id="{E64F652A-FC2A-C030-F5CE-A1367011B7C0}"/>
              </a:ext>
            </a:extLst>
          </p:cNvPr>
          <p:cNvSpPr txBox="1"/>
          <p:nvPr/>
        </p:nvSpPr>
        <p:spPr>
          <a:xfrm>
            <a:off x="120314" y="1010655"/>
            <a:ext cx="12047622" cy="2062103"/>
          </a:xfrm>
          <a:prstGeom prst="rect">
            <a:avLst/>
          </a:prstGeom>
          <a:noFill/>
        </p:spPr>
        <p:txBody>
          <a:bodyPr wrap="square" rtlCol="0">
            <a:spAutoFit/>
          </a:bodyPr>
          <a:lstStyle/>
          <a:p>
            <a:r>
              <a:rPr lang="en-US" sz="3200" dirty="0"/>
              <a:t>The one-sample location test could be used for paired data samples.</a:t>
            </a:r>
          </a:p>
          <a:p>
            <a:endParaRPr lang="en-US" sz="3200" dirty="0"/>
          </a:p>
          <a:p>
            <a:r>
              <a:rPr lang="en-US" sz="3200" dirty="0"/>
              <a:t>Each paired data is summarized by their difference and one-sample location test is applied to differences.</a:t>
            </a:r>
          </a:p>
        </p:txBody>
      </p:sp>
      <p:graphicFrame>
        <p:nvGraphicFramePr>
          <p:cNvPr id="5" name="Table 4">
            <a:extLst>
              <a:ext uri="{FF2B5EF4-FFF2-40B4-BE49-F238E27FC236}">
                <a16:creationId xmlns:a16="http://schemas.microsoft.com/office/drawing/2014/main" id="{0A1DB533-9FC1-4F6B-5A78-76696D173572}"/>
              </a:ext>
            </a:extLst>
          </p:cNvPr>
          <p:cNvGraphicFramePr>
            <a:graphicFrameLocks noGrp="1"/>
          </p:cNvGraphicFramePr>
          <p:nvPr>
            <p:extLst>
              <p:ext uri="{D42A27DB-BD31-4B8C-83A1-F6EECF244321}">
                <p14:modId xmlns:p14="http://schemas.microsoft.com/office/powerpoint/2010/main" val="2586998373"/>
              </p:ext>
            </p:extLst>
          </p:nvPr>
        </p:nvGraphicFramePr>
        <p:xfrm>
          <a:off x="1851526" y="3751623"/>
          <a:ext cx="8127999" cy="18288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1220711030"/>
                    </a:ext>
                  </a:extLst>
                </a:gridCol>
                <a:gridCol w="2709333">
                  <a:extLst>
                    <a:ext uri="{9D8B030D-6E8A-4147-A177-3AD203B41FA5}">
                      <a16:colId xmlns:a16="http://schemas.microsoft.com/office/drawing/2014/main" val="118096255"/>
                    </a:ext>
                  </a:extLst>
                </a:gridCol>
                <a:gridCol w="2709333">
                  <a:extLst>
                    <a:ext uri="{9D8B030D-6E8A-4147-A177-3AD203B41FA5}">
                      <a16:colId xmlns:a16="http://schemas.microsoft.com/office/drawing/2014/main" val="3220962990"/>
                    </a:ext>
                  </a:extLst>
                </a:gridCol>
              </a:tblGrid>
              <a:tr h="370840">
                <a:tc>
                  <a:txBody>
                    <a:bodyPr/>
                    <a:lstStyle/>
                    <a:p>
                      <a:pPr algn="ctr"/>
                      <a:r>
                        <a:rPr lang="en-US" sz="2400" dirty="0">
                          <a:solidFill>
                            <a:schemeClr val="tx1"/>
                          </a:solidFill>
                        </a:rPr>
                        <a:t>Experimental unit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solidFill>
                            <a:schemeClr val="tx1"/>
                          </a:solidFill>
                        </a:rPr>
                        <a:t>Paired data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solidFill>
                            <a:schemeClr val="tx1"/>
                          </a:solidFill>
                        </a:rPr>
                        <a:t>Difference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1075605"/>
                  </a:ext>
                </a:extLst>
              </a:tr>
              <a:tr h="370840">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2400" dirty="0"/>
                        <a:t>23-55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2400" dirty="0"/>
                        <a:t>-32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4080271145"/>
                  </a:ext>
                </a:extLst>
              </a:tr>
              <a:tr h="370840">
                <a:tc>
                  <a:txBody>
                    <a:bodyPr/>
                    <a:lstStyle/>
                    <a:p>
                      <a:pPr algn="ctr"/>
                      <a:r>
                        <a:rPr lang="en-US" sz="24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24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24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851919878"/>
                  </a:ext>
                </a:extLst>
              </a:tr>
              <a:tr h="370840">
                <a:tc>
                  <a:txBody>
                    <a:bodyPr/>
                    <a:lstStyle/>
                    <a:p>
                      <a:pPr algn="ctr"/>
                      <a:r>
                        <a:rPr lang="en-US" sz="2400" dirty="0"/>
                        <a:t>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t>107-100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2701750"/>
                  </a:ext>
                </a:extLst>
              </a:tr>
            </a:tbl>
          </a:graphicData>
        </a:graphic>
      </p:graphicFrame>
      <p:sp>
        <p:nvSpPr>
          <p:cNvPr id="4" name="TextBox 3">
            <a:extLst>
              <a:ext uri="{FF2B5EF4-FFF2-40B4-BE49-F238E27FC236}">
                <a16:creationId xmlns:a16="http://schemas.microsoft.com/office/drawing/2014/main" id="{5D3E6B20-FE61-F909-CC1B-CF961BA7B7FD}"/>
              </a:ext>
            </a:extLst>
          </p:cNvPr>
          <p:cNvSpPr txBox="1"/>
          <p:nvPr/>
        </p:nvSpPr>
        <p:spPr>
          <a:xfrm>
            <a:off x="9883943" y="149400"/>
            <a:ext cx="2171700" cy="892552"/>
          </a:xfrm>
          <a:prstGeom prst="rect">
            <a:avLst/>
          </a:prstGeom>
          <a:solidFill>
            <a:schemeClr val="accent4">
              <a:lumMod val="40000"/>
              <a:lumOff val="60000"/>
            </a:schemeClr>
          </a:solidFill>
          <a:ln>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p:spPr>
        <p:txBody>
          <a:bodyPr wrap="square" rtlCol="0">
            <a:spAutoFit/>
          </a:bodyPr>
          <a:lstStyle/>
          <a:p>
            <a:pPr algn="ctr"/>
            <a:r>
              <a:rPr lang="en-US" sz="2600" dirty="0">
                <a:solidFill>
                  <a:srgbClr val="FF0000"/>
                </a:solidFill>
                <a:latin typeface="American Typewriter" panose="02090604020004020304" pitchFamily="18" charset="77"/>
              </a:rPr>
              <a:t>Additional slide</a:t>
            </a:r>
          </a:p>
        </p:txBody>
      </p:sp>
    </p:spTree>
    <p:extLst>
      <p:ext uri="{BB962C8B-B14F-4D97-AF65-F5344CB8AC3E}">
        <p14:creationId xmlns:p14="http://schemas.microsoft.com/office/powerpoint/2010/main" val="11614459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285C570-5CC2-650C-8474-D67489B2E390}"/>
              </a:ext>
            </a:extLst>
          </p:cNvPr>
          <p:cNvSpPr txBox="1">
            <a:spLocks/>
          </p:cNvSpPr>
          <p:nvPr/>
        </p:nvSpPr>
        <p:spPr>
          <a:xfrm>
            <a:off x="14068" y="52204"/>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Exercises</a:t>
            </a:r>
          </a:p>
        </p:txBody>
      </p:sp>
      <p:sp>
        <p:nvSpPr>
          <p:cNvPr id="4" name="TextBox 3">
            <a:extLst>
              <a:ext uri="{FF2B5EF4-FFF2-40B4-BE49-F238E27FC236}">
                <a16:creationId xmlns:a16="http://schemas.microsoft.com/office/drawing/2014/main" id="{D6AE619E-2723-23EC-FA59-BCFB1F019ECC}"/>
              </a:ext>
            </a:extLst>
          </p:cNvPr>
          <p:cNvSpPr txBox="1"/>
          <p:nvPr/>
        </p:nvSpPr>
        <p:spPr>
          <a:xfrm>
            <a:off x="96633" y="4217441"/>
            <a:ext cx="11982916" cy="492443"/>
          </a:xfrm>
          <a:prstGeom prst="rect">
            <a:avLst/>
          </a:prstGeom>
          <a:noFill/>
        </p:spPr>
        <p:txBody>
          <a:bodyPr wrap="square">
            <a:spAutoFit/>
          </a:bodyPr>
          <a:lstStyle/>
          <a:p>
            <a:r>
              <a:rPr lang="en-GB" sz="2600" dirty="0"/>
              <a:t>https://</a:t>
            </a:r>
            <a:r>
              <a:rPr lang="en-GB" sz="2600" dirty="0" err="1"/>
              <a:t>bioinformatics.cruk.cam.ac.uk</a:t>
            </a:r>
            <a:r>
              <a:rPr lang="en-GB" sz="2600" dirty="0"/>
              <a:t>/stats/</a:t>
            </a:r>
            <a:r>
              <a:rPr lang="en-GB" sz="2600" dirty="0" err="1"/>
              <a:t>shinystats</a:t>
            </a:r>
            <a:r>
              <a:rPr lang="en-GB" sz="2600" dirty="0"/>
              <a:t>/</a:t>
            </a:r>
          </a:p>
        </p:txBody>
      </p:sp>
      <p:sp>
        <p:nvSpPr>
          <p:cNvPr id="5" name="TextBox 4">
            <a:extLst>
              <a:ext uri="{FF2B5EF4-FFF2-40B4-BE49-F238E27FC236}">
                <a16:creationId xmlns:a16="http://schemas.microsoft.com/office/drawing/2014/main" id="{88C55AD8-27A7-FC8D-F611-3C48C34E4A9E}"/>
              </a:ext>
            </a:extLst>
          </p:cNvPr>
          <p:cNvSpPr txBox="1"/>
          <p:nvPr/>
        </p:nvSpPr>
        <p:spPr>
          <a:xfrm>
            <a:off x="144133" y="2585481"/>
            <a:ext cx="11887916" cy="492443"/>
          </a:xfrm>
          <a:prstGeom prst="rect">
            <a:avLst/>
          </a:prstGeom>
          <a:noFill/>
        </p:spPr>
        <p:txBody>
          <a:bodyPr wrap="square">
            <a:spAutoFit/>
          </a:bodyPr>
          <a:lstStyle/>
          <a:p>
            <a:r>
              <a:rPr lang="en-US" sz="2600" dirty="0"/>
              <a:t>http://bioinformatics-core-shared-</a:t>
            </a:r>
            <a:r>
              <a:rPr lang="en-US" sz="2600" dirty="0" err="1"/>
              <a:t>training.github.io</a:t>
            </a:r>
            <a:r>
              <a:rPr lang="en-US" sz="2600" dirty="0"/>
              <a:t>/</a:t>
            </a:r>
            <a:r>
              <a:rPr lang="en-US" sz="2600" dirty="0" err="1"/>
              <a:t>IntroductionToStats</a:t>
            </a:r>
            <a:r>
              <a:rPr lang="en-US" sz="2600" dirty="0"/>
              <a:t>/</a:t>
            </a:r>
            <a:r>
              <a:rPr lang="en-US" sz="2600" dirty="0" err="1"/>
              <a:t>practical.html</a:t>
            </a:r>
            <a:endParaRPr lang="en-US" sz="2600" dirty="0"/>
          </a:p>
        </p:txBody>
      </p:sp>
      <p:sp>
        <p:nvSpPr>
          <p:cNvPr id="2" name="TextBox 1">
            <a:extLst>
              <a:ext uri="{FF2B5EF4-FFF2-40B4-BE49-F238E27FC236}">
                <a16:creationId xmlns:a16="http://schemas.microsoft.com/office/drawing/2014/main" id="{D78E134F-07C3-4AFC-8FFD-2BA4659AFA89}"/>
              </a:ext>
            </a:extLst>
          </p:cNvPr>
          <p:cNvSpPr txBox="1"/>
          <p:nvPr/>
        </p:nvSpPr>
        <p:spPr>
          <a:xfrm>
            <a:off x="178131" y="3669471"/>
            <a:ext cx="3123210" cy="492443"/>
          </a:xfrm>
          <a:prstGeom prst="rect">
            <a:avLst/>
          </a:prstGeom>
          <a:solidFill>
            <a:schemeClr val="accent6">
              <a:lumMod val="20000"/>
              <a:lumOff val="80000"/>
            </a:schemeClr>
          </a:solidFill>
        </p:spPr>
        <p:txBody>
          <a:bodyPr wrap="square" rtlCol="0">
            <a:spAutoFit/>
          </a:bodyPr>
          <a:lstStyle/>
          <a:p>
            <a:r>
              <a:rPr lang="en-US" sz="2600" dirty="0"/>
              <a:t>Shiny web application</a:t>
            </a:r>
          </a:p>
        </p:txBody>
      </p:sp>
      <p:sp>
        <p:nvSpPr>
          <p:cNvPr id="3" name="TextBox 2">
            <a:extLst>
              <a:ext uri="{FF2B5EF4-FFF2-40B4-BE49-F238E27FC236}">
                <a16:creationId xmlns:a16="http://schemas.microsoft.com/office/drawing/2014/main" id="{D531AE7A-5809-A6B2-7501-0D4D64FF69D7}"/>
              </a:ext>
            </a:extLst>
          </p:cNvPr>
          <p:cNvSpPr txBox="1"/>
          <p:nvPr/>
        </p:nvSpPr>
        <p:spPr>
          <a:xfrm>
            <a:off x="213756" y="2039456"/>
            <a:ext cx="1401288" cy="492443"/>
          </a:xfrm>
          <a:prstGeom prst="rect">
            <a:avLst/>
          </a:prstGeom>
          <a:solidFill>
            <a:schemeClr val="accent4">
              <a:lumMod val="20000"/>
              <a:lumOff val="80000"/>
            </a:schemeClr>
          </a:solidFill>
        </p:spPr>
        <p:txBody>
          <a:bodyPr wrap="square" rtlCol="0">
            <a:spAutoFit/>
          </a:bodyPr>
          <a:lstStyle/>
          <a:p>
            <a:r>
              <a:rPr lang="en-US" sz="2600" dirty="0"/>
              <a:t>Exercises</a:t>
            </a:r>
          </a:p>
        </p:txBody>
      </p:sp>
    </p:spTree>
    <p:extLst>
      <p:ext uri="{BB962C8B-B14F-4D97-AF65-F5344CB8AC3E}">
        <p14:creationId xmlns:p14="http://schemas.microsoft.com/office/powerpoint/2010/main" val="191251839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1B072-1DD5-0024-F0C8-DBA32F74C8A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008A19E-ECEF-F30E-1775-557F8C97D64B}"/>
              </a:ext>
            </a:extLst>
          </p:cNvPr>
          <p:cNvSpPr>
            <a:spLocks noGrp="1"/>
          </p:cNvSpPr>
          <p:nvPr>
            <p:ph type="title"/>
          </p:nvPr>
        </p:nvSpPr>
        <p:spPr>
          <a:xfrm>
            <a:off x="7273101" y="2281573"/>
            <a:ext cx="2752638" cy="1033123"/>
          </a:xfrm>
        </p:spPr>
        <p:txBody>
          <a:bodyPr>
            <a:normAutofit fontScale="90000"/>
          </a:bodyPr>
          <a:lstStyle/>
          <a:p>
            <a:pPr algn="ctr"/>
            <a:r>
              <a:rPr lang="en-US" sz="3600" dirty="0"/>
              <a:t>Inferential Statistics</a:t>
            </a:r>
          </a:p>
        </p:txBody>
      </p:sp>
      <p:sp>
        <p:nvSpPr>
          <p:cNvPr id="5" name="Text Placeholder 4">
            <a:extLst>
              <a:ext uri="{FF2B5EF4-FFF2-40B4-BE49-F238E27FC236}">
                <a16:creationId xmlns:a16="http://schemas.microsoft.com/office/drawing/2014/main" id="{319F08D3-837B-C3D0-8036-B2A67A479476}"/>
              </a:ext>
            </a:extLst>
          </p:cNvPr>
          <p:cNvSpPr>
            <a:spLocks noGrp="1"/>
          </p:cNvSpPr>
          <p:nvPr>
            <p:ph type="body" sz="quarter" idx="22"/>
          </p:nvPr>
        </p:nvSpPr>
        <p:spPr>
          <a:xfrm>
            <a:off x="7920000" y="5328000"/>
            <a:ext cx="2947523" cy="569080"/>
          </a:xfrm>
        </p:spPr>
        <p:txBody>
          <a:bodyPr>
            <a:noAutofit/>
          </a:bodyPr>
          <a:lstStyle/>
          <a:p>
            <a:r>
              <a:rPr lang="en-US" sz="2500" dirty="0"/>
              <a:t>15.20 - 15.45</a:t>
            </a:r>
          </a:p>
        </p:txBody>
      </p:sp>
      <p:sp>
        <p:nvSpPr>
          <p:cNvPr id="13" name="Text Placeholder 2">
            <a:extLst>
              <a:ext uri="{FF2B5EF4-FFF2-40B4-BE49-F238E27FC236}">
                <a16:creationId xmlns:a16="http://schemas.microsoft.com/office/drawing/2014/main" id="{D8BFE581-6B07-0715-0714-05DC02B96999}"/>
              </a:ext>
            </a:extLst>
          </p:cNvPr>
          <p:cNvSpPr>
            <a:spLocks noGrp="1"/>
          </p:cNvSpPr>
          <p:nvPr>
            <p:ph type="body" sz="quarter" idx="11"/>
          </p:nvPr>
        </p:nvSpPr>
        <p:spPr>
          <a:xfrm>
            <a:off x="7920000" y="4500000"/>
            <a:ext cx="3225109" cy="566630"/>
          </a:xfrm>
        </p:spPr>
        <p:txBody>
          <a:bodyPr>
            <a:normAutofit/>
          </a:bodyPr>
          <a:lstStyle/>
          <a:p>
            <a:r>
              <a:rPr lang="en-US" sz="2500" dirty="0"/>
              <a:t>Two-Sample tests</a:t>
            </a:r>
          </a:p>
        </p:txBody>
      </p:sp>
      <p:sp>
        <p:nvSpPr>
          <p:cNvPr id="18" name="TextBox 17">
            <a:extLst>
              <a:ext uri="{FF2B5EF4-FFF2-40B4-BE49-F238E27FC236}">
                <a16:creationId xmlns:a16="http://schemas.microsoft.com/office/drawing/2014/main" id="{C3D528F1-83F3-4912-505D-321E3453E873}"/>
              </a:ext>
            </a:extLst>
          </p:cNvPr>
          <p:cNvSpPr txBox="1"/>
          <p:nvPr/>
        </p:nvSpPr>
        <p:spPr>
          <a:xfrm>
            <a:off x="127712" y="920464"/>
            <a:ext cx="3195887" cy="461665"/>
          </a:xfrm>
          <a:prstGeom prst="rect">
            <a:avLst/>
          </a:prstGeom>
          <a:noFill/>
        </p:spPr>
        <p:txBody>
          <a:bodyPr wrap="square" rtlCol="0">
            <a:spAutoFit/>
          </a:bodyPr>
          <a:lstStyle/>
          <a:p>
            <a:pPr algn="ctr"/>
            <a:r>
              <a:rPr lang="en-US" sz="2400" dirty="0"/>
              <a:t>1) Statistical distribution </a:t>
            </a:r>
          </a:p>
        </p:txBody>
      </p:sp>
      <p:pic>
        <p:nvPicPr>
          <p:cNvPr id="19" name="Picture 2" descr="Binomial distribution - Wikipedia">
            <a:extLst>
              <a:ext uri="{FF2B5EF4-FFF2-40B4-BE49-F238E27FC236}">
                <a16:creationId xmlns:a16="http://schemas.microsoft.com/office/drawing/2014/main" id="{F9538A2A-9D8C-87E6-F126-22AEF61497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60421" y="592072"/>
            <a:ext cx="2176908" cy="1449482"/>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4" descr="The History of the Coin Flip – Heads or Tails? - Hattons of London">
            <a:extLst>
              <a:ext uri="{FF2B5EF4-FFF2-40B4-BE49-F238E27FC236}">
                <a16:creationId xmlns:a16="http://schemas.microsoft.com/office/drawing/2014/main" id="{385C64C5-4C30-5E19-72E7-477D8290DC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04311" y="3738321"/>
            <a:ext cx="2187508" cy="1455687"/>
          </a:xfrm>
          <a:prstGeom prst="rect">
            <a:avLst/>
          </a:prstGeom>
          <a:noFill/>
          <a:extLst>
            <a:ext uri="{909E8E84-426E-40DD-AFC4-6F175D3DCCD1}">
              <a14:hiddenFill xmlns:a14="http://schemas.microsoft.com/office/drawing/2010/main">
                <a:solidFill>
                  <a:srgbClr val="FFFFFF"/>
                </a:solidFill>
              </a14:hiddenFill>
            </a:ext>
          </a:extLst>
        </p:spPr>
      </p:pic>
      <p:cxnSp>
        <p:nvCxnSpPr>
          <p:cNvPr id="23" name="Straight Arrow Connector 22">
            <a:extLst>
              <a:ext uri="{FF2B5EF4-FFF2-40B4-BE49-F238E27FC236}">
                <a16:creationId xmlns:a16="http://schemas.microsoft.com/office/drawing/2014/main" id="{0D36A629-2EAF-B84B-D3F6-8C166A6CF873}"/>
              </a:ext>
            </a:extLst>
          </p:cNvPr>
          <p:cNvCxnSpPr>
            <a:cxnSpLocks/>
          </p:cNvCxnSpPr>
          <p:nvPr/>
        </p:nvCxnSpPr>
        <p:spPr>
          <a:xfrm>
            <a:off x="4848875" y="2232586"/>
            <a:ext cx="0" cy="1327041"/>
          </a:xfrm>
          <a:prstGeom prst="straightConnector1">
            <a:avLst/>
          </a:prstGeom>
          <a:ln w="25400">
            <a:solidFill>
              <a:schemeClr val="tx1"/>
            </a:solidFill>
            <a:prstDash val="sysDash"/>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AC6D0B0-4BCE-DCF9-64B2-DF84D0F94CFB}"/>
              </a:ext>
            </a:extLst>
          </p:cNvPr>
          <p:cNvCxnSpPr>
            <a:cxnSpLocks/>
          </p:cNvCxnSpPr>
          <p:nvPr/>
        </p:nvCxnSpPr>
        <p:spPr>
          <a:xfrm>
            <a:off x="1828798" y="4466164"/>
            <a:ext cx="1690460" cy="0"/>
          </a:xfrm>
          <a:prstGeom prst="line">
            <a:avLst/>
          </a:prstGeom>
          <a:ln w="63500">
            <a:solidFill>
              <a:schemeClr val="accent1">
                <a:lumMod val="40000"/>
                <a:lumOff val="60000"/>
              </a:schemeClr>
            </a:solidFill>
            <a:headEnd type="none"/>
            <a:tailEnd type="ova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1C69D7B4-AC18-2F94-DE83-BEE0E90BE827}"/>
              </a:ext>
            </a:extLst>
          </p:cNvPr>
          <p:cNvSpPr txBox="1"/>
          <p:nvPr/>
        </p:nvSpPr>
        <p:spPr>
          <a:xfrm>
            <a:off x="293418" y="4631939"/>
            <a:ext cx="3201392" cy="461665"/>
          </a:xfrm>
          <a:prstGeom prst="rect">
            <a:avLst/>
          </a:prstGeom>
          <a:solidFill>
            <a:schemeClr val="accent1">
              <a:lumMod val="20000"/>
              <a:lumOff val="80000"/>
            </a:schemeClr>
          </a:solidFill>
          <a:ln>
            <a:solidFill>
              <a:schemeClr val="accent1">
                <a:lumMod val="20000"/>
                <a:lumOff val="80000"/>
              </a:schemeClr>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r"/>
            <a:r>
              <a:rPr lang="en-US" sz="2400" b="1" dirty="0"/>
              <a:t>3) Frequentist inference</a:t>
            </a:r>
          </a:p>
        </p:txBody>
      </p:sp>
      <p:sp>
        <p:nvSpPr>
          <p:cNvPr id="29" name="TextBox 28">
            <a:extLst>
              <a:ext uri="{FF2B5EF4-FFF2-40B4-BE49-F238E27FC236}">
                <a16:creationId xmlns:a16="http://schemas.microsoft.com/office/drawing/2014/main" id="{CD45076B-36C3-BFA9-7996-0216AD212CC1}"/>
              </a:ext>
            </a:extLst>
          </p:cNvPr>
          <p:cNvSpPr txBox="1"/>
          <p:nvPr/>
        </p:nvSpPr>
        <p:spPr>
          <a:xfrm>
            <a:off x="5016191" y="2434146"/>
            <a:ext cx="1653075" cy="830997"/>
          </a:xfrm>
          <a:prstGeom prst="rect">
            <a:avLst/>
          </a:prstGeom>
          <a:noFill/>
        </p:spPr>
        <p:txBody>
          <a:bodyPr wrap="square" rtlCol="0">
            <a:spAutoFit/>
          </a:bodyPr>
          <a:lstStyle/>
          <a:p>
            <a:r>
              <a:rPr lang="en-US" sz="2400" dirty="0"/>
              <a:t>2) Data generation</a:t>
            </a:r>
          </a:p>
        </p:txBody>
      </p:sp>
      <p:cxnSp>
        <p:nvCxnSpPr>
          <p:cNvPr id="36" name="Straight Arrow Connector 35">
            <a:extLst>
              <a:ext uri="{FF2B5EF4-FFF2-40B4-BE49-F238E27FC236}">
                <a16:creationId xmlns:a16="http://schemas.microsoft.com/office/drawing/2014/main" id="{A243398A-D958-35F7-7C66-987B95109F2B}"/>
              </a:ext>
            </a:extLst>
          </p:cNvPr>
          <p:cNvCxnSpPr/>
          <p:nvPr/>
        </p:nvCxnSpPr>
        <p:spPr>
          <a:xfrm flipV="1">
            <a:off x="1828798" y="1518556"/>
            <a:ext cx="0" cy="2988000"/>
          </a:xfrm>
          <a:prstGeom prst="straightConnector1">
            <a:avLst/>
          </a:prstGeom>
          <a:ln w="63500">
            <a:solidFill>
              <a:schemeClr val="accent1">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637616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mathematical equation with numbers and symbols&#10;&#10;Description automatically generated">
            <a:extLst>
              <a:ext uri="{FF2B5EF4-FFF2-40B4-BE49-F238E27FC236}">
                <a16:creationId xmlns:a16="http://schemas.microsoft.com/office/drawing/2014/main" id="{98EBFEC5-1668-05D1-B810-6E73D5A9EBDC}"/>
              </a:ext>
            </a:extLst>
          </p:cNvPr>
          <p:cNvPicPr>
            <a:picLocks noChangeAspect="1"/>
          </p:cNvPicPr>
          <p:nvPr/>
        </p:nvPicPr>
        <p:blipFill>
          <a:blip r:embed="rId2"/>
          <a:stretch>
            <a:fillRect/>
          </a:stretch>
        </p:blipFill>
        <p:spPr>
          <a:xfrm>
            <a:off x="2448569" y="4403068"/>
            <a:ext cx="3372961" cy="1888859"/>
          </a:xfrm>
          <a:prstGeom prst="rect">
            <a:avLst/>
          </a:prstGeom>
        </p:spPr>
      </p:pic>
      <p:sp>
        <p:nvSpPr>
          <p:cNvPr id="2" name="Title 1">
            <a:extLst>
              <a:ext uri="{FF2B5EF4-FFF2-40B4-BE49-F238E27FC236}">
                <a16:creationId xmlns:a16="http://schemas.microsoft.com/office/drawing/2014/main" id="{22F51E50-6CA9-53AB-AAC5-98FAD3643A63}"/>
              </a:ext>
            </a:extLst>
          </p:cNvPr>
          <p:cNvSpPr txBox="1">
            <a:spLocks/>
          </p:cNvSpPr>
          <p:nvPr/>
        </p:nvSpPr>
        <p:spPr>
          <a:xfrm>
            <a:off x="0" y="36100"/>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Two-sample Student’s </a:t>
            </a:r>
            <a:r>
              <a:rPr lang="en-US" sz="5000" b="1" i="1" dirty="0"/>
              <a:t>t</a:t>
            </a:r>
            <a:r>
              <a:rPr lang="en-US" sz="5000" b="1" dirty="0"/>
              <a:t>-test</a:t>
            </a:r>
          </a:p>
        </p:txBody>
      </p:sp>
      <p:sp>
        <p:nvSpPr>
          <p:cNvPr id="3" name="TextBox 2">
            <a:extLst>
              <a:ext uri="{FF2B5EF4-FFF2-40B4-BE49-F238E27FC236}">
                <a16:creationId xmlns:a16="http://schemas.microsoft.com/office/drawing/2014/main" id="{AFBE66BC-24D8-5345-0B6F-BC9D325BE5E6}"/>
              </a:ext>
            </a:extLst>
          </p:cNvPr>
          <p:cNvSpPr txBox="1"/>
          <p:nvPr/>
        </p:nvSpPr>
        <p:spPr>
          <a:xfrm>
            <a:off x="156401" y="1010651"/>
            <a:ext cx="11923304" cy="5693866"/>
          </a:xfrm>
          <a:prstGeom prst="rect">
            <a:avLst/>
          </a:prstGeom>
          <a:noFill/>
        </p:spPr>
        <p:txBody>
          <a:bodyPr wrap="square" rtlCol="0">
            <a:spAutoFit/>
          </a:bodyPr>
          <a:lstStyle/>
          <a:p>
            <a:r>
              <a:rPr lang="en-US" sz="2800" b="1" dirty="0"/>
              <a:t>Assumptions: </a:t>
            </a:r>
            <a:r>
              <a:rPr lang="en-US" sz="2800" dirty="0"/>
              <a:t>	1. data are continuous</a:t>
            </a:r>
          </a:p>
          <a:p>
            <a:r>
              <a:rPr lang="en-US" sz="2800" dirty="0"/>
              <a:t>			2. random sampling from the two populations</a:t>
            </a:r>
          </a:p>
          <a:p>
            <a:r>
              <a:rPr lang="en-US" sz="2800" dirty="0"/>
              <a:t>			3. independent observations x</a:t>
            </a:r>
            <a:r>
              <a:rPr lang="en-US" sz="2800" baseline="-25000" dirty="0"/>
              <a:t>i</a:t>
            </a:r>
            <a:r>
              <a:rPr lang="en-US" sz="2800" dirty="0"/>
              <a:t>, </a:t>
            </a:r>
            <a:r>
              <a:rPr lang="en-US" sz="2800" dirty="0" err="1"/>
              <a:t>i</a:t>
            </a:r>
            <a:r>
              <a:rPr lang="en-US" sz="2800" dirty="0"/>
              <a:t>=1,…,n</a:t>
            </a:r>
            <a:r>
              <a:rPr lang="en-US" sz="2800" baseline="-25000" dirty="0"/>
              <a:t>1</a:t>
            </a:r>
            <a:r>
              <a:rPr lang="en-US" sz="2800" dirty="0"/>
              <a:t> and </a:t>
            </a:r>
            <a:r>
              <a:rPr lang="en-US" sz="2800" dirty="0" err="1"/>
              <a:t>y</a:t>
            </a:r>
            <a:r>
              <a:rPr lang="en-US" sz="2800" baseline="-25000" dirty="0" err="1"/>
              <a:t>j</a:t>
            </a:r>
            <a:r>
              <a:rPr lang="en-US" sz="2800" dirty="0"/>
              <a:t>, j=1,...,n</a:t>
            </a:r>
            <a:r>
              <a:rPr lang="en-US" sz="2800" baseline="-25000" dirty="0"/>
              <a:t>2</a:t>
            </a:r>
            <a:r>
              <a:rPr lang="en-US" sz="2800" dirty="0"/>
              <a:t> </a:t>
            </a:r>
          </a:p>
          <a:p>
            <a:r>
              <a:rPr lang="en-US" sz="2800" dirty="0"/>
              <a:t>			4. the two population distributions are normal</a:t>
            </a:r>
          </a:p>
          <a:p>
            <a:r>
              <a:rPr lang="en-US" sz="2800" dirty="0"/>
              <a:t>			5. equal variances s</a:t>
            </a:r>
            <a:r>
              <a:rPr lang="en-US" sz="2800" baseline="-25000" dirty="0"/>
              <a:t>1</a:t>
            </a:r>
            <a:r>
              <a:rPr lang="en-US" sz="2800" baseline="30000" dirty="0"/>
              <a:t>2</a:t>
            </a:r>
            <a:r>
              <a:rPr lang="en-US" sz="2800" dirty="0"/>
              <a:t> and s</a:t>
            </a:r>
            <a:r>
              <a:rPr lang="en-US" sz="2800" baseline="-25000" dirty="0"/>
              <a:t>2</a:t>
            </a:r>
            <a:r>
              <a:rPr lang="en-US" sz="2800" baseline="30000" dirty="0"/>
              <a:t>2</a:t>
            </a:r>
          </a:p>
          <a:p>
            <a:r>
              <a:rPr lang="en-US" sz="2800" b="1" dirty="0"/>
              <a:t>Hypotheses to test: </a:t>
            </a:r>
            <a:r>
              <a:rPr lang="en-US" sz="2800" dirty="0"/>
              <a:t>			</a:t>
            </a:r>
          </a:p>
          <a:p>
            <a:r>
              <a:rPr lang="en-US" sz="2800" dirty="0"/>
              <a:t>H</a:t>
            </a:r>
            <a:r>
              <a:rPr lang="en-US" sz="2800" baseline="-25000" dirty="0"/>
              <a:t>0</a:t>
            </a:r>
            <a:r>
              <a:rPr lang="en-US" sz="2800" dirty="0"/>
              <a:t>: 	𝛍</a:t>
            </a:r>
            <a:r>
              <a:rPr lang="en-US" sz="2800" baseline="-25000" dirty="0"/>
              <a:t>1</a:t>
            </a:r>
            <a:r>
              <a:rPr lang="en-US" sz="2800" dirty="0"/>
              <a:t>= 𝛍</a:t>
            </a:r>
            <a:r>
              <a:rPr lang="en-US" sz="2800" baseline="-25000" dirty="0"/>
              <a:t>2</a:t>
            </a:r>
          </a:p>
          <a:p>
            <a:r>
              <a:rPr lang="en-US" sz="2800" dirty="0"/>
              <a:t>H</a:t>
            </a:r>
            <a:r>
              <a:rPr lang="en-US" sz="2800" baseline="-25000" dirty="0"/>
              <a:t>1</a:t>
            </a:r>
            <a:r>
              <a:rPr lang="en-US" sz="2800" dirty="0"/>
              <a:t>: 	𝛍</a:t>
            </a:r>
            <a:r>
              <a:rPr lang="en-US" sz="2800" baseline="-25000" dirty="0"/>
              <a:t>1</a:t>
            </a:r>
            <a:r>
              <a:rPr lang="en-US" sz="2800" dirty="0"/>
              <a:t> ≠ 𝛍</a:t>
            </a:r>
            <a:r>
              <a:rPr lang="en-US" sz="2800" baseline="-25000" dirty="0"/>
              <a:t>2  </a:t>
            </a:r>
            <a:endParaRPr lang="en-US" sz="2800" dirty="0"/>
          </a:p>
          <a:p>
            <a:endParaRPr lang="en-US" sz="2800" dirty="0"/>
          </a:p>
          <a:p>
            <a:endParaRPr lang="en-US" sz="2800" dirty="0"/>
          </a:p>
          <a:p>
            <a:r>
              <a:rPr lang="en-US" sz="2800" b="1" dirty="0"/>
              <a:t>Test statistic:</a:t>
            </a:r>
            <a:r>
              <a:rPr lang="en-US" sz="2800" baseline="-25000" dirty="0"/>
              <a:t>	</a:t>
            </a:r>
            <a:endParaRPr lang="en-US" sz="2800" dirty="0"/>
          </a:p>
          <a:p>
            <a:r>
              <a:rPr lang="en-US" sz="2800" dirty="0"/>
              <a:t> </a:t>
            </a:r>
            <a:r>
              <a:rPr lang="en-US" sz="2800" baseline="-25000" dirty="0"/>
              <a:t>				</a:t>
            </a:r>
          </a:p>
          <a:p>
            <a:endParaRPr lang="en-US" sz="2800" dirty="0"/>
          </a:p>
        </p:txBody>
      </p:sp>
      <p:pic>
        <p:nvPicPr>
          <p:cNvPr id="13" name="Picture 12" descr="A math equation with numbers and symbols&#10;&#10;Description automatically generated">
            <a:extLst>
              <a:ext uri="{FF2B5EF4-FFF2-40B4-BE49-F238E27FC236}">
                <a16:creationId xmlns:a16="http://schemas.microsoft.com/office/drawing/2014/main" id="{E9B2AEDA-550F-6D2F-72BB-BA67D05DF473}"/>
              </a:ext>
            </a:extLst>
          </p:cNvPr>
          <p:cNvPicPr>
            <a:picLocks noChangeAspect="1"/>
          </p:cNvPicPr>
          <p:nvPr/>
        </p:nvPicPr>
        <p:blipFill>
          <a:blip r:embed="rId3"/>
          <a:stretch>
            <a:fillRect/>
          </a:stretch>
        </p:blipFill>
        <p:spPr>
          <a:xfrm>
            <a:off x="7254073" y="4591603"/>
            <a:ext cx="4512916" cy="1128229"/>
          </a:xfrm>
          <a:prstGeom prst="rect">
            <a:avLst/>
          </a:prstGeom>
        </p:spPr>
      </p:pic>
      <p:sp>
        <p:nvSpPr>
          <p:cNvPr id="14" name="TextBox 13">
            <a:extLst>
              <a:ext uri="{FF2B5EF4-FFF2-40B4-BE49-F238E27FC236}">
                <a16:creationId xmlns:a16="http://schemas.microsoft.com/office/drawing/2014/main" id="{3E43386F-11D2-F5EF-68C4-D9DCEDB170B2}"/>
              </a:ext>
            </a:extLst>
          </p:cNvPr>
          <p:cNvSpPr txBox="1"/>
          <p:nvPr/>
        </p:nvSpPr>
        <p:spPr>
          <a:xfrm>
            <a:off x="6167311" y="4867988"/>
            <a:ext cx="1880937" cy="523220"/>
          </a:xfrm>
          <a:prstGeom prst="rect">
            <a:avLst/>
          </a:prstGeom>
          <a:noFill/>
        </p:spPr>
        <p:txBody>
          <a:bodyPr wrap="square" rtlCol="0">
            <a:spAutoFit/>
          </a:bodyPr>
          <a:lstStyle/>
          <a:p>
            <a:r>
              <a:rPr lang="en-US" sz="2800" dirty="0"/>
              <a:t>where</a:t>
            </a:r>
          </a:p>
        </p:txBody>
      </p:sp>
      <p:sp>
        <p:nvSpPr>
          <p:cNvPr id="15" name="TextBox 14">
            <a:extLst>
              <a:ext uri="{FF2B5EF4-FFF2-40B4-BE49-F238E27FC236}">
                <a16:creationId xmlns:a16="http://schemas.microsoft.com/office/drawing/2014/main" id="{33D8C312-33A3-F76A-B25E-3284D0CF814B}"/>
              </a:ext>
            </a:extLst>
          </p:cNvPr>
          <p:cNvSpPr txBox="1"/>
          <p:nvPr/>
        </p:nvSpPr>
        <p:spPr>
          <a:xfrm>
            <a:off x="156400" y="6241668"/>
            <a:ext cx="12035599" cy="523220"/>
          </a:xfrm>
          <a:prstGeom prst="rect">
            <a:avLst/>
          </a:prstGeom>
          <a:noFill/>
        </p:spPr>
        <p:txBody>
          <a:bodyPr wrap="square" rtlCol="0">
            <a:spAutoFit/>
          </a:bodyPr>
          <a:lstStyle/>
          <a:p>
            <a:r>
              <a:rPr lang="en-GB" sz="2800" b="0" u="none" strike="noStrike" dirty="0">
                <a:solidFill>
                  <a:srgbClr val="1F1F1F"/>
                </a:solidFill>
                <a:effectLst/>
                <a:latin typeface="ElsevierGulliver"/>
              </a:rPr>
              <a:t>The statistic t has a Student's </a:t>
            </a:r>
            <a:r>
              <a:rPr lang="en-GB" sz="2800" b="0" i="1" u="none" strike="noStrike" dirty="0">
                <a:solidFill>
                  <a:srgbClr val="1F1F1F"/>
                </a:solidFill>
                <a:effectLst/>
                <a:latin typeface="ElsevierGulliver"/>
              </a:rPr>
              <a:t>t</a:t>
            </a:r>
            <a:r>
              <a:rPr lang="en-GB" sz="2800" b="0" u="none" strike="noStrike" dirty="0">
                <a:solidFill>
                  <a:srgbClr val="1F1F1F"/>
                </a:solidFill>
                <a:effectLst/>
                <a:latin typeface="ElsevierGulliver"/>
              </a:rPr>
              <a:t> distribution with n</a:t>
            </a:r>
            <a:r>
              <a:rPr lang="en-GB" sz="2800" b="0" u="none" strike="noStrike" baseline="-25000" dirty="0">
                <a:solidFill>
                  <a:srgbClr val="1F1F1F"/>
                </a:solidFill>
                <a:effectLst/>
                <a:latin typeface="ElsevierGulliver"/>
              </a:rPr>
              <a:t>1</a:t>
            </a:r>
            <a:r>
              <a:rPr lang="en-GB" sz="2800" b="0" u="none" strike="noStrike" dirty="0">
                <a:solidFill>
                  <a:srgbClr val="1F1F1F"/>
                </a:solidFill>
                <a:effectLst/>
                <a:latin typeface="ElsevierGulliver"/>
              </a:rPr>
              <a:t>+n</a:t>
            </a:r>
            <a:r>
              <a:rPr lang="en-GB" sz="2800" b="0" u="none" strike="noStrike" baseline="-25000" dirty="0">
                <a:solidFill>
                  <a:srgbClr val="1F1F1F"/>
                </a:solidFill>
                <a:effectLst/>
                <a:latin typeface="ElsevierGulliver"/>
              </a:rPr>
              <a:t>2</a:t>
            </a:r>
            <a:r>
              <a:rPr lang="en-GB" sz="2800" b="0" u="none" strike="noStrike" dirty="0">
                <a:solidFill>
                  <a:srgbClr val="1F1F1F"/>
                </a:solidFill>
                <a:effectLst/>
                <a:latin typeface="ElsevierGulliver"/>
              </a:rPr>
              <a:t>-2 degrees of freedom.</a:t>
            </a:r>
            <a:endParaRPr lang="en-US" sz="2800" dirty="0"/>
          </a:p>
        </p:txBody>
      </p:sp>
    </p:spTree>
    <p:extLst>
      <p:ext uri="{BB962C8B-B14F-4D97-AF65-F5344CB8AC3E}">
        <p14:creationId xmlns:p14="http://schemas.microsoft.com/office/powerpoint/2010/main" val="398850697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FBE66BC-24D8-5345-0B6F-BC9D325BE5E6}"/>
              </a:ext>
            </a:extLst>
          </p:cNvPr>
          <p:cNvSpPr txBox="1"/>
          <p:nvPr/>
        </p:nvSpPr>
        <p:spPr>
          <a:xfrm>
            <a:off x="156401" y="1010651"/>
            <a:ext cx="11923304" cy="5550237"/>
          </a:xfrm>
          <a:prstGeom prst="rect">
            <a:avLst/>
          </a:prstGeom>
          <a:noFill/>
        </p:spPr>
        <p:txBody>
          <a:bodyPr wrap="square" rtlCol="0">
            <a:spAutoFit/>
          </a:bodyPr>
          <a:lstStyle/>
          <a:p>
            <a:r>
              <a:rPr lang="en-US" sz="2800" b="1" dirty="0"/>
              <a:t>Assumptions: </a:t>
            </a:r>
            <a:r>
              <a:rPr lang="en-US" sz="2800" dirty="0"/>
              <a:t>	1. data are continuous</a:t>
            </a:r>
          </a:p>
          <a:p>
            <a:r>
              <a:rPr lang="en-US" sz="2800" dirty="0"/>
              <a:t>			2. random sampling from the two populations</a:t>
            </a:r>
          </a:p>
          <a:p>
            <a:r>
              <a:rPr lang="en-US" sz="2800" dirty="0"/>
              <a:t>			3. independent observations x</a:t>
            </a:r>
            <a:r>
              <a:rPr lang="en-US" sz="2800" baseline="-25000" dirty="0"/>
              <a:t>i</a:t>
            </a:r>
            <a:r>
              <a:rPr lang="en-US" sz="2800" dirty="0"/>
              <a:t>, </a:t>
            </a:r>
            <a:r>
              <a:rPr lang="en-US" sz="2800" dirty="0" err="1"/>
              <a:t>i</a:t>
            </a:r>
            <a:r>
              <a:rPr lang="en-US" sz="2800" dirty="0"/>
              <a:t>=1,…,n</a:t>
            </a:r>
            <a:r>
              <a:rPr lang="en-US" sz="2800" baseline="-25000" dirty="0"/>
              <a:t>1</a:t>
            </a:r>
            <a:r>
              <a:rPr lang="en-US" sz="2800" dirty="0"/>
              <a:t> and </a:t>
            </a:r>
            <a:r>
              <a:rPr lang="en-US" sz="2800" dirty="0" err="1"/>
              <a:t>y</a:t>
            </a:r>
            <a:r>
              <a:rPr lang="en-US" sz="2800" baseline="-25000" dirty="0" err="1"/>
              <a:t>j</a:t>
            </a:r>
            <a:r>
              <a:rPr lang="en-US" sz="2800" dirty="0"/>
              <a:t>, j=1,...,n</a:t>
            </a:r>
            <a:r>
              <a:rPr lang="en-US" sz="2800" baseline="-25000" dirty="0"/>
              <a:t>2</a:t>
            </a:r>
            <a:r>
              <a:rPr lang="en-US" sz="2800" dirty="0"/>
              <a:t> </a:t>
            </a:r>
          </a:p>
          <a:p>
            <a:r>
              <a:rPr lang="en-US" sz="2800" dirty="0"/>
              <a:t>			4. the two population distributions are normal</a:t>
            </a:r>
          </a:p>
          <a:p>
            <a:endParaRPr lang="en-US" sz="2800" baseline="30000" dirty="0"/>
          </a:p>
          <a:p>
            <a:r>
              <a:rPr lang="en-US" sz="2800" b="1" dirty="0"/>
              <a:t>Hypotheses to test:</a:t>
            </a:r>
            <a:endParaRPr lang="en-US" sz="2800" dirty="0">
              <a:solidFill>
                <a:schemeClr val="accent1"/>
              </a:solidFill>
            </a:endParaRPr>
          </a:p>
          <a:p>
            <a:r>
              <a:rPr lang="en-US" sz="2800" dirty="0"/>
              <a:t>H</a:t>
            </a:r>
            <a:r>
              <a:rPr lang="en-US" sz="2800" baseline="-25000" dirty="0"/>
              <a:t>0</a:t>
            </a:r>
            <a:r>
              <a:rPr lang="en-US" sz="2800" dirty="0"/>
              <a:t>: 	𝛍</a:t>
            </a:r>
            <a:r>
              <a:rPr lang="en-US" sz="2800" baseline="-25000" dirty="0"/>
              <a:t>1</a:t>
            </a:r>
            <a:r>
              <a:rPr lang="en-US" sz="2800" dirty="0"/>
              <a:t>= 𝛍</a:t>
            </a:r>
            <a:r>
              <a:rPr lang="en-US" sz="2800" baseline="-25000" dirty="0"/>
              <a:t>2</a:t>
            </a:r>
          </a:p>
          <a:p>
            <a:r>
              <a:rPr lang="en-US" sz="2800" dirty="0"/>
              <a:t>H</a:t>
            </a:r>
            <a:r>
              <a:rPr lang="en-US" sz="2800" baseline="-25000" dirty="0"/>
              <a:t>1</a:t>
            </a:r>
            <a:r>
              <a:rPr lang="en-US" sz="2800" dirty="0"/>
              <a:t>: 	𝛍</a:t>
            </a:r>
            <a:r>
              <a:rPr lang="en-US" sz="2800" baseline="-25000" dirty="0"/>
              <a:t>1</a:t>
            </a:r>
            <a:r>
              <a:rPr lang="en-US" sz="2800" dirty="0"/>
              <a:t> ≠ 𝛍</a:t>
            </a:r>
            <a:r>
              <a:rPr lang="en-US" sz="2800" baseline="-25000" dirty="0"/>
              <a:t>2  </a:t>
            </a:r>
            <a:endParaRPr lang="en-US" sz="2800" dirty="0"/>
          </a:p>
          <a:p>
            <a:endParaRPr lang="en-US" sz="2800" dirty="0"/>
          </a:p>
          <a:p>
            <a:endParaRPr lang="en-US" sz="2800" dirty="0"/>
          </a:p>
          <a:p>
            <a:r>
              <a:rPr lang="en-US" sz="2800" b="1" dirty="0"/>
              <a:t>Test statistic:</a:t>
            </a:r>
            <a:r>
              <a:rPr lang="en-US" sz="2800" baseline="-25000" dirty="0"/>
              <a:t>	</a:t>
            </a:r>
            <a:endParaRPr lang="en-US" sz="2800" dirty="0"/>
          </a:p>
          <a:p>
            <a:r>
              <a:rPr lang="en-US" sz="2800" dirty="0"/>
              <a:t> </a:t>
            </a:r>
            <a:r>
              <a:rPr lang="en-US" sz="2800" baseline="-25000" dirty="0"/>
              <a:t>				</a:t>
            </a:r>
          </a:p>
          <a:p>
            <a:endParaRPr lang="en-US" sz="2800" dirty="0"/>
          </a:p>
        </p:txBody>
      </p:sp>
      <p:sp>
        <p:nvSpPr>
          <p:cNvPr id="15" name="TextBox 14">
            <a:extLst>
              <a:ext uri="{FF2B5EF4-FFF2-40B4-BE49-F238E27FC236}">
                <a16:creationId xmlns:a16="http://schemas.microsoft.com/office/drawing/2014/main" id="{33D8C312-33A3-F76A-B25E-3284D0CF814B}"/>
              </a:ext>
            </a:extLst>
          </p:cNvPr>
          <p:cNvSpPr txBox="1"/>
          <p:nvPr/>
        </p:nvSpPr>
        <p:spPr>
          <a:xfrm>
            <a:off x="6118054" y="4510480"/>
            <a:ext cx="3170326" cy="1815882"/>
          </a:xfrm>
          <a:prstGeom prst="rect">
            <a:avLst/>
          </a:prstGeom>
          <a:noFill/>
        </p:spPr>
        <p:txBody>
          <a:bodyPr wrap="square" rtlCol="0">
            <a:spAutoFit/>
          </a:bodyPr>
          <a:lstStyle/>
          <a:p>
            <a:r>
              <a:rPr lang="en-GB" sz="2800" b="0" u="none" strike="noStrike" dirty="0">
                <a:solidFill>
                  <a:srgbClr val="1F1F1F"/>
                </a:solidFill>
                <a:effectLst/>
                <a:latin typeface="ElsevierGulliver"/>
              </a:rPr>
              <a:t>The statistic t has a Student's </a:t>
            </a:r>
            <a:r>
              <a:rPr lang="en-GB" sz="2800" b="0" i="1" u="none" strike="noStrike" dirty="0">
                <a:solidFill>
                  <a:srgbClr val="1F1F1F"/>
                </a:solidFill>
                <a:effectLst/>
                <a:latin typeface="ElsevierGulliver"/>
              </a:rPr>
              <a:t>t</a:t>
            </a:r>
            <a:r>
              <a:rPr lang="en-GB" sz="2800" b="0" u="none" strike="noStrike" dirty="0">
                <a:solidFill>
                  <a:srgbClr val="1F1F1F"/>
                </a:solidFill>
                <a:effectLst/>
                <a:latin typeface="ElsevierGulliver"/>
              </a:rPr>
              <a:t> distribution with degrees of freedom:</a:t>
            </a:r>
            <a:endParaRPr lang="en-US" sz="2800" dirty="0"/>
          </a:p>
        </p:txBody>
      </p:sp>
      <p:sp>
        <p:nvSpPr>
          <p:cNvPr id="4" name="Title 1">
            <a:extLst>
              <a:ext uri="{FF2B5EF4-FFF2-40B4-BE49-F238E27FC236}">
                <a16:creationId xmlns:a16="http://schemas.microsoft.com/office/drawing/2014/main" id="{D69746C8-A439-983B-BCBF-37C78FBCCEF2}"/>
              </a:ext>
            </a:extLst>
          </p:cNvPr>
          <p:cNvSpPr txBox="1">
            <a:spLocks/>
          </p:cNvSpPr>
          <p:nvPr/>
        </p:nvSpPr>
        <p:spPr>
          <a:xfrm>
            <a:off x="12032" y="48132"/>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Unequal variance </a:t>
            </a:r>
            <a:r>
              <a:rPr lang="en-US" sz="5000" b="1" i="1" dirty="0"/>
              <a:t>t</a:t>
            </a:r>
            <a:r>
              <a:rPr lang="en-US" sz="5000" b="1" dirty="0"/>
              <a:t>-test (i.e. Welch’s </a:t>
            </a:r>
            <a:r>
              <a:rPr lang="en-US" sz="5000" b="1" i="1" dirty="0"/>
              <a:t>t</a:t>
            </a:r>
            <a:r>
              <a:rPr lang="en-US" sz="5000" b="1" dirty="0"/>
              <a:t>-test)</a:t>
            </a:r>
          </a:p>
        </p:txBody>
      </p:sp>
      <p:pic>
        <p:nvPicPr>
          <p:cNvPr id="6" name="Picture 5" descr="A math equations with numbers and symbols&#10;&#10;Description automatically generated with medium confidence">
            <a:extLst>
              <a:ext uri="{FF2B5EF4-FFF2-40B4-BE49-F238E27FC236}">
                <a16:creationId xmlns:a16="http://schemas.microsoft.com/office/drawing/2014/main" id="{7B42AA9B-E85C-F52D-261E-EC71E0A91DD6}"/>
              </a:ext>
            </a:extLst>
          </p:cNvPr>
          <p:cNvPicPr>
            <a:picLocks noChangeAspect="1"/>
          </p:cNvPicPr>
          <p:nvPr/>
        </p:nvPicPr>
        <p:blipFill>
          <a:blip r:embed="rId2"/>
          <a:stretch>
            <a:fillRect/>
          </a:stretch>
        </p:blipFill>
        <p:spPr>
          <a:xfrm>
            <a:off x="3043989" y="4577535"/>
            <a:ext cx="2370350" cy="1496178"/>
          </a:xfrm>
          <a:prstGeom prst="rect">
            <a:avLst/>
          </a:prstGeom>
        </p:spPr>
      </p:pic>
      <p:pic>
        <p:nvPicPr>
          <p:cNvPr id="8" name="Picture 7" descr="A math equations with numbers and symbols&#10;&#10;Description automatically generated">
            <a:extLst>
              <a:ext uri="{FF2B5EF4-FFF2-40B4-BE49-F238E27FC236}">
                <a16:creationId xmlns:a16="http://schemas.microsoft.com/office/drawing/2014/main" id="{5ACE6C78-68B5-8076-11B1-89CA11008D41}"/>
              </a:ext>
            </a:extLst>
          </p:cNvPr>
          <p:cNvPicPr>
            <a:picLocks noChangeAspect="1"/>
          </p:cNvPicPr>
          <p:nvPr/>
        </p:nvPicPr>
        <p:blipFill>
          <a:blip r:embed="rId3"/>
          <a:stretch>
            <a:fillRect/>
          </a:stretch>
        </p:blipFill>
        <p:spPr>
          <a:xfrm>
            <a:off x="9181418" y="4680281"/>
            <a:ext cx="2917552" cy="1299414"/>
          </a:xfrm>
          <a:prstGeom prst="rect">
            <a:avLst/>
          </a:prstGeom>
        </p:spPr>
      </p:pic>
      <p:sp>
        <p:nvSpPr>
          <p:cNvPr id="2" name="TextBox 1">
            <a:extLst>
              <a:ext uri="{FF2B5EF4-FFF2-40B4-BE49-F238E27FC236}">
                <a16:creationId xmlns:a16="http://schemas.microsoft.com/office/drawing/2014/main" id="{0ABFAB45-E718-774A-9CED-93A344996E38}"/>
              </a:ext>
            </a:extLst>
          </p:cNvPr>
          <p:cNvSpPr txBox="1"/>
          <p:nvPr/>
        </p:nvSpPr>
        <p:spPr>
          <a:xfrm>
            <a:off x="9095869" y="6292515"/>
            <a:ext cx="2394284" cy="369332"/>
          </a:xfrm>
          <a:prstGeom prst="rect">
            <a:avLst/>
          </a:prstGeom>
          <a:noFill/>
        </p:spPr>
        <p:txBody>
          <a:bodyPr wrap="square" rtlCol="0">
            <a:spAutoFit/>
          </a:bodyPr>
          <a:lstStyle/>
          <a:p>
            <a:r>
              <a:rPr lang="en-US" dirty="0"/>
              <a:t> where 𝜈</a:t>
            </a:r>
            <a:r>
              <a:rPr lang="en-US" baseline="-25000" dirty="0" err="1"/>
              <a:t>i</a:t>
            </a:r>
            <a:r>
              <a:rPr lang="en-US" dirty="0"/>
              <a:t>= </a:t>
            </a:r>
            <a:r>
              <a:rPr lang="en-US" dirty="0" err="1"/>
              <a:t>n</a:t>
            </a:r>
            <a:r>
              <a:rPr lang="en-US" baseline="-25000" dirty="0" err="1"/>
              <a:t>i</a:t>
            </a:r>
            <a:r>
              <a:rPr lang="en-US" dirty="0"/>
              <a:t> - 1, </a:t>
            </a:r>
            <a:r>
              <a:rPr lang="en-US" dirty="0" err="1"/>
              <a:t>i</a:t>
            </a:r>
            <a:r>
              <a:rPr lang="en-US" dirty="0"/>
              <a:t>=1,2</a:t>
            </a:r>
          </a:p>
        </p:txBody>
      </p:sp>
    </p:spTree>
    <p:extLst>
      <p:ext uri="{BB962C8B-B14F-4D97-AF65-F5344CB8AC3E}">
        <p14:creationId xmlns:p14="http://schemas.microsoft.com/office/powerpoint/2010/main" val="401346445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E93E1-BCE8-6A7A-133F-CC7B67F93E01}"/>
              </a:ext>
            </a:extLst>
          </p:cNvPr>
          <p:cNvSpPr txBox="1">
            <a:spLocks/>
          </p:cNvSpPr>
          <p:nvPr/>
        </p:nvSpPr>
        <p:spPr>
          <a:xfrm>
            <a:off x="0" y="24068"/>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Student’s </a:t>
            </a:r>
            <a:r>
              <a:rPr lang="en-US" sz="5000" b="1" i="1" dirty="0"/>
              <a:t>t</a:t>
            </a:r>
            <a:r>
              <a:rPr lang="en-US" sz="5000" b="1" dirty="0"/>
              <a:t>-test and Welch’s </a:t>
            </a:r>
            <a:r>
              <a:rPr lang="en-US" sz="5000" b="1" i="1" dirty="0"/>
              <a:t>t</a:t>
            </a:r>
            <a:r>
              <a:rPr lang="en-US" sz="5000" b="1" dirty="0"/>
              <a:t>-test</a:t>
            </a:r>
          </a:p>
        </p:txBody>
      </p:sp>
      <p:graphicFrame>
        <p:nvGraphicFramePr>
          <p:cNvPr id="3" name="Table 2">
            <a:extLst>
              <a:ext uri="{FF2B5EF4-FFF2-40B4-BE49-F238E27FC236}">
                <a16:creationId xmlns:a16="http://schemas.microsoft.com/office/drawing/2014/main" id="{49EB649A-A2CD-F30F-8352-D44B36F01B83}"/>
              </a:ext>
            </a:extLst>
          </p:cNvPr>
          <p:cNvGraphicFramePr>
            <a:graphicFrameLocks noGrp="1"/>
          </p:cNvGraphicFramePr>
          <p:nvPr>
            <p:extLst>
              <p:ext uri="{D42A27DB-BD31-4B8C-83A1-F6EECF244321}">
                <p14:modId xmlns:p14="http://schemas.microsoft.com/office/powerpoint/2010/main" val="1169789072"/>
              </p:ext>
            </p:extLst>
          </p:nvPr>
        </p:nvGraphicFramePr>
        <p:xfrm>
          <a:off x="1466511" y="1327408"/>
          <a:ext cx="9217534" cy="3657600"/>
        </p:xfrm>
        <a:graphic>
          <a:graphicData uri="http://schemas.openxmlformats.org/drawingml/2006/table">
            <a:tbl>
              <a:tblPr firstRow="1" bandRow="1">
                <a:tableStyleId>{073A0DAA-6AF3-43AB-8588-CEC1D06C72B9}</a:tableStyleId>
              </a:tblPr>
              <a:tblGrid>
                <a:gridCol w="1536256">
                  <a:extLst>
                    <a:ext uri="{9D8B030D-6E8A-4147-A177-3AD203B41FA5}">
                      <a16:colId xmlns:a16="http://schemas.microsoft.com/office/drawing/2014/main" val="2716738663"/>
                    </a:ext>
                  </a:extLst>
                </a:gridCol>
                <a:gridCol w="1536256">
                  <a:extLst>
                    <a:ext uri="{9D8B030D-6E8A-4147-A177-3AD203B41FA5}">
                      <a16:colId xmlns:a16="http://schemas.microsoft.com/office/drawing/2014/main" val="440719729"/>
                    </a:ext>
                  </a:extLst>
                </a:gridCol>
                <a:gridCol w="1536256">
                  <a:extLst>
                    <a:ext uri="{9D8B030D-6E8A-4147-A177-3AD203B41FA5}">
                      <a16:colId xmlns:a16="http://schemas.microsoft.com/office/drawing/2014/main" val="1728228467"/>
                    </a:ext>
                  </a:extLst>
                </a:gridCol>
                <a:gridCol w="1536256">
                  <a:extLst>
                    <a:ext uri="{9D8B030D-6E8A-4147-A177-3AD203B41FA5}">
                      <a16:colId xmlns:a16="http://schemas.microsoft.com/office/drawing/2014/main" val="2937379589"/>
                    </a:ext>
                  </a:extLst>
                </a:gridCol>
                <a:gridCol w="1618752">
                  <a:extLst>
                    <a:ext uri="{9D8B030D-6E8A-4147-A177-3AD203B41FA5}">
                      <a16:colId xmlns:a16="http://schemas.microsoft.com/office/drawing/2014/main" val="3362016496"/>
                    </a:ext>
                  </a:extLst>
                </a:gridCol>
                <a:gridCol w="1453758">
                  <a:extLst>
                    <a:ext uri="{9D8B030D-6E8A-4147-A177-3AD203B41FA5}">
                      <a16:colId xmlns:a16="http://schemas.microsoft.com/office/drawing/2014/main" val="1600895696"/>
                    </a:ext>
                  </a:extLst>
                </a:gridCol>
              </a:tblGrid>
              <a:tr h="370840">
                <a:tc>
                  <a:txBody>
                    <a:bodyPr/>
                    <a:lstStyle/>
                    <a:p>
                      <a:pPr algn="ctr"/>
                      <a:r>
                        <a:rPr lang="en-US" sz="2400" dirty="0">
                          <a:solidFill>
                            <a:schemeClr val="tx1"/>
                          </a:solidFill>
                        </a:rPr>
                        <a:t>n</a:t>
                      </a:r>
                      <a:r>
                        <a:rPr lang="en-US" sz="2400" baseline="-250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sz="2400" dirty="0">
                          <a:solidFill>
                            <a:schemeClr val="tx1"/>
                          </a:solidFill>
                        </a:rPr>
                        <a:t>n</a:t>
                      </a:r>
                      <a:r>
                        <a:rPr lang="en-US" sz="2400" baseline="-2500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sz="2400" dirty="0">
                          <a:solidFill>
                            <a:schemeClr val="tx1"/>
                          </a:solidFill>
                        </a:rPr>
                        <a:t>s</a:t>
                      </a:r>
                      <a:r>
                        <a:rPr lang="en-US" sz="2400" baseline="-250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sz="2400" dirty="0">
                          <a:solidFill>
                            <a:schemeClr val="tx1"/>
                          </a:solidFill>
                        </a:rPr>
                        <a:t>s</a:t>
                      </a:r>
                      <a:r>
                        <a:rPr lang="en-US" sz="2400" baseline="-2500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sz="2400" i="1" dirty="0">
                          <a:solidFill>
                            <a:schemeClr val="tx1"/>
                          </a:solidFill>
                        </a:rPr>
                        <a:t>t</a:t>
                      </a:r>
                      <a:r>
                        <a:rPr lang="en-US" sz="2400" dirty="0">
                          <a:solidFill>
                            <a:schemeClr val="tx1"/>
                          </a:solidFill>
                        </a:rPr>
                        <a:t>-test </a:t>
                      </a:r>
                      <a:r>
                        <a:rPr lang="en-US" sz="2400" baseline="30000" dirty="0">
                          <a:solidFill>
                            <a:schemeClr val="tx1"/>
                          </a:solidFill>
                        </a:rPr>
                        <a:t>⋆</a:t>
                      </a:r>
                      <a:r>
                        <a:rPr lang="en-US" sz="2400" dirty="0">
                          <a:solidFill>
                            <a:schemeClr val="tx1"/>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sz="2400" dirty="0">
                          <a:solidFill>
                            <a:schemeClr val="tx1"/>
                          </a:solidFill>
                        </a:rPr>
                        <a:t>Unequal </a:t>
                      </a:r>
                      <a:r>
                        <a:rPr lang="en-US" sz="2400" baseline="30000" dirty="0">
                          <a:solidFill>
                            <a:schemeClr val="tx1"/>
                          </a:solidFill>
                        </a:rPr>
                        <a:t>⋆</a:t>
                      </a:r>
                      <a:r>
                        <a:rPr lang="en-US" sz="2400" dirty="0">
                          <a:solidFill>
                            <a:schemeClr val="tx1"/>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231297532"/>
                  </a:ext>
                </a:extLst>
              </a:tr>
              <a:tr h="370840">
                <a:tc>
                  <a:txBody>
                    <a:bodyPr/>
                    <a:lstStyle/>
                    <a:p>
                      <a:pPr algn="ctr"/>
                      <a:r>
                        <a:rPr lang="en-US" sz="2400" dirty="0"/>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t>0.052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t>0.051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0262092"/>
                  </a:ext>
                </a:extLst>
              </a:tr>
              <a:tr h="370840">
                <a:tc>
                  <a:txBody>
                    <a:bodyPr/>
                    <a:lstStyle/>
                    <a:p>
                      <a:pPr algn="ctr"/>
                      <a:r>
                        <a:rPr lang="en-US" sz="2400" dirty="0"/>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t>0.064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t>0.054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954170"/>
                  </a:ext>
                </a:extLst>
              </a:tr>
              <a:tr h="370840">
                <a:tc>
                  <a:txBody>
                    <a:bodyPr/>
                    <a:lstStyle/>
                    <a:p>
                      <a:pPr algn="ctr"/>
                      <a:r>
                        <a:rPr lang="en-US" sz="2400" dirty="0"/>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t>0.052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t>0.051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4994198"/>
                  </a:ext>
                </a:extLst>
              </a:tr>
              <a:tr h="370840">
                <a:tc>
                  <a:txBody>
                    <a:bodyPr/>
                    <a:lstStyle/>
                    <a:p>
                      <a:pPr algn="ctr"/>
                      <a:r>
                        <a:rPr lang="en-US" sz="2400" dirty="0">
                          <a:solidFill>
                            <a:srgbClr val="FF0000"/>
                          </a:solidFill>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rgbClr val="FF0000"/>
                          </a:solidFill>
                        </a:rPr>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rgbClr val="FF0000"/>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rgbClr val="FF0000"/>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rgbClr val="FF0000"/>
                          </a:solidFill>
                        </a:rPr>
                        <a:t>0.155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rgbClr val="FF0000"/>
                          </a:solidFill>
                        </a:rPr>
                        <a:t>0.051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71821313"/>
                  </a:ext>
                </a:extLst>
              </a:tr>
              <a:tr h="370840">
                <a:tc>
                  <a:txBody>
                    <a:bodyPr/>
                    <a:lstStyle/>
                    <a:p>
                      <a:pPr algn="ctr"/>
                      <a:r>
                        <a:rPr lang="en-US" sz="2400" dirty="0">
                          <a:solidFill>
                            <a:srgbClr val="FF0000"/>
                          </a:solidFill>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rgbClr val="FF0000"/>
                          </a:solidFill>
                        </a:rPr>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rgbClr val="FF0000"/>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rgbClr val="FF0000"/>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rgbClr val="FF0000"/>
                          </a:solidFill>
                        </a:rPr>
                        <a:t>0.012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rgbClr val="FF0000"/>
                          </a:solidFill>
                        </a:rPr>
                        <a:t>0.046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2248203"/>
                  </a:ext>
                </a:extLst>
              </a:tr>
              <a:tr h="370840">
                <a:tc>
                  <a:txBody>
                    <a:bodyPr/>
                    <a:lstStyle/>
                    <a:p>
                      <a:pPr algn="ctr"/>
                      <a:r>
                        <a:rPr lang="en-US" sz="2400" dirty="0"/>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t>0.049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t>0.049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5979790"/>
                  </a:ext>
                </a:extLst>
              </a:tr>
              <a:tr h="370840">
                <a:tc>
                  <a:txBody>
                    <a:bodyPr/>
                    <a:lstStyle/>
                    <a:p>
                      <a:pPr algn="ctr"/>
                      <a:r>
                        <a:rPr lang="en-US" sz="2400" dirty="0"/>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t>0.052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t>0.048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97928904"/>
                  </a:ext>
                </a:extLst>
              </a:tr>
            </a:tbl>
          </a:graphicData>
        </a:graphic>
      </p:graphicFrame>
      <p:sp>
        <p:nvSpPr>
          <p:cNvPr id="6" name="TextBox 5">
            <a:extLst>
              <a:ext uri="{FF2B5EF4-FFF2-40B4-BE49-F238E27FC236}">
                <a16:creationId xmlns:a16="http://schemas.microsoft.com/office/drawing/2014/main" id="{2EAF7E45-CA53-E8E0-FABB-BD3CAE6E1A6D}"/>
              </a:ext>
            </a:extLst>
          </p:cNvPr>
          <p:cNvSpPr txBox="1"/>
          <p:nvPr/>
        </p:nvSpPr>
        <p:spPr>
          <a:xfrm>
            <a:off x="219575" y="5397853"/>
            <a:ext cx="11475119" cy="1200329"/>
          </a:xfrm>
          <a:prstGeom prst="rect">
            <a:avLst/>
          </a:prstGeom>
          <a:noFill/>
        </p:spPr>
        <p:txBody>
          <a:bodyPr wrap="square">
            <a:spAutoFit/>
          </a:bodyPr>
          <a:lstStyle/>
          <a:p>
            <a:pPr algn="ctr"/>
            <a:r>
              <a:rPr lang="en-GB" sz="2400" dirty="0">
                <a:effectLst/>
              </a:rPr>
              <a:t>When </a:t>
            </a:r>
            <a:r>
              <a:rPr lang="en-GB" sz="2400" b="1" dirty="0">
                <a:solidFill>
                  <a:srgbClr val="FF0000"/>
                </a:solidFill>
                <a:effectLst/>
              </a:rPr>
              <a:t>sample sizes are unequal</a:t>
            </a:r>
            <a:r>
              <a:rPr lang="en-GB" sz="2400" dirty="0">
                <a:effectLst/>
              </a:rPr>
              <a:t>, the Type I error probabilities of the Student’s </a:t>
            </a:r>
            <a:r>
              <a:rPr lang="en-GB" sz="2400" i="1" dirty="0">
                <a:effectLst/>
              </a:rPr>
              <a:t>t</a:t>
            </a:r>
            <a:r>
              <a:rPr lang="en-GB" sz="2400" dirty="0">
                <a:effectLst/>
              </a:rPr>
              <a:t>-test is decidedly influenced by unequal variances. Similar results have been found for type II error probabilities and statistical power. </a:t>
            </a:r>
          </a:p>
        </p:txBody>
      </p:sp>
      <p:sp>
        <p:nvSpPr>
          <p:cNvPr id="7" name="TextBox 6">
            <a:extLst>
              <a:ext uri="{FF2B5EF4-FFF2-40B4-BE49-F238E27FC236}">
                <a16:creationId xmlns:a16="http://schemas.microsoft.com/office/drawing/2014/main" id="{F84249BB-DBCD-AF4C-2482-0169A3941CF4}"/>
              </a:ext>
            </a:extLst>
          </p:cNvPr>
          <p:cNvSpPr txBox="1"/>
          <p:nvPr/>
        </p:nvSpPr>
        <p:spPr>
          <a:xfrm>
            <a:off x="1239239" y="4993468"/>
            <a:ext cx="9769650" cy="392415"/>
          </a:xfrm>
          <a:prstGeom prst="rect">
            <a:avLst/>
          </a:prstGeom>
          <a:noFill/>
        </p:spPr>
        <p:txBody>
          <a:bodyPr wrap="square" rtlCol="0">
            <a:spAutoFit/>
          </a:bodyPr>
          <a:lstStyle/>
          <a:p>
            <a:pPr algn="ctr"/>
            <a:r>
              <a:rPr lang="en-US" sz="1950" baseline="30000" dirty="0">
                <a:solidFill>
                  <a:schemeClr val="tx1"/>
                </a:solidFill>
              </a:rPr>
              <a:t>⋆  </a:t>
            </a:r>
            <a:r>
              <a:rPr lang="en-US" sz="1950" dirty="0"/>
              <a:t>Type I error rate for the </a:t>
            </a:r>
            <a:r>
              <a:rPr lang="en-US" sz="1950" i="1" dirty="0"/>
              <a:t>t</a:t>
            </a:r>
            <a:r>
              <a:rPr lang="en-US" sz="1950" dirty="0"/>
              <a:t>-test and unequal variance </a:t>
            </a:r>
            <a:r>
              <a:rPr lang="en-US" sz="1950" i="1" dirty="0"/>
              <a:t>t</a:t>
            </a:r>
            <a:r>
              <a:rPr lang="en-US" sz="1950" dirty="0"/>
              <a:t>-test with nominal type I error of 0.05</a:t>
            </a:r>
          </a:p>
        </p:txBody>
      </p:sp>
      <p:sp>
        <p:nvSpPr>
          <p:cNvPr id="4" name="TextBox 3">
            <a:extLst>
              <a:ext uri="{FF2B5EF4-FFF2-40B4-BE49-F238E27FC236}">
                <a16:creationId xmlns:a16="http://schemas.microsoft.com/office/drawing/2014/main" id="{66D6DCDB-70DB-6370-5538-744C9AC062DD}"/>
              </a:ext>
            </a:extLst>
          </p:cNvPr>
          <p:cNvSpPr txBox="1"/>
          <p:nvPr/>
        </p:nvSpPr>
        <p:spPr>
          <a:xfrm>
            <a:off x="9883943" y="149400"/>
            <a:ext cx="2171700" cy="892552"/>
          </a:xfrm>
          <a:prstGeom prst="rect">
            <a:avLst/>
          </a:prstGeom>
          <a:solidFill>
            <a:schemeClr val="accent4">
              <a:lumMod val="40000"/>
              <a:lumOff val="60000"/>
            </a:schemeClr>
          </a:solidFill>
          <a:ln>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p:spPr>
        <p:txBody>
          <a:bodyPr wrap="square" rtlCol="0">
            <a:spAutoFit/>
          </a:bodyPr>
          <a:lstStyle/>
          <a:p>
            <a:pPr algn="ctr"/>
            <a:r>
              <a:rPr lang="en-US" sz="2600" dirty="0">
                <a:solidFill>
                  <a:srgbClr val="FF0000"/>
                </a:solidFill>
                <a:latin typeface="American Typewriter" panose="02090604020004020304" pitchFamily="18" charset="77"/>
              </a:rPr>
              <a:t>Additional slide</a:t>
            </a:r>
          </a:p>
        </p:txBody>
      </p:sp>
    </p:spTree>
    <p:extLst>
      <p:ext uri="{BB962C8B-B14F-4D97-AF65-F5344CB8AC3E}">
        <p14:creationId xmlns:p14="http://schemas.microsoft.com/office/powerpoint/2010/main" val="276958773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E93E1-BCE8-6A7A-133F-CC7B67F93E01}"/>
              </a:ext>
            </a:extLst>
          </p:cNvPr>
          <p:cNvSpPr txBox="1">
            <a:spLocks/>
          </p:cNvSpPr>
          <p:nvPr/>
        </p:nvSpPr>
        <p:spPr>
          <a:xfrm>
            <a:off x="0" y="24068"/>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Take home message</a:t>
            </a:r>
          </a:p>
        </p:txBody>
      </p:sp>
      <p:sp>
        <p:nvSpPr>
          <p:cNvPr id="5" name="TextBox 4">
            <a:extLst>
              <a:ext uri="{FF2B5EF4-FFF2-40B4-BE49-F238E27FC236}">
                <a16:creationId xmlns:a16="http://schemas.microsoft.com/office/drawing/2014/main" id="{CFF403EB-68CD-F9B5-8305-91D20BA493B0}"/>
              </a:ext>
            </a:extLst>
          </p:cNvPr>
          <p:cNvSpPr txBox="1"/>
          <p:nvPr/>
        </p:nvSpPr>
        <p:spPr>
          <a:xfrm>
            <a:off x="135352" y="1150157"/>
            <a:ext cx="11655592" cy="4524315"/>
          </a:xfrm>
          <a:prstGeom prst="rect">
            <a:avLst/>
          </a:prstGeom>
          <a:noFill/>
        </p:spPr>
        <p:txBody>
          <a:bodyPr wrap="square">
            <a:spAutoFit/>
          </a:bodyPr>
          <a:lstStyle/>
          <a:p>
            <a:pPr marL="457200" indent="-457200">
              <a:buFont typeface="Arial" panose="020B0604020202020204" pitchFamily="34" charset="0"/>
              <a:buChar char="•"/>
            </a:pPr>
            <a:r>
              <a:rPr lang="en-GB" sz="3200" b="0" i="0" u="none" strike="noStrike" dirty="0">
                <a:solidFill>
                  <a:srgbClr val="202122"/>
                </a:solidFill>
                <a:effectLst/>
              </a:rPr>
              <a:t>Student's </a:t>
            </a:r>
            <a:r>
              <a:rPr lang="en-GB" sz="3200" b="0" i="1" u="none" strike="noStrike" dirty="0">
                <a:solidFill>
                  <a:srgbClr val="202122"/>
                </a:solidFill>
                <a:effectLst/>
              </a:rPr>
              <a:t>t</a:t>
            </a:r>
            <a:r>
              <a:rPr lang="en-GB" sz="3200" b="0" i="0" u="none" strike="noStrike" dirty="0">
                <a:solidFill>
                  <a:srgbClr val="202122"/>
                </a:solidFill>
                <a:effectLst/>
              </a:rPr>
              <a:t>-test is robust under violation of homogeneity of variance provided sample sizes are equal.</a:t>
            </a:r>
          </a:p>
          <a:p>
            <a:endParaRPr lang="en-GB" sz="3200" b="0" i="0" u="none" strike="noStrike" dirty="0">
              <a:solidFill>
                <a:srgbClr val="202122"/>
              </a:solidFill>
              <a:effectLst/>
            </a:endParaRPr>
          </a:p>
          <a:p>
            <a:pPr marL="457200" indent="-457200">
              <a:buFont typeface="Arial" panose="020B0604020202020204" pitchFamily="34" charset="0"/>
              <a:buChar char="•"/>
            </a:pPr>
            <a:r>
              <a:rPr lang="en-GB" sz="3200" dirty="0">
                <a:solidFill>
                  <a:srgbClr val="202122"/>
                </a:solidFill>
              </a:rPr>
              <a:t>When sample size are unequal the type I error, type II error and statistical power of the Student’s </a:t>
            </a:r>
            <a:r>
              <a:rPr lang="en-GB" sz="3200" i="1" dirty="0">
                <a:solidFill>
                  <a:srgbClr val="202122"/>
                </a:solidFill>
              </a:rPr>
              <a:t>t</a:t>
            </a:r>
            <a:r>
              <a:rPr lang="en-GB" sz="3200" dirty="0">
                <a:solidFill>
                  <a:srgbClr val="202122"/>
                </a:solidFill>
              </a:rPr>
              <a:t>-test are decidedly influenced by unequal variances.</a:t>
            </a:r>
          </a:p>
          <a:p>
            <a:pPr marL="457200" indent="-457200">
              <a:buFont typeface="Arial" panose="020B0604020202020204" pitchFamily="34" charset="0"/>
              <a:buChar char="•"/>
            </a:pPr>
            <a:endParaRPr lang="en-GB" sz="3200" b="0" i="0" u="none" strike="noStrike" dirty="0">
              <a:solidFill>
                <a:srgbClr val="202122"/>
              </a:solidFill>
              <a:effectLst/>
            </a:endParaRPr>
          </a:p>
          <a:p>
            <a:pPr marL="457200" indent="-457200">
              <a:buFont typeface="Arial" panose="020B0604020202020204" pitchFamily="34" charset="0"/>
              <a:buChar char="•"/>
            </a:pPr>
            <a:r>
              <a:rPr lang="en-GB" sz="3200" b="0" i="0" u="none" strike="noStrike" dirty="0">
                <a:solidFill>
                  <a:srgbClr val="202122"/>
                </a:solidFill>
                <a:effectLst/>
              </a:rPr>
              <a:t>Even</a:t>
            </a:r>
            <a:r>
              <a:rPr lang="en-GB" sz="3200" dirty="0">
                <a:solidFill>
                  <a:srgbClr val="202122"/>
                </a:solidFill>
              </a:rPr>
              <a:t> when the variances are identical, the Welch’s </a:t>
            </a:r>
            <a:r>
              <a:rPr lang="en-GB" sz="3200" i="1" dirty="0">
                <a:solidFill>
                  <a:srgbClr val="202122"/>
                </a:solidFill>
              </a:rPr>
              <a:t>t</a:t>
            </a:r>
            <a:r>
              <a:rPr lang="en-GB" sz="3200" dirty="0">
                <a:solidFill>
                  <a:srgbClr val="202122"/>
                </a:solidFill>
              </a:rPr>
              <a:t>-test performs well in terms of type I error, type II error and statistical power.</a:t>
            </a:r>
            <a:endParaRPr lang="en-GB" sz="3200" b="0" i="0" u="none" strike="noStrike" dirty="0">
              <a:effectLst/>
            </a:endParaRPr>
          </a:p>
        </p:txBody>
      </p:sp>
      <p:sp>
        <p:nvSpPr>
          <p:cNvPr id="3" name="TextBox 2">
            <a:extLst>
              <a:ext uri="{FF2B5EF4-FFF2-40B4-BE49-F238E27FC236}">
                <a16:creationId xmlns:a16="http://schemas.microsoft.com/office/drawing/2014/main" id="{56B99F27-EE92-2AA0-2A27-16C13D4DAF44}"/>
              </a:ext>
            </a:extLst>
          </p:cNvPr>
          <p:cNvSpPr txBox="1"/>
          <p:nvPr/>
        </p:nvSpPr>
        <p:spPr>
          <a:xfrm>
            <a:off x="9883943" y="149400"/>
            <a:ext cx="2171700" cy="892552"/>
          </a:xfrm>
          <a:prstGeom prst="rect">
            <a:avLst/>
          </a:prstGeom>
          <a:solidFill>
            <a:schemeClr val="accent4">
              <a:lumMod val="40000"/>
              <a:lumOff val="60000"/>
            </a:schemeClr>
          </a:solidFill>
          <a:ln>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p:spPr>
        <p:txBody>
          <a:bodyPr wrap="square" rtlCol="0">
            <a:spAutoFit/>
          </a:bodyPr>
          <a:lstStyle/>
          <a:p>
            <a:pPr algn="ctr"/>
            <a:r>
              <a:rPr lang="en-US" sz="2600" dirty="0">
                <a:solidFill>
                  <a:srgbClr val="FF0000"/>
                </a:solidFill>
                <a:latin typeface="American Typewriter" panose="02090604020004020304" pitchFamily="18" charset="77"/>
              </a:rPr>
              <a:t>Additional slide</a:t>
            </a:r>
          </a:p>
        </p:txBody>
      </p:sp>
    </p:spTree>
    <p:extLst>
      <p:ext uri="{BB962C8B-B14F-4D97-AF65-F5344CB8AC3E}">
        <p14:creationId xmlns:p14="http://schemas.microsoft.com/office/powerpoint/2010/main" val="424003868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E93E1-BCE8-6A7A-133F-CC7B67F93E01}"/>
              </a:ext>
            </a:extLst>
          </p:cNvPr>
          <p:cNvSpPr txBox="1">
            <a:spLocks/>
          </p:cNvSpPr>
          <p:nvPr/>
        </p:nvSpPr>
        <p:spPr>
          <a:xfrm>
            <a:off x="0" y="24068"/>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Take home message</a:t>
            </a:r>
          </a:p>
        </p:txBody>
      </p:sp>
      <p:sp>
        <p:nvSpPr>
          <p:cNvPr id="5" name="TextBox 4">
            <a:extLst>
              <a:ext uri="{FF2B5EF4-FFF2-40B4-BE49-F238E27FC236}">
                <a16:creationId xmlns:a16="http://schemas.microsoft.com/office/drawing/2014/main" id="{CFF403EB-68CD-F9B5-8305-91D20BA493B0}"/>
              </a:ext>
            </a:extLst>
          </p:cNvPr>
          <p:cNvSpPr txBox="1"/>
          <p:nvPr/>
        </p:nvSpPr>
        <p:spPr>
          <a:xfrm>
            <a:off x="135352" y="1185393"/>
            <a:ext cx="11655592" cy="4524315"/>
          </a:xfrm>
          <a:prstGeom prst="rect">
            <a:avLst/>
          </a:prstGeom>
          <a:noFill/>
        </p:spPr>
        <p:txBody>
          <a:bodyPr wrap="square">
            <a:spAutoFit/>
          </a:bodyPr>
          <a:lstStyle/>
          <a:p>
            <a:pPr marL="457200" indent="-457200">
              <a:buFont typeface="Arial" panose="020B0604020202020204" pitchFamily="34" charset="0"/>
              <a:buChar char="•"/>
            </a:pPr>
            <a:r>
              <a:rPr lang="en-GB" sz="3200" b="0" i="0" u="none" strike="noStrike" dirty="0">
                <a:solidFill>
                  <a:srgbClr val="202122"/>
                </a:solidFill>
                <a:effectLst/>
              </a:rPr>
              <a:t>Unless an argument based on logical, physical, or biological grounds can be made as to why the variances are very likely to be identical for the two populations, the Welch’s </a:t>
            </a:r>
            <a:r>
              <a:rPr lang="en-GB" sz="3200" b="0" i="1" u="none" strike="noStrike" dirty="0">
                <a:solidFill>
                  <a:srgbClr val="202122"/>
                </a:solidFill>
                <a:effectLst/>
              </a:rPr>
              <a:t>t</a:t>
            </a:r>
            <a:r>
              <a:rPr lang="en-GB" sz="3200" b="0" i="0" u="none" strike="noStrike" dirty="0">
                <a:solidFill>
                  <a:srgbClr val="202122"/>
                </a:solidFill>
                <a:effectLst/>
              </a:rPr>
              <a:t>-test should be applied.</a:t>
            </a:r>
          </a:p>
          <a:p>
            <a:r>
              <a:rPr lang="en-GB" sz="3200" dirty="0">
                <a:solidFill>
                  <a:srgbClr val="202122"/>
                </a:solidFill>
              </a:rPr>
              <a:t>    </a:t>
            </a:r>
            <a:endParaRPr lang="en-GB" sz="3200" b="0" i="0" u="none" strike="noStrike" dirty="0">
              <a:solidFill>
                <a:srgbClr val="202122"/>
              </a:solidFill>
              <a:effectLst/>
            </a:endParaRPr>
          </a:p>
          <a:p>
            <a:pPr marL="457200" indent="-457200">
              <a:buFont typeface="Arial" panose="020B0604020202020204" pitchFamily="34" charset="0"/>
              <a:buChar char="•"/>
            </a:pPr>
            <a:r>
              <a:rPr lang="en-GB" sz="3200" b="0" i="0" u="none" strike="noStrike" dirty="0">
                <a:solidFill>
                  <a:srgbClr val="202122"/>
                </a:solidFill>
                <a:effectLst/>
              </a:rPr>
              <a:t>It is </a:t>
            </a:r>
            <a:r>
              <a:rPr lang="en-GB" sz="3200" b="0" i="1" u="none" strike="noStrike" dirty="0">
                <a:solidFill>
                  <a:srgbClr val="202122"/>
                </a:solidFill>
                <a:effectLst/>
              </a:rPr>
              <a:t>not recommended</a:t>
            </a:r>
            <a:r>
              <a:rPr lang="en-GB" sz="3200" b="0" i="0" u="none" strike="noStrike" dirty="0">
                <a:solidFill>
                  <a:srgbClr val="202122"/>
                </a:solidFill>
                <a:effectLst/>
              </a:rPr>
              <a:t> to pre-test for equal variances and then choose between Student's </a:t>
            </a:r>
            <a:r>
              <a:rPr lang="en-GB" sz="3200" b="0" i="1" u="none" strike="noStrike" dirty="0">
                <a:solidFill>
                  <a:srgbClr val="202122"/>
                </a:solidFill>
                <a:effectLst/>
              </a:rPr>
              <a:t>t</a:t>
            </a:r>
            <a:r>
              <a:rPr lang="en-GB" sz="3200" b="0" i="0" u="none" strike="noStrike" dirty="0">
                <a:solidFill>
                  <a:srgbClr val="202122"/>
                </a:solidFill>
                <a:effectLst/>
              </a:rPr>
              <a:t>-test or Welch's </a:t>
            </a:r>
            <a:r>
              <a:rPr lang="en-GB" sz="3200" b="0" i="1" u="none" strike="noStrike" dirty="0">
                <a:solidFill>
                  <a:srgbClr val="202122"/>
                </a:solidFill>
                <a:effectLst/>
              </a:rPr>
              <a:t>t</a:t>
            </a:r>
            <a:r>
              <a:rPr lang="en-GB" sz="3200" b="0" i="0" u="none" strike="noStrike" dirty="0">
                <a:solidFill>
                  <a:srgbClr val="202122"/>
                </a:solidFill>
                <a:effectLst/>
              </a:rPr>
              <a:t>-test </a:t>
            </a:r>
            <a:r>
              <a:rPr lang="en-US" sz="3200" baseline="30000" dirty="0">
                <a:solidFill>
                  <a:schemeClr val="tx1"/>
                </a:solidFill>
              </a:rPr>
              <a:t>⋆ </a:t>
            </a:r>
            <a:r>
              <a:rPr lang="en-GB" sz="3200" b="0" i="0" u="none" strike="noStrike" dirty="0">
                <a:solidFill>
                  <a:srgbClr val="202122"/>
                </a:solidFill>
                <a:effectLst/>
              </a:rPr>
              <a:t>. </a:t>
            </a:r>
          </a:p>
          <a:p>
            <a:r>
              <a:rPr lang="en-GB" sz="3200" dirty="0">
                <a:solidFill>
                  <a:srgbClr val="202122"/>
                </a:solidFill>
              </a:rPr>
              <a:t>     G</a:t>
            </a:r>
            <a:r>
              <a:rPr lang="en-GB" sz="3200" b="0" i="0" u="none" strike="noStrike" dirty="0">
                <a:solidFill>
                  <a:srgbClr val="202122"/>
                </a:solidFill>
                <a:effectLst/>
              </a:rPr>
              <a:t>raphical display is </a:t>
            </a:r>
            <a:r>
              <a:rPr lang="en-GB" sz="3200" b="0" i="1" u="none" strike="noStrike" dirty="0">
                <a:solidFill>
                  <a:srgbClr val="202122"/>
                </a:solidFill>
                <a:effectLst/>
              </a:rPr>
              <a:t>recommended</a:t>
            </a:r>
            <a:r>
              <a:rPr lang="en-GB" sz="3200" b="0" i="0" u="none" strike="noStrike" dirty="0">
                <a:solidFill>
                  <a:srgbClr val="202122"/>
                </a:solidFill>
                <a:effectLst/>
              </a:rPr>
              <a:t> to qualitatively evaluate the</a:t>
            </a:r>
          </a:p>
          <a:p>
            <a:r>
              <a:rPr lang="en-GB" sz="3200" dirty="0">
                <a:solidFill>
                  <a:srgbClr val="202122"/>
                </a:solidFill>
              </a:rPr>
              <a:t>     </a:t>
            </a:r>
            <a:r>
              <a:rPr lang="en-GB" sz="3200" b="0" i="0" u="none" strike="noStrike" dirty="0">
                <a:solidFill>
                  <a:srgbClr val="202122"/>
                </a:solidFill>
                <a:effectLst/>
              </a:rPr>
              <a:t>difference between sample variances.</a:t>
            </a:r>
          </a:p>
        </p:txBody>
      </p:sp>
      <p:sp>
        <p:nvSpPr>
          <p:cNvPr id="4" name="TextBox 3">
            <a:extLst>
              <a:ext uri="{FF2B5EF4-FFF2-40B4-BE49-F238E27FC236}">
                <a16:creationId xmlns:a16="http://schemas.microsoft.com/office/drawing/2014/main" id="{719B247E-54AA-CB81-CD84-239066662DB8}"/>
              </a:ext>
            </a:extLst>
          </p:cNvPr>
          <p:cNvSpPr txBox="1"/>
          <p:nvPr/>
        </p:nvSpPr>
        <p:spPr>
          <a:xfrm>
            <a:off x="142878" y="6173313"/>
            <a:ext cx="11893178" cy="661720"/>
          </a:xfrm>
          <a:prstGeom prst="rect">
            <a:avLst/>
          </a:prstGeom>
          <a:noFill/>
        </p:spPr>
        <p:txBody>
          <a:bodyPr wrap="square">
            <a:spAutoFit/>
          </a:bodyPr>
          <a:lstStyle/>
          <a:p>
            <a:pPr algn="just"/>
            <a:r>
              <a:rPr lang="en-US" sz="1850" baseline="30000" dirty="0">
                <a:solidFill>
                  <a:schemeClr val="tx1"/>
                </a:solidFill>
              </a:rPr>
              <a:t>⋆  </a:t>
            </a:r>
            <a:r>
              <a:rPr lang="en-GB" sz="1850" b="0" i="0" u="none" strike="noStrike" dirty="0">
                <a:solidFill>
                  <a:srgbClr val="212121"/>
                </a:solidFill>
                <a:effectLst/>
              </a:rPr>
              <a:t>Zimmerman DW. A note on preliminary tests of equality of variances. Br J Math Stat Psychol. 2004 May;57(Pt 1):173-81. </a:t>
            </a:r>
            <a:r>
              <a:rPr lang="en-GB" sz="1850" b="0" i="0" u="none" strike="noStrike" dirty="0" err="1">
                <a:solidFill>
                  <a:srgbClr val="212121"/>
                </a:solidFill>
                <a:effectLst/>
              </a:rPr>
              <a:t>doi</a:t>
            </a:r>
            <a:r>
              <a:rPr lang="en-GB" sz="1850" b="0" i="0" u="none" strike="noStrike" dirty="0">
                <a:solidFill>
                  <a:srgbClr val="212121"/>
                </a:solidFill>
                <a:effectLst/>
              </a:rPr>
              <a:t>: 10.1348/000711004849222. PMID: 15171807</a:t>
            </a:r>
            <a:endParaRPr lang="en-US" sz="1850" dirty="0"/>
          </a:p>
        </p:txBody>
      </p:sp>
      <p:sp>
        <p:nvSpPr>
          <p:cNvPr id="3" name="TextBox 2">
            <a:extLst>
              <a:ext uri="{FF2B5EF4-FFF2-40B4-BE49-F238E27FC236}">
                <a16:creationId xmlns:a16="http://schemas.microsoft.com/office/drawing/2014/main" id="{4DE4E2D0-5AD4-3714-56E0-23009A42B911}"/>
              </a:ext>
            </a:extLst>
          </p:cNvPr>
          <p:cNvSpPr txBox="1"/>
          <p:nvPr/>
        </p:nvSpPr>
        <p:spPr>
          <a:xfrm>
            <a:off x="9883943" y="149400"/>
            <a:ext cx="2171700" cy="892552"/>
          </a:xfrm>
          <a:prstGeom prst="rect">
            <a:avLst/>
          </a:prstGeom>
          <a:solidFill>
            <a:schemeClr val="accent4">
              <a:lumMod val="40000"/>
              <a:lumOff val="60000"/>
            </a:schemeClr>
          </a:solidFill>
          <a:ln>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p:spPr>
        <p:txBody>
          <a:bodyPr wrap="square" rtlCol="0">
            <a:spAutoFit/>
          </a:bodyPr>
          <a:lstStyle/>
          <a:p>
            <a:pPr algn="ctr"/>
            <a:r>
              <a:rPr lang="en-US" sz="2600" dirty="0">
                <a:solidFill>
                  <a:srgbClr val="FF0000"/>
                </a:solidFill>
                <a:latin typeface="American Typewriter" panose="02090604020004020304" pitchFamily="18" charset="77"/>
              </a:rPr>
              <a:t>Additional slide</a:t>
            </a:r>
          </a:p>
        </p:txBody>
      </p:sp>
    </p:spTree>
    <p:extLst>
      <p:ext uri="{BB962C8B-B14F-4D97-AF65-F5344CB8AC3E}">
        <p14:creationId xmlns:p14="http://schemas.microsoft.com/office/powerpoint/2010/main" val="340298145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5E40AA9-2C1F-2798-4CD7-5D8544F434BC}"/>
              </a:ext>
            </a:extLst>
          </p:cNvPr>
          <p:cNvSpPr txBox="1"/>
          <p:nvPr/>
        </p:nvSpPr>
        <p:spPr>
          <a:xfrm>
            <a:off x="5297762" y="640080"/>
            <a:ext cx="6251110" cy="3566160"/>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400" dirty="0">
                <a:latin typeface="Arial" panose="020B0604020202020204" pitchFamily="34" charset="0"/>
                <a:ea typeface="+mj-ea"/>
                <a:cs typeface="Arial" panose="020B0604020202020204" pitchFamily="34" charset="0"/>
              </a:rPr>
              <a:t>If the assumption of normality of the underlying populations is violated?</a:t>
            </a:r>
          </a:p>
        </p:txBody>
      </p:sp>
      <p:pic>
        <p:nvPicPr>
          <p:cNvPr id="5" name="Picture 4" descr="A white character with a red question mark&#10;&#10;Description automatically generated">
            <a:extLst>
              <a:ext uri="{FF2B5EF4-FFF2-40B4-BE49-F238E27FC236}">
                <a16:creationId xmlns:a16="http://schemas.microsoft.com/office/drawing/2014/main" id="{B6F5AB73-98F9-31D3-4E9E-841CD6F46289}"/>
              </a:ext>
            </a:extLst>
          </p:cNvPr>
          <p:cNvPicPr>
            <a:picLocks noChangeAspect="1"/>
          </p:cNvPicPr>
          <p:nvPr/>
        </p:nvPicPr>
        <p:blipFill rotWithShape="1">
          <a:blip r:embed="rId2"/>
          <a:srcRect l="23589" r="8500"/>
          <a:stretch/>
        </p:blipFill>
        <p:spPr>
          <a:xfrm>
            <a:off x="57153"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2"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2862" y="4409267"/>
            <a:ext cx="4243589" cy="18288"/>
          </a:xfrm>
          <a:custGeom>
            <a:avLst/>
            <a:gdLst>
              <a:gd name="connsiteX0" fmla="*/ 0 w 4243589"/>
              <a:gd name="connsiteY0" fmla="*/ 0 h 18288"/>
              <a:gd name="connsiteX1" fmla="*/ 563791 w 4243589"/>
              <a:gd name="connsiteY1" fmla="*/ 0 h 18288"/>
              <a:gd name="connsiteX2" fmla="*/ 1042710 w 4243589"/>
              <a:gd name="connsiteY2" fmla="*/ 0 h 18288"/>
              <a:gd name="connsiteX3" fmla="*/ 1564066 w 4243589"/>
              <a:gd name="connsiteY3" fmla="*/ 0 h 18288"/>
              <a:gd name="connsiteX4" fmla="*/ 2212729 w 4243589"/>
              <a:gd name="connsiteY4" fmla="*/ 0 h 18288"/>
              <a:gd name="connsiteX5" fmla="*/ 2776520 w 4243589"/>
              <a:gd name="connsiteY5" fmla="*/ 0 h 18288"/>
              <a:gd name="connsiteX6" fmla="*/ 3297875 w 4243589"/>
              <a:gd name="connsiteY6" fmla="*/ 0 h 18288"/>
              <a:gd name="connsiteX7" fmla="*/ 4243589 w 4243589"/>
              <a:gd name="connsiteY7" fmla="*/ 0 h 18288"/>
              <a:gd name="connsiteX8" fmla="*/ 4243589 w 4243589"/>
              <a:gd name="connsiteY8" fmla="*/ 18288 h 18288"/>
              <a:gd name="connsiteX9" fmla="*/ 3637362 w 4243589"/>
              <a:gd name="connsiteY9" fmla="*/ 18288 h 18288"/>
              <a:gd name="connsiteX10" fmla="*/ 3116007 w 4243589"/>
              <a:gd name="connsiteY10" fmla="*/ 18288 h 18288"/>
              <a:gd name="connsiteX11" fmla="*/ 2424908 w 4243589"/>
              <a:gd name="connsiteY11" fmla="*/ 18288 h 18288"/>
              <a:gd name="connsiteX12" fmla="*/ 1861117 w 4243589"/>
              <a:gd name="connsiteY12" fmla="*/ 18288 h 18288"/>
              <a:gd name="connsiteX13" fmla="*/ 1382198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9628915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FBE66BC-24D8-5345-0B6F-BC9D325BE5E6}"/>
              </a:ext>
            </a:extLst>
          </p:cNvPr>
          <p:cNvSpPr txBox="1"/>
          <p:nvPr/>
        </p:nvSpPr>
        <p:spPr>
          <a:xfrm>
            <a:off x="156401" y="1010651"/>
            <a:ext cx="11923304" cy="5570756"/>
          </a:xfrm>
          <a:prstGeom prst="rect">
            <a:avLst/>
          </a:prstGeom>
          <a:noFill/>
        </p:spPr>
        <p:txBody>
          <a:bodyPr wrap="square" rtlCol="0">
            <a:spAutoFit/>
          </a:bodyPr>
          <a:lstStyle/>
          <a:p>
            <a:r>
              <a:rPr lang="en-US" sz="2800" b="1" dirty="0"/>
              <a:t>Assumptions: </a:t>
            </a:r>
            <a:r>
              <a:rPr lang="en-US" sz="2800" dirty="0"/>
              <a:t>	1. data are ordinal or continuous</a:t>
            </a:r>
          </a:p>
          <a:p>
            <a:r>
              <a:rPr lang="en-US" sz="2800" dirty="0"/>
              <a:t>			2. random sampling from the two populations</a:t>
            </a:r>
          </a:p>
          <a:p>
            <a:r>
              <a:rPr lang="en-US" sz="2800" dirty="0"/>
              <a:t>			3. independent observations x</a:t>
            </a:r>
            <a:r>
              <a:rPr lang="en-US" sz="2800" baseline="-25000" dirty="0"/>
              <a:t>i</a:t>
            </a:r>
            <a:r>
              <a:rPr lang="en-US" sz="2800" dirty="0"/>
              <a:t>, </a:t>
            </a:r>
            <a:r>
              <a:rPr lang="en-US" sz="2800" dirty="0" err="1"/>
              <a:t>i</a:t>
            </a:r>
            <a:r>
              <a:rPr lang="en-US" sz="2800" dirty="0"/>
              <a:t>=1,…,n</a:t>
            </a:r>
            <a:r>
              <a:rPr lang="en-US" sz="2800" baseline="-25000" dirty="0"/>
              <a:t>1</a:t>
            </a:r>
            <a:r>
              <a:rPr lang="en-US" sz="2800" dirty="0"/>
              <a:t> and </a:t>
            </a:r>
            <a:r>
              <a:rPr lang="en-US" sz="2800" dirty="0" err="1"/>
              <a:t>y</a:t>
            </a:r>
            <a:r>
              <a:rPr lang="en-US" sz="2800" baseline="-25000" dirty="0" err="1"/>
              <a:t>j</a:t>
            </a:r>
            <a:r>
              <a:rPr lang="en-US" sz="2800" dirty="0"/>
              <a:t>, j=1,...,n</a:t>
            </a:r>
            <a:r>
              <a:rPr lang="en-US" sz="2800" baseline="-25000" dirty="0"/>
              <a:t>2</a:t>
            </a:r>
            <a:r>
              <a:rPr lang="en-US" sz="2800" dirty="0"/>
              <a:t> </a:t>
            </a:r>
          </a:p>
          <a:p>
            <a:endParaRPr lang="en-US" sz="2800" b="1" dirty="0"/>
          </a:p>
          <a:p>
            <a:r>
              <a:rPr lang="en-US" sz="2800" b="1" dirty="0"/>
              <a:t>Hypotheses to test: </a:t>
            </a:r>
            <a:r>
              <a:rPr lang="en-US" sz="2800" dirty="0"/>
              <a:t>			</a:t>
            </a:r>
          </a:p>
          <a:p>
            <a:r>
              <a:rPr lang="en-US" sz="2800" dirty="0"/>
              <a:t>H</a:t>
            </a:r>
            <a:r>
              <a:rPr lang="en-US" sz="2800" baseline="-25000" dirty="0"/>
              <a:t>0</a:t>
            </a:r>
            <a:r>
              <a:rPr lang="en-US" sz="2800" dirty="0"/>
              <a:t>: 	the population distributions are the same (G=F).</a:t>
            </a:r>
            <a:endParaRPr lang="en-US" sz="2800" baseline="-25000" dirty="0"/>
          </a:p>
          <a:p>
            <a:r>
              <a:rPr lang="en-US" sz="2800" dirty="0"/>
              <a:t>H</a:t>
            </a:r>
            <a:r>
              <a:rPr lang="en-US" sz="2800" baseline="-25000" dirty="0"/>
              <a:t>1</a:t>
            </a:r>
            <a:r>
              <a:rPr lang="en-US" sz="2800" dirty="0"/>
              <a:t>: 	G ≠ F</a:t>
            </a:r>
            <a:r>
              <a:rPr lang="en-US" sz="2800" baseline="-25000" dirty="0"/>
              <a:t> </a:t>
            </a:r>
            <a:r>
              <a:rPr lang="en-US" sz="2800" dirty="0"/>
              <a:t>(two-sided H</a:t>
            </a:r>
            <a:r>
              <a:rPr lang="en-US" sz="2800" baseline="-25000" dirty="0"/>
              <a:t>1</a:t>
            </a:r>
            <a:r>
              <a:rPr lang="en-US" sz="2800" dirty="0"/>
              <a:t>)</a:t>
            </a:r>
            <a:r>
              <a:rPr lang="en-US" sz="2800" baseline="-25000" dirty="0"/>
              <a:t> </a:t>
            </a:r>
            <a:r>
              <a:rPr lang="en-US" sz="2800" dirty="0"/>
              <a:t>or G &lt; F </a:t>
            </a:r>
            <a:r>
              <a:rPr lang="en-US" sz="2800" baseline="30000" dirty="0"/>
              <a:t>⋆</a:t>
            </a:r>
            <a:r>
              <a:rPr lang="en-US" sz="2800" dirty="0"/>
              <a:t> (one-sided H</a:t>
            </a:r>
            <a:r>
              <a:rPr lang="en-US" sz="2800" baseline="-25000" dirty="0"/>
              <a:t>1</a:t>
            </a:r>
            <a:r>
              <a:rPr lang="en-US" sz="2800" dirty="0"/>
              <a:t>) or G &gt; F </a:t>
            </a:r>
            <a:r>
              <a:rPr lang="en-US" sz="2800" baseline="30000" dirty="0"/>
              <a:t>∘</a:t>
            </a:r>
            <a:r>
              <a:rPr lang="en-US" sz="2800" dirty="0"/>
              <a:t> (one-sided H</a:t>
            </a:r>
            <a:r>
              <a:rPr lang="en-US" sz="2800" baseline="-25000" dirty="0"/>
              <a:t>1</a:t>
            </a:r>
            <a:r>
              <a:rPr lang="en-US" sz="2800" dirty="0"/>
              <a:t>).</a:t>
            </a:r>
          </a:p>
          <a:p>
            <a:r>
              <a:rPr lang="en-US" sz="2800" baseline="30000" dirty="0"/>
              <a:t>                 ⋆</a:t>
            </a:r>
            <a:r>
              <a:rPr lang="en-US" sz="2800" dirty="0"/>
              <a:t> G is shifted to the left of F</a:t>
            </a:r>
          </a:p>
          <a:p>
            <a:r>
              <a:rPr lang="en-US" sz="2800" baseline="30000" dirty="0"/>
              <a:t>                 ∘</a:t>
            </a:r>
            <a:r>
              <a:rPr lang="en-US" sz="2800" dirty="0"/>
              <a:t> G is shifted to the right of F</a:t>
            </a:r>
          </a:p>
          <a:p>
            <a:endParaRPr lang="en-US" sz="2800" dirty="0"/>
          </a:p>
          <a:p>
            <a:endParaRPr lang="en-US" sz="2800" dirty="0">
              <a:solidFill>
                <a:schemeClr val="accent1"/>
              </a:solidFill>
            </a:endParaRPr>
          </a:p>
          <a:p>
            <a:endParaRPr lang="en-US" sz="2000" dirty="0">
              <a:solidFill>
                <a:schemeClr val="accent1"/>
              </a:solidFill>
            </a:endParaRPr>
          </a:p>
          <a:p>
            <a:r>
              <a:rPr lang="en-US" sz="2800" b="1" dirty="0"/>
              <a:t>Test statistic:</a:t>
            </a:r>
            <a:r>
              <a:rPr lang="en-US" sz="2800" baseline="-25000" dirty="0">
                <a:solidFill>
                  <a:schemeClr val="accent1"/>
                </a:solidFill>
              </a:rPr>
              <a:t>	</a:t>
            </a:r>
            <a:r>
              <a:rPr lang="en-US" sz="2800" dirty="0"/>
              <a:t>sum of ranks from one of the two groups. </a:t>
            </a:r>
            <a:endParaRPr lang="en-US" sz="2800" baseline="-25000" dirty="0"/>
          </a:p>
        </p:txBody>
      </p:sp>
      <p:sp>
        <p:nvSpPr>
          <p:cNvPr id="4" name="Title 1">
            <a:extLst>
              <a:ext uri="{FF2B5EF4-FFF2-40B4-BE49-F238E27FC236}">
                <a16:creationId xmlns:a16="http://schemas.microsoft.com/office/drawing/2014/main" id="{A9671CD8-C8F1-E2C0-0989-1FF18AC9FB96}"/>
              </a:ext>
            </a:extLst>
          </p:cNvPr>
          <p:cNvSpPr txBox="1">
            <a:spLocks/>
          </p:cNvSpPr>
          <p:nvPr/>
        </p:nvSpPr>
        <p:spPr>
          <a:xfrm>
            <a:off x="0" y="24068"/>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Wilcoxon rank-sum test</a:t>
            </a:r>
          </a:p>
        </p:txBody>
      </p:sp>
      <p:pic>
        <p:nvPicPr>
          <p:cNvPr id="5" name="Picture 4" descr="A diagram of a graph&#10;&#10;Description automatically generated">
            <a:extLst>
              <a:ext uri="{FF2B5EF4-FFF2-40B4-BE49-F238E27FC236}">
                <a16:creationId xmlns:a16="http://schemas.microsoft.com/office/drawing/2014/main" id="{5D855C83-58DC-45F3-96AF-FB9D465E9FA5}"/>
              </a:ext>
            </a:extLst>
          </p:cNvPr>
          <p:cNvPicPr>
            <a:picLocks noChangeAspect="1"/>
          </p:cNvPicPr>
          <p:nvPr/>
        </p:nvPicPr>
        <p:blipFill>
          <a:blip r:embed="rId2"/>
          <a:stretch>
            <a:fillRect/>
          </a:stretch>
        </p:blipFill>
        <p:spPr>
          <a:xfrm>
            <a:off x="8173328" y="4099049"/>
            <a:ext cx="2943847" cy="1648555"/>
          </a:xfrm>
          <a:prstGeom prst="rect">
            <a:avLst/>
          </a:prstGeom>
          <a:ln>
            <a:solidFill>
              <a:schemeClr val="tx1"/>
            </a:solidFill>
          </a:ln>
        </p:spPr>
      </p:pic>
    </p:spTree>
    <p:extLst>
      <p:ext uri="{BB962C8B-B14F-4D97-AF65-F5344CB8AC3E}">
        <p14:creationId xmlns:p14="http://schemas.microsoft.com/office/powerpoint/2010/main" val="172539665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51E50-6CA9-53AB-AAC5-98FAD3643A63}"/>
              </a:ext>
            </a:extLst>
          </p:cNvPr>
          <p:cNvSpPr txBox="1">
            <a:spLocks/>
          </p:cNvSpPr>
          <p:nvPr/>
        </p:nvSpPr>
        <p:spPr>
          <a:xfrm>
            <a:off x="0" y="24068"/>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Calculation of the test statistic</a:t>
            </a:r>
          </a:p>
        </p:txBody>
      </p:sp>
      <p:graphicFrame>
        <p:nvGraphicFramePr>
          <p:cNvPr id="4" name="Table 3">
            <a:extLst>
              <a:ext uri="{FF2B5EF4-FFF2-40B4-BE49-F238E27FC236}">
                <a16:creationId xmlns:a16="http://schemas.microsoft.com/office/drawing/2014/main" id="{E73F081C-1016-FFDC-077E-F3A345FE89E1}"/>
              </a:ext>
            </a:extLst>
          </p:cNvPr>
          <p:cNvGraphicFramePr>
            <a:graphicFrameLocks noGrp="1"/>
          </p:cNvGraphicFramePr>
          <p:nvPr>
            <p:extLst>
              <p:ext uri="{D42A27DB-BD31-4B8C-83A1-F6EECF244321}">
                <p14:modId xmlns:p14="http://schemas.microsoft.com/office/powerpoint/2010/main" val="1028761525"/>
              </p:ext>
            </p:extLst>
          </p:nvPr>
        </p:nvGraphicFramePr>
        <p:xfrm>
          <a:off x="2611038" y="864485"/>
          <a:ext cx="6274189" cy="5873260"/>
        </p:xfrm>
        <a:graphic>
          <a:graphicData uri="http://schemas.openxmlformats.org/drawingml/2006/table">
            <a:tbl>
              <a:tblPr>
                <a:tableStyleId>{5C22544A-7EE6-4342-B048-85BDC9FD1C3A}</a:tableStyleId>
              </a:tblPr>
              <a:tblGrid>
                <a:gridCol w="755682">
                  <a:extLst>
                    <a:ext uri="{9D8B030D-6E8A-4147-A177-3AD203B41FA5}">
                      <a16:colId xmlns:a16="http://schemas.microsoft.com/office/drawing/2014/main" val="3006478590"/>
                    </a:ext>
                  </a:extLst>
                </a:gridCol>
                <a:gridCol w="755682">
                  <a:extLst>
                    <a:ext uri="{9D8B030D-6E8A-4147-A177-3AD203B41FA5}">
                      <a16:colId xmlns:a16="http://schemas.microsoft.com/office/drawing/2014/main" val="2965192371"/>
                    </a:ext>
                  </a:extLst>
                </a:gridCol>
                <a:gridCol w="755682">
                  <a:extLst>
                    <a:ext uri="{9D8B030D-6E8A-4147-A177-3AD203B41FA5}">
                      <a16:colId xmlns:a16="http://schemas.microsoft.com/office/drawing/2014/main" val="2462794121"/>
                    </a:ext>
                  </a:extLst>
                </a:gridCol>
                <a:gridCol w="755682">
                  <a:extLst>
                    <a:ext uri="{9D8B030D-6E8A-4147-A177-3AD203B41FA5}">
                      <a16:colId xmlns:a16="http://schemas.microsoft.com/office/drawing/2014/main" val="2230321807"/>
                    </a:ext>
                  </a:extLst>
                </a:gridCol>
                <a:gridCol w="755682">
                  <a:extLst>
                    <a:ext uri="{9D8B030D-6E8A-4147-A177-3AD203B41FA5}">
                      <a16:colId xmlns:a16="http://schemas.microsoft.com/office/drawing/2014/main" val="2725970459"/>
                    </a:ext>
                  </a:extLst>
                </a:gridCol>
                <a:gridCol w="949671">
                  <a:extLst>
                    <a:ext uri="{9D8B030D-6E8A-4147-A177-3AD203B41FA5}">
                      <a16:colId xmlns:a16="http://schemas.microsoft.com/office/drawing/2014/main" val="2954270609"/>
                    </a:ext>
                  </a:extLst>
                </a:gridCol>
                <a:gridCol w="790426">
                  <a:extLst>
                    <a:ext uri="{9D8B030D-6E8A-4147-A177-3AD203B41FA5}">
                      <a16:colId xmlns:a16="http://schemas.microsoft.com/office/drawing/2014/main" val="2233463692"/>
                    </a:ext>
                  </a:extLst>
                </a:gridCol>
                <a:gridCol w="755682">
                  <a:extLst>
                    <a:ext uri="{9D8B030D-6E8A-4147-A177-3AD203B41FA5}">
                      <a16:colId xmlns:a16="http://schemas.microsoft.com/office/drawing/2014/main" val="146222813"/>
                    </a:ext>
                  </a:extLst>
                </a:gridCol>
              </a:tblGrid>
              <a:tr h="187850">
                <a:tc>
                  <a:txBody>
                    <a:bodyPr/>
                    <a:lstStyle/>
                    <a:p>
                      <a:pPr algn="ctr" fontAlgn="b"/>
                      <a:r>
                        <a:rPr lang="en-GB" sz="1200" b="1" u="none" strike="noStrike" dirty="0">
                          <a:effectLst/>
                          <a:latin typeface="+mn-lt"/>
                        </a:rPr>
                        <a:t>ID mouse</a:t>
                      </a:r>
                      <a:endParaRPr lang="en-GB" sz="1200" b="1" i="0" u="none" strike="noStrike" dirty="0">
                        <a:solidFill>
                          <a:srgbClr val="000000"/>
                        </a:solidFill>
                        <a:effectLst/>
                        <a:latin typeface="+mn-lt"/>
                      </a:endParaRPr>
                    </a:p>
                  </a:txBody>
                  <a:tcPr marL="6580" marR="6580" marT="6580"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GB" sz="1200" b="1" u="none" strike="noStrike" dirty="0">
                          <a:effectLst/>
                          <a:latin typeface="+mn-lt"/>
                        </a:rPr>
                        <a:t>Group</a:t>
                      </a:r>
                      <a:endParaRPr lang="en-GB" sz="1200" b="1" i="0" u="none" strike="noStrike" dirty="0">
                        <a:solidFill>
                          <a:srgbClr val="000000"/>
                        </a:solidFill>
                        <a:effectLst/>
                        <a:latin typeface="+mn-lt"/>
                      </a:endParaRPr>
                    </a:p>
                  </a:txBody>
                  <a:tcPr marL="6580" marR="6580" marT="658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GB" sz="1200" b="1" u="none" strike="noStrike" dirty="0">
                          <a:effectLst/>
                          <a:latin typeface="+mn-lt"/>
                        </a:rPr>
                        <a:t>Outcome</a:t>
                      </a:r>
                      <a:endParaRPr lang="en-GB" sz="1200" b="1" i="0" u="none" strike="noStrike" dirty="0">
                        <a:solidFill>
                          <a:srgbClr val="000000"/>
                        </a:solidFill>
                        <a:effectLst/>
                        <a:latin typeface="+mn-lt"/>
                      </a:endParaRPr>
                    </a:p>
                  </a:txBody>
                  <a:tcPr marL="6580" marR="6580" marT="658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GB" sz="1200" b="1" u="none" strike="noStrike" dirty="0">
                          <a:effectLst/>
                          <a:latin typeface="+mn-lt"/>
                        </a:rPr>
                        <a:t>Rank</a:t>
                      </a:r>
                      <a:endParaRPr lang="en-GB" sz="1200" b="1" i="0" u="none" strike="noStrike" dirty="0">
                        <a:solidFill>
                          <a:srgbClr val="000000"/>
                        </a:solidFill>
                        <a:effectLst/>
                        <a:latin typeface="+mn-lt"/>
                      </a:endParaRPr>
                    </a:p>
                  </a:txBody>
                  <a:tcPr marL="6580" marR="6580" marT="658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GB" sz="1200" b="1" u="none" strike="noStrike" dirty="0">
                          <a:effectLst/>
                          <a:latin typeface="+mn-lt"/>
                        </a:rPr>
                        <a:t>Sum rank</a:t>
                      </a:r>
                      <a:endParaRPr lang="en-GB" sz="1200" b="1" i="0" u="none" strike="noStrike" dirty="0">
                        <a:solidFill>
                          <a:srgbClr val="000000"/>
                        </a:solidFill>
                        <a:effectLst/>
                        <a:latin typeface="+mn-lt"/>
                      </a:endParaRPr>
                    </a:p>
                  </a:txBody>
                  <a:tcPr marL="6580" marR="6580" marT="658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GB" sz="1200" b="1" u="none" strike="noStrike" dirty="0">
                          <a:effectLst/>
                          <a:latin typeface="+mn-lt"/>
                        </a:rPr>
                        <a:t>Average rank </a:t>
                      </a:r>
                      <a:endParaRPr lang="en-GB" sz="1200" b="1" i="0" u="none" strike="noStrike" dirty="0">
                        <a:solidFill>
                          <a:srgbClr val="000000"/>
                        </a:solidFill>
                        <a:effectLst/>
                        <a:latin typeface="+mn-lt"/>
                      </a:endParaRPr>
                    </a:p>
                  </a:txBody>
                  <a:tcPr marL="6580" marR="6580" marT="658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ctr" fontAlgn="b"/>
                      <a:r>
                        <a:rPr lang="en-GB" sz="1200" b="1" u="none" strike="noStrike" dirty="0">
                          <a:effectLst/>
                          <a:latin typeface="+mn-lt"/>
                        </a:rPr>
                        <a:t>Sum of ranks</a:t>
                      </a:r>
                      <a:endParaRPr lang="en-GB" sz="1200" b="1" i="0" u="none" strike="noStrike" dirty="0">
                        <a:solidFill>
                          <a:srgbClr val="000000"/>
                        </a:solidFill>
                        <a:effectLst/>
                        <a:latin typeface="+mn-lt"/>
                      </a:endParaRPr>
                    </a:p>
                  </a:txBody>
                  <a:tcPr marL="6580" marR="6580" marT="6580"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1584311103"/>
                  </a:ext>
                </a:extLst>
              </a:tr>
              <a:tr h="187850">
                <a:tc>
                  <a:txBody>
                    <a:bodyPr/>
                    <a:lstStyle/>
                    <a:p>
                      <a:pPr algn="ctr" fontAlgn="b"/>
                      <a:r>
                        <a:rPr lang="en-GB" sz="1200" u="none" strike="noStrike" dirty="0">
                          <a:effectLst/>
                          <a:latin typeface="+mn-lt"/>
                        </a:rPr>
                        <a:t>1</a:t>
                      </a:r>
                      <a:endParaRPr lang="en-GB" sz="1200" b="0" i="0" u="none" strike="noStrike" dirty="0">
                        <a:solidFill>
                          <a:srgbClr val="000000"/>
                        </a:solidFill>
                        <a:effectLst/>
                        <a:latin typeface="+mn-lt"/>
                      </a:endParaRPr>
                    </a:p>
                  </a:txBody>
                  <a:tcPr marL="6580" marR="6580" marT="6580"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a:txBody>
                    <a:bodyPr/>
                    <a:lstStyle/>
                    <a:p>
                      <a:pPr algn="ctr" fontAlgn="b"/>
                      <a:r>
                        <a:rPr lang="en-GB" sz="1200" u="none" strike="noStrike" dirty="0">
                          <a:effectLst/>
                          <a:latin typeface="+mn-lt"/>
                        </a:rPr>
                        <a:t>A</a:t>
                      </a:r>
                      <a:endParaRPr lang="en-GB" sz="1200" b="0" i="0" u="none" strike="noStrike" dirty="0">
                        <a:solidFill>
                          <a:srgbClr val="000000"/>
                        </a:solidFill>
                        <a:effectLst/>
                        <a:latin typeface="+mn-lt"/>
                      </a:endParaRPr>
                    </a:p>
                  </a:txBody>
                  <a:tcPr marL="6580" marR="6580" marT="6580" marB="0" anchor="b">
                    <a:lnT w="12700" cap="flat" cmpd="sng" algn="ctr">
                      <a:solidFill>
                        <a:schemeClr val="tx1"/>
                      </a:solidFill>
                      <a:prstDash val="solid"/>
                      <a:round/>
                      <a:headEnd type="none" w="med" len="med"/>
                      <a:tailEnd type="none" w="med" len="med"/>
                    </a:lnT>
                    <a:noFill/>
                  </a:tcPr>
                </a:tc>
                <a:tc>
                  <a:txBody>
                    <a:bodyPr/>
                    <a:lstStyle/>
                    <a:p>
                      <a:pPr algn="ctr" fontAlgn="b"/>
                      <a:r>
                        <a:rPr lang="en-GB" sz="1200" u="none" strike="noStrike">
                          <a:effectLst/>
                          <a:latin typeface="+mn-lt"/>
                        </a:rPr>
                        <a:t>0</a:t>
                      </a:r>
                      <a:endParaRPr lang="en-GB" sz="1200" b="0" i="0" u="none" strike="noStrike">
                        <a:solidFill>
                          <a:srgbClr val="000000"/>
                        </a:solidFill>
                        <a:effectLst/>
                        <a:latin typeface="+mn-lt"/>
                      </a:endParaRPr>
                    </a:p>
                  </a:txBody>
                  <a:tcPr marL="6580" marR="6580" marT="6580" marB="0" anchor="b">
                    <a:lnT w="12700" cap="flat" cmpd="sng" algn="ctr">
                      <a:solidFill>
                        <a:schemeClr val="tx1"/>
                      </a:solidFill>
                      <a:prstDash val="solid"/>
                      <a:round/>
                      <a:headEnd type="none" w="med" len="med"/>
                      <a:tailEnd type="none" w="med" len="med"/>
                    </a:lnT>
                    <a:noFill/>
                  </a:tcPr>
                </a:tc>
                <a:tc>
                  <a:txBody>
                    <a:bodyPr/>
                    <a:lstStyle/>
                    <a:p>
                      <a:pPr algn="ctr" fontAlgn="b"/>
                      <a:r>
                        <a:rPr lang="en-GB" sz="1200" u="none" strike="noStrike">
                          <a:effectLst/>
                          <a:latin typeface="+mn-lt"/>
                        </a:rPr>
                        <a:t>1</a:t>
                      </a:r>
                      <a:endParaRPr lang="en-GB" sz="1200" b="0" i="0" u="none" strike="noStrike">
                        <a:solidFill>
                          <a:srgbClr val="000000"/>
                        </a:solidFill>
                        <a:effectLst/>
                        <a:latin typeface="+mn-lt"/>
                      </a:endParaRPr>
                    </a:p>
                  </a:txBody>
                  <a:tcPr marL="6580" marR="6580" marT="6580" marB="0" anchor="b">
                    <a:lnT w="12700" cap="flat" cmpd="sng" algn="ctr">
                      <a:solidFill>
                        <a:schemeClr val="tx1"/>
                      </a:solidFill>
                      <a:prstDash val="solid"/>
                      <a:round/>
                      <a:headEnd type="none" w="med" len="med"/>
                      <a:tailEnd type="none" w="med" len="med"/>
                    </a:lnT>
                    <a:noFill/>
                  </a:tcPr>
                </a:tc>
                <a:tc rowSpan="4">
                  <a:txBody>
                    <a:bodyPr/>
                    <a:lstStyle/>
                    <a:p>
                      <a:pPr algn="ctr" fontAlgn="ctr"/>
                      <a:r>
                        <a:rPr lang="en-GB" sz="1200" u="none" strike="noStrike" dirty="0">
                          <a:effectLst/>
                          <a:latin typeface="+mn-lt"/>
                        </a:rPr>
                        <a:t>10</a:t>
                      </a:r>
                      <a:endParaRPr lang="en-GB" sz="1200" b="0" i="0" u="none" strike="noStrike" dirty="0">
                        <a:solidFill>
                          <a:srgbClr val="000000"/>
                        </a:solidFill>
                        <a:effectLst/>
                        <a:latin typeface="+mn-lt"/>
                      </a:endParaRPr>
                    </a:p>
                  </a:txBody>
                  <a:tcPr marL="6580" marR="6580" marT="6580" marB="0" anchor="ctr">
                    <a:lnT w="12700" cap="flat" cmpd="sng" algn="ctr">
                      <a:solidFill>
                        <a:schemeClr val="tx1"/>
                      </a:solidFill>
                      <a:prstDash val="solid"/>
                      <a:round/>
                      <a:headEnd type="none" w="med" len="med"/>
                      <a:tailEnd type="none" w="med" len="med"/>
                    </a:lnT>
                    <a:noFill/>
                  </a:tcPr>
                </a:tc>
                <a:tc rowSpan="4">
                  <a:txBody>
                    <a:bodyPr/>
                    <a:lstStyle/>
                    <a:p>
                      <a:pPr algn="ctr" fontAlgn="ctr"/>
                      <a:r>
                        <a:rPr lang="en-GB" sz="1200" u="none" strike="noStrike" dirty="0">
                          <a:effectLst/>
                          <a:latin typeface="+mn-lt"/>
                        </a:rPr>
                        <a:t>2.5</a:t>
                      </a:r>
                      <a:endParaRPr lang="en-GB" sz="1200" b="0" i="0" u="none" strike="noStrike" dirty="0">
                        <a:solidFill>
                          <a:srgbClr val="000000"/>
                        </a:solidFill>
                        <a:effectLst/>
                        <a:latin typeface="+mn-lt"/>
                      </a:endParaRPr>
                    </a:p>
                  </a:txBody>
                  <a:tcPr marL="6580" marR="6580" marT="6580" marB="0" anchor="ctr">
                    <a:lnT w="12700" cap="flat" cmpd="sng" algn="ctr">
                      <a:solidFill>
                        <a:schemeClr val="tx1"/>
                      </a:solidFill>
                      <a:prstDash val="solid"/>
                      <a:round/>
                      <a:headEnd type="none" w="med" len="med"/>
                      <a:tailEnd type="none" w="med" len="med"/>
                    </a:lnT>
                    <a:noFill/>
                  </a:tcPr>
                </a:tc>
                <a:tc>
                  <a:txBody>
                    <a:bodyPr/>
                    <a:lstStyle/>
                    <a:p>
                      <a:pPr algn="r" fontAlgn="b"/>
                      <a:r>
                        <a:rPr lang="en-GB" sz="1200" u="none" strike="noStrike" dirty="0">
                          <a:effectLst/>
                          <a:latin typeface="+mn-lt"/>
                        </a:rPr>
                        <a:t> Group A:</a:t>
                      </a:r>
                      <a:endParaRPr lang="en-GB" sz="1200" b="0" i="0" u="none" strike="noStrike" dirty="0">
                        <a:solidFill>
                          <a:srgbClr val="000000"/>
                        </a:solidFill>
                        <a:effectLst/>
                        <a:latin typeface="+mn-lt"/>
                      </a:endParaRPr>
                    </a:p>
                  </a:txBody>
                  <a:tcPr marL="6580" marR="6580" marT="6580" marB="0" anchor="b">
                    <a:lnT w="12700" cap="flat" cmpd="sng" algn="ctr">
                      <a:solidFill>
                        <a:schemeClr val="tx1"/>
                      </a:solidFill>
                      <a:prstDash val="solid"/>
                      <a:round/>
                      <a:headEnd type="none" w="med" len="med"/>
                      <a:tailEnd type="none" w="med" len="med"/>
                    </a:lnT>
                    <a:noFill/>
                  </a:tcPr>
                </a:tc>
                <a:tc>
                  <a:txBody>
                    <a:bodyPr/>
                    <a:lstStyle/>
                    <a:p>
                      <a:pPr algn="r" fontAlgn="b"/>
                      <a:r>
                        <a:rPr lang="en-GB" sz="1200" u="none" strike="noStrike" dirty="0">
                          <a:effectLst/>
                          <a:latin typeface="+mn-lt"/>
                        </a:rPr>
                        <a:t>162.5</a:t>
                      </a:r>
                      <a:endParaRPr lang="en-GB" sz="1200" b="0" i="0" u="none" strike="noStrike" dirty="0">
                        <a:solidFill>
                          <a:srgbClr val="000000"/>
                        </a:solidFill>
                        <a:effectLst/>
                        <a:latin typeface="+mn-lt"/>
                      </a:endParaRPr>
                    </a:p>
                  </a:txBody>
                  <a:tcPr marL="6580" marR="6580" marT="6580"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3925239593"/>
                  </a:ext>
                </a:extLst>
              </a:tr>
              <a:tr h="187850">
                <a:tc>
                  <a:txBody>
                    <a:bodyPr/>
                    <a:lstStyle/>
                    <a:p>
                      <a:pPr algn="ctr" fontAlgn="b"/>
                      <a:r>
                        <a:rPr lang="en-GB" sz="1200" u="none" strike="noStrike" dirty="0">
                          <a:effectLst/>
                          <a:latin typeface="+mn-lt"/>
                        </a:rPr>
                        <a:t>5</a:t>
                      </a:r>
                      <a:endParaRPr lang="en-GB" sz="1200" b="0" i="0" u="none" strike="noStrike" dirty="0">
                        <a:solidFill>
                          <a:srgbClr val="000000"/>
                        </a:solidFill>
                        <a:effectLst/>
                        <a:latin typeface="+mn-lt"/>
                      </a:endParaRPr>
                    </a:p>
                  </a:txBody>
                  <a:tcPr marL="6580" marR="6580" marT="6580" marB="0" anchor="b">
                    <a:lnL w="12700" cap="flat" cmpd="sng" algn="ctr">
                      <a:solidFill>
                        <a:schemeClr val="tx1"/>
                      </a:solidFill>
                      <a:prstDash val="solid"/>
                      <a:round/>
                      <a:headEnd type="none" w="med" len="med"/>
                      <a:tailEnd type="none" w="med" len="med"/>
                    </a:lnL>
                    <a:noFill/>
                  </a:tcPr>
                </a:tc>
                <a:tc>
                  <a:txBody>
                    <a:bodyPr/>
                    <a:lstStyle/>
                    <a:p>
                      <a:pPr algn="ctr" fontAlgn="b"/>
                      <a:r>
                        <a:rPr lang="en-GB" sz="1200" u="none" strike="noStrike">
                          <a:effectLst/>
                          <a:latin typeface="+mn-lt"/>
                        </a:rPr>
                        <a:t>A</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dirty="0">
                          <a:effectLst/>
                          <a:latin typeface="+mn-lt"/>
                        </a:rPr>
                        <a:t>0</a:t>
                      </a:r>
                      <a:endParaRPr lang="en-GB" sz="1200" b="0" i="0" u="none" strike="noStrike" dirty="0">
                        <a:solidFill>
                          <a:srgbClr val="000000"/>
                        </a:solidFill>
                        <a:effectLst/>
                        <a:latin typeface="+mn-lt"/>
                      </a:endParaRPr>
                    </a:p>
                  </a:txBody>
                  <a:tcPr marL="6580" marR="6580" marT="6580" marB="0" anchor="b">
                    <a:noFill/>
                  </a:tcPr>
                </a:tc>
                <a:tc>
                  <a:txBody>
                    <a:bodyPr/>
                    <a:lstStyle/>
                    <a:p>
                      <a:pPr algn="ctr" fontAlgn="b"/>
                      <a:r>
                        <a:rPr lang="en-GB" sz="1200" u="none" strike="noStrike">
                          <a:effectLst/>
                          <a:latin typeface="+mn-lt"/>
                        </a:rPr>
                        <a:t>2</a:t>
                      </a:r>
                      <a:endParaRPr lang="en-GB" sz="1200" b="0" i="0" u="none" strike="noStrike">
                        <a:solidFill>
                          <a:srgbClr val="000000"/>
                        </a:solidFill>
                        <a:effectLst/>
                        <a:latin typeface="+mn-lt"/>
                      </a:endParaRPr>
                    </a:p>
                  </a:txBody>
                  <a:tcPr marL="6580" marR="6580" marT="6580" marB="0" anchor="b">
                    <a:noFill/>
                  </a:tcPr>
                </a:tc>
                <a:tc vMerge="1">
                  <a:txBody>
                    <a:bodyPr/>
                    <a:lstStyle/>
                    <a:p>
                      <a:endParaRPr lang="en-US"/>
                    </a:p>
                  </a:txBody>
                  <a:tcPr/>
                </a:tc>
                <a:tc vMerge="1">
                  <a:txBody>
                    <a:bodyPr/>
                    <a:lstStyle/>
                    <a:p>
                      <a:endParaRPr lang="en-US"/>
                    </a:p>
                  </a:txBody>
                  <a:tcPr/>
                </a:tc>
                <a:tc>
                  <a:txBody>
                    <a:bodyPr/>
                    <a:lstStyle/>
                    <a:p>
                      <a:pPr algn="r" fontAlgn="b"/>
                      <a:r>
                        <a:rPr lang="en-GB" sz="1200" u="none" strike="noStrike" dirty="0">
                          <a:effectLst/>
                          <a:latin typeface="+mn-lt"/>
                        </a:rPr>
                        <a:t> Group B:</a:t>
                      </a:r>
                      <a:endParaRPr lang="en-GB" sz="1200" b="0" i="0" u="none" strike="noStrike" dirty="0">
                        <a:solidFill>
                          <a:srgbClr val="000000"/>
                        </a:solidFill>
                        <a:effectLst/>
                        <a:latin typeface="+mn-lt"/>
                      </a:endParaRPr>
                    </a:p>
                  </a:txBody>
                  <a:tcPr marL="6580" marR="6580" marT="6580" marB="0" anchor="b">
                    <a:noFill/>
                  </a:tcPr>
                </a:tc>
                <a:tc>
                  <a:txBody>
                    <a:bodyPr/>
                    <a:lstStyle/>
                    <a:p>
                      <a:pPr algn="r" fontAlgn="b"/>
                      <a:r>
                        <a:rPr lang="en-GB" sz="1200" u="none" strike="noStrike">
                          <a:effectLst/>
                          <a:latin typeface="+mn-lt"/>
                        </a:rPr>
                        <a:t>302.5</a:t>
                      </a:r>
                      <a:endParaRPr lang="en-GB" sz="1200" b="0" i="0" u="none" strike="noStrike">
                        <a:solidFill>
                          <a:srgbClr val="000000"/>
                        </a:solidFill>
                        <a:effectLst/>
                        <a:latin typeface="+mn-lt"/>
                      </a:endParaRPr>
                    </a:p>
                  </a:txBody>
                  <a:tcPr marL="6580" marR="6580" marT="6580" marB="0" anchor="b">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31579266"/>
                  </a:ext>
                </a:extLst>
              </a:tr>
              <a:tr h="187850">
                <a:tc>
                  <a:txBody>
                    <a:bodyPr/>
                    <a:lstStyle/>
                    <a:p>
                      <a:pPr algn="ctr" fontAlgn="b"/>
                      <a:r>
                        <a:rPr lang="en-GB" sz="1200" u="none" strike="noStrike" dirty="0">
                          <a:effectLst/>
                          <a:latin typeface="+mn-lt"/>
                        </a:rPr>
                        <a:t>8</a:t>
                      </a:r>
                      <a:endParaRPr lang="en-GB" sz="1200" b="0" i="0" u="none" strike="noStrike" dirty="0">
                        <a:solidFill>
                          <a:srgbClr val="000000"/>
                        </a:solidFill>
                        <a:effectLst/>
                        <a:latin typeface="+mn-lt"/>
                      </a:endParaRPr>
                    </a:p>
                  </a:txBody>
                  <a:tcPr marL="6580" marR="6580" marT="6580" marB="0" anchor="b">
                    <a:lnL w="12700" cap="flat" cmpd="sng" algn="ctr">
                      <a:solidFill>
                        <a:schemeClr val="tx1"/>
                      </a:solidFill>
                      <a:prstDash val="solid"/>
                      <a:round/>
                      <a:headEnd type="none" w="med" len="med"/>
                      <a:tailEnd type="none" w="med" len="med"/>
                    </a:lnL>
                    <a:noFill/>
                  </a:tcPr>
                </a:tc>
                <a:tc>
                  <a:txBody>
                    <a:bodyPr/>
                    <a:lstStyle/>
                    <a:p>
                      <a:pPr algn="ctr" fontAlgn="b"/>
                      <a:r>
                        <a:rPr lang="en-GB" sz="1200" u="none" strike="noStrike">
                          <a:effectLst/>
                          <a:latin typeface="+mn-lt"/>
                        </a:rPr>
                        <a:t>A</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a:effectLst/>
                          <a:latin typeface="+mn-lt"/>
                        </a:rPr>
                        <a:t>0</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a:effectLst/>
                          <a:latin typeface="+mn-lt"/>
                        </a:rPr>
                        <a:t>3</a:t>
                      </a:r>
                      <a:endParaRPr lang="en-GB" sz="1200" b="0" i="0" u="none" strike="noStrike">
                        <a:solidFill>
                          <a:srgbClr val="000000"/>
                        </a:solidFill>
                        <a:effectLst/>
                        <a:latin typeface="+mn-lt"/>
                      </a:endParaRPr>
                    </a:p>
                  </a:txBody>
                  <a:tcPr marL="6580" marR="6580" marT="6580" marB="0" anchor="b">
                    <a:noFill/>
                  </a:tcPr>
                </a:tc>
                <a:tc vMerge="1">
                  <a:txBody>
                    <a:bodyPr/>
                    <a:lstStyle/>
                    <a:p>
                      <a:endParaRPr lang="en-US"/>
                    </a:p>
                  </a:txBody>
                  <a:tcPr/>
                </a:tc>
                <a:tc vMerge="1">
                  <a:txBody>
                    <a:bodyPr/>
                    <a:lstStyle/>
                    <a:p>
                      <a:endParaRPr lang="en-US"/>
                    </a:p>
                  </a:txBody>
                  <a:tcPr/>
                </a:tc>
                <a:tc>
                  <a:txBody>
                    <a:bodyPr/>
                    <a:lstStyle/>
                    <a:p>
                      <a:pPr algn="l" fontAlgn="b"/>
                      <a:endParaRPr lang="en-GB" sz="1200" b="0" i="0" u="none" strike="noStrike">
                        <a:solidFill>
                          <a:srgbClr val="000000"/>
                        </a:solidFill>
                        <a:effectLst/>
                        <a:latin typeface="+mn-lt"/>
                      </a:endParaRPr>
                    </a:p>
                  </a:txBody>
                  <a:tcPr marL="6580" marR="6580" marT="6580" marB="0" anchor="b">
                    <a:noFill/>
                  </a:tcPr>
                </a:tc>
                <a:tc>
                  <a:txBody>
                    <a:bodyPr/>
                    <a:lstStyle/>
                    <a:p>
                      <a:pPr algn="l" fontAlgn="b"/>
                      <a:endParaRPr lang="en-GB" sz="1200" b="0" i="0" u="none" strike="noStrike">
                        <a:solidFill>
                          <a:srgbClr val="000000"/>
                        </a:solidFill>
                        <a:effectLst/>
                        <a:latin typeface="+mn-lt"/>
                      </a:endParaRPr>
                    </a:p>
                  </a:txBody>
                  <a:tcPr marL="6580" marR="6580" marT="6580" marB="0" anchor="b">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3126349980"/>
                  </a:ext>
                </a:extLst>
              </a:tr>
              <a:tr h="187850">
                <a:tc>
                  <a:txBody>
                    <a:bodyPr/>
                    <a:lstStyle/>
                    <a:p>
                      <a:pPr algn="ctr" fontAlgn="b"/>
                      <a:r>
                        <a:rPr lang="en-GB" sz="1200" u="none" strike="noStrike">
                          <a:effectLst/>
                          <a:latin typeface="+mn-lt"/>
                        </a:rPr>
                        <a:t>14</a:t>
                      </a:r>
                      <a:endParaRPr lang="en-GB" sz="1200" b="0" i="0" u="none" strike="noStrike">
                        <a:solidFill>
                          <a:srgbClr val="000000"/>
                        </a:solidFill>
                        <a:effectLst/>
                        <a:latin typeface="+mn-lt"/>
                      </a:endParaRPr>
                    </a:p>
                  </a:txBody>
                  <a:tcPr marL="6580" marR="6580" marT="6580" marB="0" anchor="b">
                    <a:lnL w="12700" cap="flat" cmpd="sng" algn="ctr">
                      <a:solidFill>
                        <a:schemeClr val="tx1"/>
                      </a:solidFill>
                      <a:prstDash val="solid"/>
                      <a:round/>
                      <a:headEnd type="none" w="med" len="med"/>
                      <a:tailEnd type="none" w="med" len="med"/>
                    </a:lnL>
                    <a:noFill/>
                  </a:tcPr>
                </a:tc>
                <a:tc>
                  <a:txBody>
                    <a:bodyPr/>
                    <a:lstStyle/>
                    <a:p>
                      <a:pPr algn="ctr" fontAlgn="b"/>
                      <a:r>
                        <a:rPr lang="en-GB" sz="1200" u="none" strike="noStrike">
                          <a:effectLst/>
                          <a:latin typeface="+mn-lt"/>
                        </a:rPr>
                        <a:t>A</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a:effectLst/>
                          <a:latin typeface="+mn-lt"/>
                        </a:rPr>
                        <a:t>0</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a:effectLst/>
                          <a:latin typeface="+mn-lt"/>
                        </a:rPr>
                        <a:t>4</a:t>
                      </a:r>
                      <a:endParaRPr lang="en-GB" sz="1200" b="0" i="0" u="none" strike="noStrike">
                        <a:solidFill>
                          <a:srgbClr val="000000"/>
                        </a:solidFill>
                        <a:effectLst/>
                        <a:latin typeface="+mn-lt"/>
                      </a:endParaRPr>
                    </a:p>
                  </a:txBody>
                  <a:tcPr marL="6580" marR="6580" marT="6580" marB="0" anchor="b">
                    <a:noFill/>
                  </a:tcPr>
                </a:tc>
                <a:tc vMerge="1">
                  <a:txBody>
                    <a:bodyPr/>
                    <a:lstStyle/>
                    <a:p>
                      <a:endParaRPr lang="en-US"/>
                    </a:p>
                  </a:txBody>
                  <a:tcPr/>
                </a:tc>
                <a:tc vMerge="1">
                  <a:txBody>
                    <a:bodyPr/>
                    <a:lstStyle/>
                    <a:p>
                      <a:endParaRPr lang="en-US"/>
                    </a:p>
                  </a:txBody>
                  <a:tcPr/>
                </a:tc>
                <a:tc>
                  <a:txBody>
                    <a:bodyPr/>
                    <a:lstStyle/>
                    <a:p>
                      <a:pPr algn="l" fontAlgn="b"/>
                      <a:endParaRPr lang="en-GB" sz="1200" b="0" i="0" u="none" strike="noStrike">
                        <a:solidFill>
                          <a:srgbClr val="000000"/>
                        </a:solidFill>
                        <a:effectLst/>
                        <a:latin typeface="+mn-lt"/>
                      </a:endParaRPr>
                    </a:p>
                  </a:txBody>
                  <a:tcPr marL="6580" marR="6580" marT="6580" marB="0" anchor="b">
                    <a:noFill/>
                  </a:tcPr>
                </a:tc>
                <a:tc>
                  <a:txBody>
                    <a:bodyPr/>
                    <a:lstStyle/>
                    <a:p>
                      <a:pPr algn="l" fontAlgn="b"/>
                      <a:endParaRPr lang="en-GB" sz="1200" b="0" i="0" u="none" strike="noStrike">
                        <a:solidFill>
                          <a:srgbClr val="000000"/>
                        </a:solidFill>
                        <a:effectLst/>
                        <a:latin typeface="+mn-lt"/>
                      </a:endParaRPr>
                    </a:p>
                  </a:txBody>
                  <a:tcPr marL="6580" marR="6580" marT="6580" marB="0" anchor="b">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914552001"/>
                  </a:ext>
                </a:extLst>
              </a:tr>
              <a:tr h="187850">
                <a:tc>
                  <a:txBody>
                    <a:bodyPr/>
                    <a:lstStyle/>
                    <a:p>
                      <a:pPr algn="ctr" fontAlgn="b"/>
                      <a:r>
                        <a:rPr lang="en-GB" sz="1200" u="none" strike="noStrike">
                          <a:effectLst/>
                          <a:latin typeface="+mn-lt"/>
                        </a:rPr>
                        <a:t>6</a:t>
                      </a:r>
                      <a:endParaRPr lang="en-GB" sz="1200" b="0" i="0" u="none" strike="noStrike">
                        <a:solidFill>
                          <a:srgbClr val="000000"/>
                        </a:solidFill>
                        <a:effectLst/>
                        <a:latin typeface="+mn-lt"/>
                      </a:endParaRPr>
                    </a:p>
                  </a:txBody>
                  <a:tcPr marL="6580" marR="6580" marT="6580" marB="0" anchor="b">
                    <a:lnL w="12700" cap="flat" cmpd="sng" algn="ctr">
                      <a:solidFill>
                        <a:schemeClr val="tx1"/>
                      </a:solidFill>
                      <a:prstDash val="solid"/>
                      <a:round/>
                      <a:headEnd type="none" w="med" len="med"/>
                      <a:tailEnd type="none" w="med" len="med"/>
                    </a:lnL>
                    <a:noFill/>
                  </a:tcPr>
                </a:tc>
                <a:tc>
                  <a:txBody>
                    <a:bodyPr/>
                    <a:lstStyle/>
                    <a:p>
                      <a:pPr algn="ctr" fontAlgn="b"/>
                      <a:r>
                        <a:rPr lang="en-GB" sz="1200" u="none" strike="noStrike" dirty="0">
                          <a:effectLst/>
                          <a:latin typeface="+mn-lt"/>
                        </a:rPr>
                        <a:t>A</a:t>
                      </a:r>
                      <a:endParaRPr lang="en-GB" sz="1200" b="0" i="0" u="none" strike="noStrike" dirty="0">
                        <a:solidFill>
                          <a:srgbClr val="000000"/>
                        </a:solidFill>
                        <a:effectLst/>
                        <a:latin typeface="+mn-lt"/>
                      </a:endParaRPr>
                    </a:p>
                  </a:txBody>
                  <a:tcPr marL="6580" marR="6580" marT="6580" marB="0" anchor="b">
                    <a:noFill/>
                  </a:tcPr>
                </a:tc>
                <a:tc>
                  <a:txBody>
                    <a:bodyPr/>
                    <a:lstStyle/>
                    <a:p>
                      <a:pPr algn="ctr" fontAlgn="b"/>
                      <a:r>
                        <a:rPr lang="en-GB" sz="1200" u="none" strike="noStrike">
                          <a:effectLst/>
                          <a:latin typeface="+mn-lt"/>
                        </a:rPr>
                        <a:t>1</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a:effectLst/>
                          <a:latin typeface="+mn-lt"/>
                        </a:rPr>
                        <a:t>5</a:t>
                      </a:r>
                      <a:endParaRPr lang="en-GB" sz="1200" b="0" i="0" u="none" strike="noStrike">
                        <a:solidFill>
                          <a:srgbClr val="000000"/>
                        </a:solidFill>
                        <a:effectLst/>
                        <a:latin typeface="+mn-lt"/>
                      </a:endParaRPr>
                    </a:p>
                  </a:txBody>
                  <a:tcPr marL="6580" marR="6580" marT="6580" marB="0" anchor="b">
                    <a:noFill/>
                  </a:tcPr>
                </a:tc>
                <a:tc rowSpan="6">
                  <a:txBody>
                    <a:bodyPr/>
                    <a:lstStyle/>
                    <a:p>
                      <a:pPr algn="ctr" fontAlgn="ctr"/>
                      <a:r>
                        <a:rPr lang="en-GB" sz="1200" u="none" strike="noStrike">
                          <a:effectLst/>
                          <a:latin typeface="+mn-lt"/>
                        </a:rPr>
                        <a:t>45</a:t>
                      </a:r>
                      <a:endParaRPr lang="en-GB" sz="1200" b="0" i="0" u="none" strike="noStrike">
                        <a:solidFill>
                          <a:srgbClr val="000000"/>
                        </a:solidFill>
                        <a:effectLst/>
                        <a:latin typeface="+mn-lt"/>
                      </a:endParaRPr>
                    </a:p>
                  </a:txBody>
                  <a:tcPr marL="6580" marR="6580" marT="6580" marB="0" anchor="ctr">
                    <a:noFill/>
                  </a:tcPr>
                </a:tc>
                <a:tc rowSpan="6">
                  <a:txBody>
                    <a:bodyPr/>
                    <a:lstStyle/>
                    <a:p>
                      <a:pPr algn="ctr" fontAlgn="ctr"/>
                      <a:r>
                        <a:rPr lang="en-GB" sz="1200" u="none" strike="noStrike">
                          <a:effectLst/>
                          <a:latin typeface="+mn-lt"/>
                        </a:rPr>
                        <a:t>7.5</a:t>
                      </a:r>
                      <a:endParaRPr lang="en-GB" sz="1200" b="0" i="0" u="none" strike="noStrike">
                        <a:solidFill>
                          <a:srgbClr val="000000"/>
                        </a:solidFill>
                        <a:effectLst/>
                        <a:latin typeface="+mn-lt"/>
                      </a:endParaRPr>
                    </a:p>
                  </a:txBody>
                  <a:tcPr marL="6580" marR="6580" marT="6580" marB="0" anchor="ctr">
                    <a:noFill/>
                  </a:tcPr>
                </a:tc>
                <a:tc>
                  <a:txBody>
                    <a:bodyPr/>
                    <a:lstStyle/>
                    <a:p>
                      <a:pPr algn="l" fontAlgn="b"/>
                      <a:endParaRPr lang="en-GB" sz="1200" b="0" i="0" u="none" strike="noStrike">
                        <a:solidFill>
                          <a:srgbClr val="000000"/>
                        </a:solidFill>
                        <a:effectLst/>
                        <a:latin typeface="+mn-lt"/>
                      </a:endParaRPr>
                    </a:p>
                  </a:txBody>
                  <a:tcPr marL="6580" marR="6580" marT="6580" marB="0" anchor="b">
                    <a:noFill/>
                  </a:tcPr>
                </a:tc>
                <a:tc>
                  <a:txBody>
                    <a:bodyPr/>
                    <a:lstStyle/>
                    <a:p>
                      <a:pPr algn="l" fontAlgn="b"/>
                      <a:endParaRPr lang="en-GB" sz="1200" b="0" i="0" u="none" strike="noStrike">
                        <a:solidFill>
                          <a:srgbClr val="000000"/>
                        </a:solidFill>
                        <a:effectLst/>
                        <a:latin typeface="+mn-lt"/>
                      </a:endParaRPr>
                    </a:p>
                  </a:txBody>
                  <a:tcPr marL="6580" marR="6580" marT="6580" marB="0" anchor="b">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2406991936"/>
                  </a:ext>
                </a:extLst>
              </a:tr>
              <a:tr h="187850">
                <a:tc>
                  <a:txBody>
                    <a:bodyPr/>
                    <a:lstStyle/>
                    <a:p>
                      <a:pPr algn="ctr" fontAlgn="b"/>
                      <a:r>
                        <a:rPr lang="en-GB" sz="1200" u="none" strike="noStrike">
                          <a:effectLst/>
                          <a:latin typeface="+mn-lt"/>
                        </a:rPr>
                        <a:t>9</a:t>
                      </a:r>
                      <a:endParaRPr lang="en-GB" sz="1200" b="0" i="0" u="none" strike="noStrike">
                        <a:solidFill>
                          <a:srgbClr val="000000"/>
                        </a:solidFill>
                        <a:effectLst/>
                        <a:latin typeface="+mn-lt"/>
                      </a:endParaRPr>
                    </a:p>
                  </a:txBody>
                  <a:tcPr marL="6580" marR="6580" marT="6580" marB="0" anchor="b">
                    <a:lnL w="12700" cap="flat" cmpd="sng" algn="ctr">
                      <a:solidFill>
                        <a:schemeClr val="tx1"/>
                      </a:solidFill>
                      <a:prstDash val="solid"/>
                      <a:round/>
                      <a:headEnd type="none" w="med" len="med"/>
                      <a:tailEnd type="none" w="med" len="med"/>
                    </a:lnL>
                    <a:noFill/>
                  </a:tcPr>
                </a:tc>
                <a:tc>
                  <a:txBody>
                    <a:bodyPr/>
                    <a:lstStyle/>
                    <a:p>
                      <a:pPr algn="ctr" fontAlgn="b"/>
                      <a:r>
                        <a:rPr lang="en-GB" sz="1200" u="none" strike="noStrike">
                          <a:effectLst/>
                          <a:latin typeface="+mn-lt"/>
                        </a:rPr>
                        <a:t>A</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a:effectLst/>
                          <a:latin typeface="+mn-lt"/>
                        </a:rPr>
                        <a:t>1</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a:effectLst/>
                          <a:latin typeface="+mn-lt"/>
                        </a:rPr>
                        <a:t>6</a:t>
                      </a:r>
                      <a:endParaRPr lang="en-GB" sz="1200" b="0" i="0" u="none" strike="noStrike">
                        <a:solidFill>
                          <a:srgbClr val="000000"/>
                        </a:solidFill>
                        <a:effectLst/>
                        <a:latin typeface="+mn-lt"/>
                      </a:endParaRPr>
                    </a:p>
                  </a:txBody>
                  <a:tcPr marL="6580" marR="6580" marT="6580" marB="0" anchor="b">
                    <a:noFill/>
                  </a:tcPr>
                </a:tc>
                <a:tc vMerge="1">
                  <a:txBody>
                    <a:bodyPr/>
                    <a:lstStyle/>
                    <a:p>
                      <a:endParaRPr lang="en-US"/>
                    </a:p>
                  </a:txBody>
                  <a:tcPr/>
                </a:tc>
                <a:tc vMerge="1">
                  <a:txBody>
                    <a:bodyPr/>
                    <a:lstStyle/>
                    <a:p>
                      <a:endParaRPr lang="en-US"/>
                    </a:p>
                  </a:txBody>
                  <a:tcPr/>
                </a:tc>
                <a:tc>
                  <a:txBody>
                    <a:bodyPr/>
                    <a:lstStyle/>
                    <a:p>
                      <a:pPr algn="l" fontAlgn="b"/>
                      <a:endParaRPr lang="en-GB" sz="1200" b="0" i="0" u="none" strike="noStrike">
                        <a:solidFill>
                          <a:srgbClr val="000000"/>
                        </a:solidFill>
                        <a:effectLst/>
                        <a:latin typeface="+mn-lt"/>
                      </a:endParaRPr>
                    </a:p>
                  </a:txBody>
                  <a:tcPr marL="6580" marR="6580" marT="6580" marB="0" anchor="b">
                    <a:noFill/>
                  </a:tcPr>
                </a:tc>
                <a:tc>
                  <a:txBody>
                    <a:bodyPr/>
                    <a:lstStyle/>
                    <a:p>
                      <a:pPr algn="l" fontAlgn="b"/>
                      <a:endParaRPr lang="en-GB" sz="1200" b="0" i="0" u="none" strike="noStrike">
                        <a:solidFill>
                          <a:srgbClr val="000000"/>
                        </a:solidFill>
                        <a:effectLst/>
                        <a:latin typeface="+mn-lt"/>
                      </a:endParaRPr>
                    </a:p>
                  </a:txBody>
                  <a:tcPr marL="6580" marR="6580" marT="6580" marB="0" anchor="b">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3222441879"/>
                  </a:ext>
                </a:extLst>
              </a:tr>
              <a:tr h="187850">
                <a:tc>
                  <a:txBody>
                    <a:bodyPr/>
                    <a:lstStyle/>
                    <a:p>
                      <a:pPr algn="ctr" fontAlgn="b"/>
                      <a:r>
                        <a:rPr lang="en-GB" sz="1200" u="none" strike="noStrike">
                          <a:effectLst/>
                          <a:latin typeface="+mn-lt"/>
                        </a:rPr>
                        <a:t>11</a:t>
                      </a:r>
                      <a:endParaRPr lang="en-GB" sz="1200" b="0" i="0" u="none" strike="noStrike">
                        <a:solidFill>
                          <a:srgbClr val="000000"/>
                        </a:solidFill>
                        <a:effectLst/>
                        <a:latin typeface="+mn-lt"/>
                      </a:endParaRPr>
                    </a:p>
                  </a:txBody>
                  <a:tcPr marL="6580" marR="6580" marT="6580" marB="0" anchor="b">
                    <a:lnL w="12700" cap="flat" cmpd="sng" algn="ctr">
                      <a:solidFill>
                        <a:schemeClr val="tx1"/>
                      </a:solidFill>
                      <a:prstDash val="solid"/>
                      <a:round/>
                      <a:headEnd type="none" w="med" len="med"/>
                      <a:tailEnd type="none" w="med" len="med"/>
                    </a:lnL>
                    <a:noFill/>
                  </a:tcPr>
                </a:tc>
                <a:tc>
                  <a:txBody>
                    <a:bodyPr/>
                    <a:lstStyle/>
                    <a:p>
                      <a:pPr algn="ctr" fontAlgn="b"/>
                      <a:r>
                        <a:rPr lang="en-GB" sz="1200" u="none" strike="noStrike">
                          <a:effectLst/>
                          <a:latin typeface="+mn-lt"/>
                        </a:rPr>
                        <a:t>A</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dirty="0">
                          <a:effectLst/>
                          <a:latin typeface="+mn-lt"/>
                        </a:rPr>
                        <a:t>1</a:t>
                      </a:r>
                      <a:endParaRPr lang="en-GB" sz="1200" b="0" i="0" u="none" strike="noStrike" dirty="0">
                        <a:solidFill>
                          <a:srgbClr val="000000"/>
                        </a:solidFill>
                        <a:effectLst/>
                        <a:latin typeface="+mn-lt"/>
                      </a:endParaRPr>
                    </a:p>
                  </a:txBody>
                  <a:tcPr marL="6580" marR="6580" marT="6580" marB="0" anchor="b">
                    <a:noFill/>
                  </a:tcPr>
                </a:tc>
                <a:tc>
                  <a:txBody>
                    <a:bodyPr/>
                    <a:lstStyle/>
                    <a:p>
                      <a:pPr algn="ctr" fontAlgn="b"/>
                      <a:r>
                        <a:rPr lang="en-GB" sz="1200" u="none" strike="noStrike">
                          <a:effectLst/>
                          <a:latin typeface="+mn-lt"/>
                        </a:rPr>
                        <a:t>7</a:t>
                      </a:r>
                      <a:endParaRPr lang="en-GB" sz="1200" b="0" i="0" u="none" strike="noStrike">
                        <a:solidFill>
                          <a:srgbClr val="000000"/>
                        </a:solidFill>
                        <a:effectLst/>
                        <a:latin typeface="+mn-lt"/>
                      </a:endParaRPr>
                    </a:p>
                  </a:txBody>
                  <a:tcPr marL="6580" marR="6580" marT="6580" marB="0" anchor="b">
                    <a:noFill/>
                  </a:tcPr>
                </a:tc>
                <a:tc vMerge="1">
                  <a:txBody>
                    <a:bodyPr/>
                    <a:lstStyle/>
                    <a:p>
                      <a:endParaRPr lang="en-US"/>
                    </a:p>
                  </a:txBody>
                  <a:tcPr/>
                </a:tc>
                <a:tc vMerge="1">
                  <a:txBody>
                    <a:bodyPr/>
                    <a:lstStyle/>
                    <a:p>
                      <a:endParaRPr lang="en-US"/>
                    </a:p>
                  </a:txBody>
                  <a:tcPr/>
                </a:tc>
                <a:tc>
                  <a:txBody>
                    <a:bodyPr/>
                    <a:lstStyle/>
                    <a:p>
                      <a:pPr algn="l" fontAlgn="b"/>
                      <a:endParaRPr lang="en-GB" sz="1200" b="0" i="0" u="none" strike="noStrike">
                        <a:solidFill>
                          <a:srgbClr val="000000"/>
                        </a:solidFill>
                        <a:effectLst/>
                        <a:latin typeface="+mn-lt"/>
                      </a:endParaRPr>
                    </a:p>
                  </a:txBody>
                  <a:tcPr marL="6580" marR="6580" marT="6580" marB="0" anchor="b">
                    <a:noFill/>
                  </a:tcPr>
                </a:tc>
                <a:tc>
                  <a:txBody>
                    <a:bodyPr/>
                    <a:lstStyle/>
                    <a:p>
                      <a:pPr algn="l" fontAlgn="b"/>
                      <a:endParaRPr lang="en-GB" sz="1200" b="0" i="0" u="none" strike="noStrike">
                        <a:solidFill>
                          <a:srgbClr val="000000"/>
                        </a:solidFill>
                        <a:effectLst/>
                        <a:latin typeface="+mn-lt"/>
                      </a:endParaRPr>
                    </a:p>
                  </a:txBody>
                  <a:tcPr marL="6580" marR="6580" marT="6580" marB="0" anchor="b">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4215069374"/>
                  </a:ext>
                </a:extLst>
              </a:tr>
              <a:tr h="187850">
                <a:tc>
                  <a:txBody>
                    <a:bodyPr/>
                    <a:lstStyle/>
                    <a:p>
                      <a:pPr algn="ctr" fontAlgn="b"/>
                      <a:r>
                        <a:rPr lang="en-GB" sz="1200" u="none" strike="noStrike">
                          <a:effectLst/>
                          <a:latin typeface="+mn-lt"/>
                        </a:rPr>
                        <a:t>12</a:t>
                      </a:r>
                      <a:endParaRPr lang="en-GB" sz="1200" b="0" i="0" u="none" strike="noStrike">
                        <a:solidFill>
                          <a:srgbClr val="000000"/>
                        </a:solidFill>
                        <a:effectLst/>
                        <a:latin typeface="+mn-lt"/>
                      </a:endParaRPr>
                    </a:p>
                  </a:txBody>
                  <a:tcPr marL="6580" marR="6580" marT="6580" marB="0" anchor="b">
                    <a:lnL w="12700" cap="flat" cmpd="sng" algn="ctr">
                      <a:solidFill>
                        <a:schemeClr val="tx1"/>
                      </a:solidFill>
                      <a:prstDash val="solid"/>
                      <a:round/>
                      <a:headEnd type="none" w="med" len="med"/>
                      <a:tailEnd type="none" w="med" len="med"/>
                    </a:lnL>
                    <a:noFill/>
                  </a:tcPr>
                </a:tc>
                <a:tc>
                  <a:txBody>
                    <a:bodyPr/>
                    <a:lstStyle/>
                    <a:p>
                      <a:pPr algn="ctr" fontAlgn="b"/>
                      <a:r>
                        <a:rPr lang="en-GB" sz="1200" u="none" strike="noStrike">
                          <a:effectLst/>
                          <a:latin typeface="+mn-lt"/>
                        </a:rPr>
                        <a:t>A</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a:effectLst/>
                          <a:latin typeface="+mn-lt"/>
                        </a:rPr>
                        <a:t>1</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a:effectLst/>
                          <a:latin typeface="+mn-lt"/>
                        </a:rPr>
                        <a:t>8</a:t>
                      </a:r>
                      <a:endParaRPr lang="en-GB" sz="1200" b="0" i="0" u="none" strike="noStrike">
                        <a:solidFill>
                          <a:srgbClr val="000000"/>
                        </a:solidFill>
                        <a:effectLst/>
                        <a:latin typeface="+mn-lt"/>
                      </a:endParaRPr>
                    </a:p>
                  </a:txBody>
                  <a:tcPr marL="6580" marR="6580" marT="6580" marB="0" anchor="b">
                    <a:noFill/>
                  </a:tcPr>
                </a:tc>
                <a:tc vMerge="1">
                  <a:txBody>
                    <a:bodyPr/>
                    <a:lstStyle/>
                    <a:p>
                      <a:endParaRPr lang="en-US"/>
                    </a:p>
                  </a:txBody>
                  <a:tcPr/>
                </a:tc>
                <a:tc vMerge="1">
                  <a:txBody>
                    <a:bodyPr/>
                    <a:lstStyle/>
                    <a:p>
                      <a:endParaRPr lang="en-US"/>
                    </a:p>
                  </a:txBody>
                  <a:tcPr/>
                </a:tc>
                <a:tc>
                  <a:txBody>
                    <a:bodyPr/>
                    <a:lstStyle/>
                    <a:p>
                      <a:pPr algn="l" fontAlgn="b"/>
                      <a:endParaRPr lang="en-GB" sz="1200" b="0" i="0" u="none" strike="noStrike">
                        <a:solidFill>
                          <a:srgbClr val="000000"/>
                        </a:solidFill>
                        <a:effectLst/>
                        <a:latin typeface="+mn-lt"/>
                      </a:endParaRPr>
                    </a:p>
                  </a:txBody>
                  <a:tcPr marL="6580" marR="6580" marT="6580" marB="0" anchor="b">
                    <a:noFill/>
                  </a:tcPr>
                </a:tc>
                <a:tc>
                  <a:txBody>
                    <a:bodyPr/>
                    <a:lstStyle/>
                    <a:p>
                      <a:pPr algn="l" fontAlgn="b"/>
                      <a:endParaRPr lang="en-GB" sz="1200" b="0" i="0" u="none" strike="noStrike" dirty="0">
                        <a:solidFill>
                          <a:srgbClr val="000000"/>
                        </a:solidFill>
                        <a:effectLst/>
                        <a:latin typeface="+mn-lt"/>
                      </a:endParaRPr>
                    </a:p>
                  </a:txBody>
                  <a:tcPr marL="6580" marR="6580" marT="6580" marB="0" anchor="b">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720656382"/>
                  </a:ext>
                </a:extLst>
              </a:tr>
              <a:tr h="187850">
                <a:tc>
                  <a:txBody>
                    <a:bodyPr/>
                    <a:lstStyle/>
                    <a:p>
                      <a:pPr algn="ctr" fontAlgn="b"/>
                      <a:r>
                        <a:rPr lang="en-GB" sz="1200" u="none" strike="noStrike">
                          <a:effectLst/>
                          <a:latin typeface="+mn-lt"/>
                        </a:rPr>
                        <a:t>15</a:t>
                      </a:r>
                      <a:endParaRPr lang="en-GB" sz="1200" b="0" i="0" u="none" strike="noStrike">
                        <a:solidFill>
                          <a:srgbClr val="000000"/>
                        </a:solidFill>
                        <a:effectLst/>
                        <a:latin typeface="+mn-lt"/>
                      </a:endParaRPr>
                    </a:p>
                  </a:txBody>
                  <a:tcPr marL="6580" marR="6580" marT="6580" marB="0" anchor="b">
                    <a:lnL w="12700" cap="flat" cmpd="sng" algn="ctr">
                      <a:solidFill>
                        <a:schemeClr val="tx1"/>
                      </a:solidFill>
                      <a:prstDash val="solid"/>
                      <a:round/>
                      <a:headEnd type="none" w="med" len="med"/>
                      <a:tailEnd type="none" w="med" len="med"/>
                    </a:lnL>
                    <a:noFill/>
                  </a:tcPr>
                </a:tc>
                <a:tc>
                  <a:txBody>
                    <a:bodyPr/>
                    <a:lstStyle/>
                    <a:p>
                      <a:pPr algn="ctr" fontAlgn="b"/>
                      <a:r>
                        <a:rPr lang="en-GB" sz="1200" u="none" strike="noStrike">
                          <a:effectLst/>
                          <a:latin typeface="+mn-lt"/>
                        </a:rPr>
                        <a:t>A</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a:effectLst/>
                          <a:latin typeface="+mn-lt"/>
                        </a:rPr>
                        <a:t>1</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dirty="0">
                          <a:effectLst/>
                          <a:latin typeface="+mn-lt"/>
                        </a:rPr>
                        <a:t>9</a:t>
                      </a:r>
                      <a:endParaRPr lang="en-GB" sz="1200" b="0" i="0" u="none" strike="noStrike" dirty="0">
                        <a:solidFill>
                          <a:srgbClr val="000000"/>
                        </a:solidFill>
                        <a:effectLst/>
                        <a:latin typeface="+mn-lt"/>
                      </a:endParaRPr>
                    </a:p>
                  </a:txBody>
                  <a:tcPr marL="6580" marR="6580" marT="6580" marB="0" anchor="b">
                    <a:noFill/>
                  </a:tcPr>
                </a:tc>
                <a:tc vMerge="1">
                  <a:txBody>
                    <a:bodyPr/>
                    <a:lstStyle/>
                    <a:p>
                      <a:endParaRPr lang="en-US"/>
                    </a:p>
                  </a:txBody>
                  <a:tcPr/>
                </a:tc>
                <a:tc vMerge="1">
                  <a:txBody>
                    <a:bodyPr/>
                    <a:lstStyle/>
                    <a:p>
                      <a:endParaRPr lang="en-US"/>
                    </a:p>
                  </a:txBody>
                  <a:tcPr/>
                </a:tc>
                <a:tc>
                  <a:txBody>
                    <a:bodyPr/>
                    <a:lstStyle/>
                    <a:p>
                      <a:pPr algn="l" fontAlgn="b"/>
                      <a:endParaRPr lang="en-GB" sz="1200" b="0" i="0" u="none" strike="noStrike">
                        <a:solidFill>
                          <a:srgbClr val="000000"/>
                        </a:solidFill>
                        <a:effectLst/>
                        <a:latin typeface="+mn-lt"/>
                      </a:endParaRPr>
                    </a:p>
                  </a:txBody>
                  <a:tcPr marL="6580" marR="6580" marT="6580" marB="0" anchor="b">
                    <a:noFill/>
                  </a:tcPr>
                </a:tc>
                <a:tc>
                  <a:txBody>
                    <a:bodyPr/>
                    <a:lstStyle/>
                    <a:p>
                      <a:pPr algn="l" fontAlgn="b"/>
                      <a:endParaRPr lang="en-GB" sz="1200" b="0" i="0" u="none" strike="noStrike">
                        <a:solidFill>
                          <a:srgbClr val="000000"/>
                        </a:solidFill>
                        <a:effectLst/>
                        <a:latin typeface="+mn-lt"/>
                      </a:endParaRPr>
                    </a:p>
                  </a:txBody>
                  <a:tcPr marL="6580" marR="6580" marT="6580" marB="0" anchor="b">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4291103231"/>
                  </a:ext>
                </a:extLst>
              </a:tr>
              <a:tr h="187850">
                <a:tc>
                  <a:txBody>
                    <a:bodyPr/>
                    <a:lstStyle/>
                    <a:p>
                      <a:pPr algn="ctr" fontAlgn="b"/>
                      <a:r>
                        <a:rPr lang="en-GB" sz="1200" u="none" strike="noStrike">
                          <a:effectLst/>
                          <a:latin typeface="+mn-lt"/>
                        </a:rPr>
                        <a:t>21</a:t>
                      </a:r>
                      <a:endParaRPr lang="en-GB" sz="1200" b="0" i="0" u="none" strike="noStrike">
                        <a:solidFill>
                          <a:srgbClr val="000000"/>
                        </a:solidFill>
                        <a:effectLst/>
                        <a:latin typeface="+mn-lt"/>
                      </a:endParaRPr>
                    </a:p>
                  </a:txBody>
                  <a:tcPr marL="6580" marR="6580" marT="6580" marB="0" anchor="b">
                    <a:lnL w="12700" cap="flat" cmpd="sng" algn="ctr">
                      <a:solidFill>
                        <a:schemeClr val="tx1"/>
                      </a:solidFill>
                      <a:prstDash val="solid"/>
                      <a:round/>
                      <a:headEnd type="none" w="med" len="med"/>
                      <a:tailEnd type="none" w="med" len="med"/>
                    </a:lnL>
                    <a:noFill/>
                  </a:tcPr>
                </a:tc>
                <a:tc>
                  <a:txBody>
                    <a:bodyPr/>
                    <a:lstStyle/>
                    <a:p>
                      <a:pPr algn="ctr" fontAlgn="b"/>
                      <a:r>
                        <a:rPr lang="en-GB" sz="1200" u="none" strike="noStrike">
                          <a:effectLst/>
                          <a:latin typeface="+mn-lt"/>
                        </a:rPr>
                        <a:t>B</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a:effectLst/>
                          <a:latin typeface="+mn-lt"/>
                        </a:rPr>
                        <a:t>1</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a:effectLst/>
                          <a:latin typeface="+mn-lt"/>
                        </a:rPr>
                        <a:t>10</a:t>
                      </a:r>
                      <a:endParaRPr lang="en-GB" sz="1200" b="0" i="0" u="none" strike="noStrike">
                        <a:solidFill>
                          <a:srgbClr val="000000"/>
                        </a:solidFill>
                        <a:effectLst/>
                        <a:latin typeface="+mn-lt"/>
                      </a:endParaRPr>
                    </a:p>
                  </a:txBody>
                  <a:tcPr marL="6580" marR="6580" marT="6580" marB="0" anchor="b">
                    <a:noFill/>
                  </a:tcPr>
                </a:tc>
                <a:tc vMerge="1">
                  <a:txBody>
                    <a:bodyPr/>
                    <a:lstStyle/>
                    <a:p>
                      <a:endParaRPr lang="en-US"/>
                    </a:p>
                  </a:txBody>
                  <a:tcPr/>
                </a:tc>
                <a:tc vMerge="1">
                  <a:txBody>
                    <a:bodyPr/>
                    <a:lstStyle/>
                    <a:p>
                      <a:endParaRPr lang="en-US"/>
                    </a:p>
                  </a:txBody>
                  <a:tcPr/>
                </a:tc>
                <a:tc>
                  <a:txBody>
                    <a:bodyPr/>
                    <a:lstStyle/>
                    <a:p>
                      <a:pPr algn="l" fontAlgn="b"/>
                      <a:endParaRPr lang="en-GB" sz="1200" b="0" i="0" u="none" strike="noStrike">
                        <a:solidFill>
                          <a:srgbClr val="000000"/>
                        </a:solidFill>
                        <a:effectLst/>
                        <a:latin typeface="+mn-lt"/>
                      </a:endParaRPr>
                    </a:p>
                  </a:txBody>
                  <a:tcPr marL="6580" marR="6580" marT="6580" marB="0" anchor="b">
                    <a:noFill/>
                  </a:tcPr>
                </a:tc>
                <a:tc>
                  <a:txBody>
                    <a:bodyPr/>
                    <a:lstStyle/>
                    <a:p>
                      <a:pPr algn="l" fontAlgn="b"/>
                      <a:endParaRPr lang="en-GB" sz="1200" b="0" i="0" u="none" strike="noStrike">
                        <a:solidFill>
                          <a:srgbClr val="000000"/>
                        </a:solidFill>
                        <a:effectLst/>
                        <a:latin typeface="+mn-lt"/>
                      </a:endParaRPr>
                    </a:p>
                  </a:txBody>
                  <a:tcPr marL="6580" marR="6580" marT="6580" marB="0" anchor="b">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3951833096"/>
                  </a:ext>
                </a:extLst>
              </a:tr>
              <a:tr h="187850">
                <a:tc>
                  <a:txBody>
                    <a:bodyPr/>
                    <a:lstStyle/>
                    <a:p>
                      <a:pPr algn="ctr" fontAlgn="b"/>
                      <a:r>
                        <a:rPr lang="en-GB" sz="1200" u="none" strike="noStrike">
                          <a:effectLst/>
                          <a:latin typeface="+mn-lt"/>
                        </a:rPr>
                        <a:t>2</a:t>
                      </a:r>
                      <a:endParaRPr lang="en-GB" sz="1200" b="0" i="0" u="none" strike="noStrike">
                        <a:solidFill>
                          <a:srgbClr val="000000"/>
                        </a:solidFill>
                        <a:effectLst/>
                        <a:latin typeface="+mn-lt"/>
                      </a:endParaRPr>
                    </a:p>
                  </a:txBody>
                  <a:tcPr marL="6580" marR="6580" marT="6580" marB="0" anchor="b">
                    <a:lnL w="12700" cap="flat" cmpd="sng" algn="ctr">
                      <a:solidFill>
                        <a:schemeClr val="tx1"/>
                      </a:solidFill>
                      <a:prstDash val="solid"/>
                      <a:round/>
                      <a:headEnd type="none" w="med" len="med"/>
                      <a:tailEnd type="none" w="med" len="med"/>
                    </a:lnL>
                    <a:noFill/>
                  </a:tcPr>
                </a:tc>
                <a:tc>
                  <a:txBody>
                    <a:bodyPr/>
                    <a:lstStyle/>
                    <a:p>
                      <a:pPr algn="ctr" fontAlgn="b"/>
                      <a:r>
                        <a:rPr lang="en-GB" sz="1200" u="none" strike="noStrike">
                          <a:effectLst/>
                          <a:latin typeface="+mn-lt"/>
                        </a:rPr>
                        <a:t>A</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a:effectLst/>
                          <a:latin typeface="+mn-lt"/>
                        </a:rPr>
                        <a:t>2</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dirty="0">
                          <a:effectLst/>
                          <a:latin typeface="+mn-lt"/>
                        </a:rPr>
                        <a:t>11</a:t>
                      </a:r>
                      <a:endParaRPr lang="en-GB" sz="1200" b="0" i="0" u="none" strike="noStrike" dirty="0">
                        <a:solidFill>
                          <a:srgbClr val="000000"/>
                        </a:solidFill>
                        <a:effectLst/>
                        <a:latin typeface="+mn-lt"/>
                      </a:endParaRPr>
                    </a:p>
                  </a:txBody>
                  <a:tcPr marL="6580" marR="6580" marT="6580" marB="0" anchor="b">
                    <a:noFill/>
                  </a:tcPr>
                </a:tc>
                <a:tc rowSpan="4">
                  <a:txBody>
                    <a:bodyPr/>
                    <a:lstStyle/>
                    <a:p>
                      <a:pPr algn="ctr" fontAlgn="ctr"/>
                      <a:r>
                        <a:rPr lang="en-GB" sz="1200" u="none" strike="noStrike">
                          <a:effectLst/>
                          <a:latin typeface="+mn-lt"/>
                        </a:rPr>
                        <a:t>50</a:t>
                      </a:r>
                      <a:endParaRPr lang="en-GB" sz="1200" b="0" i="0" u="none" strike="noStrike">
                        <a:solidFill>
                          <a:srgbClr val="000000"/>
                        </a:solidFill>
                        <a:effectLst/>
                        <a:latin typeface="+mn-lt"/>
                      </a:endParaRPr>
                    </a:p>
                  </a:txBody>
                  <a:tcPr marL="6580" marR="6580" marT="6580" marB="0" anchor="ctr">
                    <a:noFill/>
                  </a:tcPr>
                </a:tc>
                <a:tc rowSpan="4">
                  <a:txBody>
                    <a:bodyPr/>
                    <a:lstStyle/>
                    <a:p>
                      <a:pPr algn="ctr" fontAlgn="ctr"/>
                      <a:r>
                        <a:rPr lang="en-GB" sz="1200" u="none" strike="noStrike">
                          <a:effectLst/>
                          <a:latin typeface="+mn-lt"/>
                        </a:rPr>
                        <a:t>12.5</a:t>
                      </a:r>
                      <a:endParaRPr lang="en-GB" sz="1200" b="0" i="0" u="none" strike="noStrike">
                        <a:solidFill>
                          <a:srgbClr val="000000"/>
                        </a:solidFill>
                        <a:effectLst/>
                        <a:latin typeface="+mn-lt"/>
                      </a:endParaRPr>
                    </a:p>
                  </a:txBody>
                  <a:tcPr marL="6580" marR="6580" marT="6580" marB="0" anchor="ctr">
                    <a:noFill/>
                  </a:tcPr>
                </a:tc>
                <a:tc>
                  <a:txBody>
                    <a:bodyPr/>
                    <a:lstStyle/>
                    <a:p>
                      <a:pPr algn="l" fontAlgn="b"/>
                      <a:endParaRPr lang="en-GB" sz="1200" b="0" i="0" u="none" strike="noStrike">
                        <a:solidFill>
                          <a:srgbClr val="000000"/>
                        </a:solidFill>
                        <a:effectLst/>
                        <a:latin typeface="+mn-lt"/>
                      </a:endParaRPr>
                    </a:p>
                  </a:txBody>
                  <a:tcPr marL="6580" marR="6580" marT="6580" marB="0" anchor="b">
                    <a:noFill/>
                  </a:tcPr>
                </a:tc>
                <a:tc>
                  <a:txBody>
                    <a:bodyPr/>
                    <a:lstStyle/>
                    <a:p>
                      <a:pPr algn="l" fontAlgn="b"/>
                      <a:endParaRPr lang="en-GB" sz="1200" b="0" i="0" u="none" strike="noStrike">
                        <a:solidFill>
                          <a:srgbClr val="000000"/>
                        </a:solidFill>
                        <a:effectLst/>
                        <a:latin typeface="+mn-lt"/>
                      </a:endParaRPr>
                    </a:p>
                  </a:txBody>
                  <a:tcPr marL="6580" marR="6580" marT="6580" marB="0" anchor="b">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3891345818"/>
                  </a:ext>
                </a:extLst>
              </a:tr>
              <a:tr h="187850">
                <a:tc>
                  <a:txBody>
                    <a:bodyPr/>
                    <a:lstStyle/>
                    <a:p>
                      <a:pPr algn="ctr" fontAlgn="b"/>
                      <a:r>
                        <a:rPr lang="en-GB" sz="1200" u="none" strike="noStrike">
                          <a:effectLst/>
                          <a:latin typeface="+mn-lt"/>
                        </a:rPr>
                        <a:t>7</a:t>
                      </a:r>
                      <a:endParaRPr lang="en-GB" sz="1200" b="0" i="0" u="none" strike="noStrike">
                        <a:solidFill>
                          <a:srgbClr val="000000"/>
                        </a:solidFill>
                        <a:effectLst/>
                        <a:latin typeface="+mn-lt"/>
                      </a:endParaRPr>
                    </a:p>
                  </a:txBody>
                  <a:tcPr marL="6580" marR="6580" marT="6580" marB="0" anchor="b">
                    <a:lnL w="12700" cap="flat" cmpd="sng" algn="ctr">
                      <a:solidFill>
                        <a:schemeClr val="tx1"/>
                      </a:solidFill>
                      <a:prstDash val="solid"/>
                      <a:round/>
                      <a:headEnd type="none" w="med" len="med"/>
                      <a:tailEnd type="none" w="med" len="med"/>
                    </a:lnL>
                    <a:noFill/>
                  </a:tcPr>
                </a:tc>
                <a:tc>
                  <a:txBody>
                    <a:bodyPr/>
                    <a:lstStyle/>
                    <a:p>
                      <a:pPr algn="ctr" fontAlgn="b"/>
                      <a:r>
                        <a:rPr lang="en-GB" sz="1200" u="none" strike="noStrike">
                          <a:effectLst/>
                          <a:latin typeface="+mn-lt"/>
                        </a:rPr>
                        <a:t>A</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a:effectLst/>
                          <a:latin typeface="+mn-lt"/>
                        </a:rPr>
                        <a:t>2</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a:effectLst/>
                          <a:latin typeface="+mn-lt"/>
                        </a:rPr>
                        <a:t>12</a:t>
                      </a:r>
                      <a:endParaRPr lang="en-GB" sz="1200" b="0" i="0" u="none" strike="noStrike">
                        <a:solidFill>
                          <a:srgbClr val="000000"/>
                        </a:solidFill>
                        <a:effectLst/>
                        <a:latin typeface="+mn-lt"/>
                      </a:endParaRPr>
                    </a:p>
                  </a:txBody>
                  <a:tcPr marL="6580" marR="6580" marT="6580" marB="0" anchor="b">
                    <a:noFill/>
                  </a:tcPr>
                </a:tc>
                <a:tc vMerge="1">
                  <a:txBody>
                    <a:bodyPr/>
                    <a:lstStyle/>
                    <a:p>
                      <a:endParaRPr lang="en-US"/>
                    </a:p>
                  </a:txBody>
                  <a:tcPr/>
                </a:tc>
                <a:tc vMerge="1">
                  <a:txBody>
                    <a:bodyPr/>
                    <a:lstStyle/>
                    <a:p>
                      <a:endParaRPr lang="en-US"/>
                    </a:p>
                  </a:txBody>
                  <a:tcPr/>
                </a:tc>
                <a:tc>
                  <a:txBody>
                    <a:bodyPr/>
                    <a:lstStyle/>
                    <a:p>
                      <a:pPr algn="l" fontAlgn="b"/>
                      <a:endParaRPr lang="en-GB" sz="1200" b="0" i="0" u="none" strike="noStrike">
                        <a:solidFill>
                          <a:srgbClr val="000000"/>
                        </a:solidFill>
                        <a:effectLst/>
                        <a:latin typeface="+mn-lt"/>
                      </a:endParaRPr>
                    </a:p>
                  </a:txBody>
                  <a:tcPr marL="6580" marR="6580" marT="6580" marB="0" anchor="b">
                    <a:noFill/>
                  </a:tcPr>
                </a:tc>
                <a:tc>
                  <a:txBody>
                    <a:bodyPr/>
                    <a:lstStyle/>
                    <a:p>
                      <a:pPr algn="l" fontAlgn="b"/>
                      <a:endParaRPr lang="en-GB" sz="1200" b="0" i="0" u="none" strike="noStrike">
                        <a:solidFill>
                          <a:srgbClr val="000000"/>
                        </a:solidFill>
                        <a:effectLst/>
                        <a:latin typeface="+mn-lt"/>
                      </a:endParaRPr>
                    </a:p>
                  </a:txBody>
                  <a:tcPr marL="6580" marR="6580" marT="6580" marB="0" anchor="b">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20311616"/>
                  </a:ext>
                </a:extLst>
              </a:tr>
              <a:tr h="187850">
                <a:tc>
                  <a:txBody>
                    <a:bodyPr/>
                    <a:lstStyle/>
                    <a:p>
                      <a:pPr algn="ctr" fontAlgn="b"/>
                      <a:r>
                        <a:rPr lang="en-GB" sz="1200" u="none" strike="noStrike">
                          <a:effectLst/>
                          <a:latin typeface="+mn-lt"/>
                        </a:rPr>
                        <a:t>24</a:t>
                      </a:r>
                      <a:endParaRPr lang="en-GB" sz="1200" b="0" i="0" u="none" strike="noStrike">
                        <a:solidFill>
                          <a:srgbClr val="000000"/>
                        </a:solidFill>
                        <a:effectLst/>
                        <a:latin typeface="+mn-lt"/>
                      </a:endParaRPr>
                    </a:p>
                  </a:txBody>
                  <a:tcPr marL="6580" marR="6580" marT="6580" marB="0" anchor="b">
                    <a:lnL w="12700" cap="flat" cmpd="sng" algn="ctr">
                      <a:solidFill>
                        <a:schemeClr val="tx1"/>
                      </a:solidFill>
                      <a:prstDash val="solid"/>
                      <a:round/>
                      <a:headEnd type="none" w="med" len="med"/>
                      <a:tailEnd type="none" w="med" len="med"/>
                    </a:lnL>
                    <a:noFill/>
                  </a:tcPr>
                </a:tc>
                <a:tc>
                  <a:txBody>
                    <a:bodyPr/>
                    <a:lstStyle/>
                    <a:p>
                      <a:pPr algn="ctr" fontAlgn="b"/>
                      <a:r>
                        <a:rPr lang="en-GB" sz="1200" u="none" strike="noStrike">
                          <a:effectLst/>
                          <a:latin typeface="+mn-lt"/>
                        </a:rPr>
                        <a:t>B</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a:effectLst/>
                          <a:latin typeface="+mn-lt"/>
                        </a:rPr>
                        <a:t>2</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dirty="0">
                          <a:effectLst/>
                          <a:latin typeface="+mn-lt"/>
                        </a:rPr>
                        <a:t>13</a:t>
                      </a:r>
                      <a:endParaRPr lang="en-GB" sz="1200" b="0" i="0" u="none" strike="noStrike" dirty="0">
                        <a:solidFill>
                          <a:srgbClr val="000000"/>
                        </a:solidFill>
                        <a:effectLst/>
                        <a:latin typeface="+mn-lt"/>
                      </a:endParaRPr>
                    </a:p>
                  </a:txBody>
                  <a:tcPr marL="6580" marR="6580" marT="6580" marB="0" anchor="b">
                    <a:noFill/>
                  </a:tcPr>
                </a:tc>
                <a:tc vMerge="1">
                  <a:txBody>
                    <a:bodyPr/>
                    <a:lstStyle/>
                    <a:p>
                      <a:endParaRPr lang="en-US"/>
                    </a:p>
                  </a:txBody>
                  <a:tcPr/>
                </a:tc>
                <a:tc vMerge="1">
                  <a:txBody>
                    <a:bodyPr/>
                    <a:lstStyle/>
                    <a:p>
                      <a:endParaRPr lang="en-US"/>
                    </a:p>
                  </a:txBody>
                  <a:tcPr/>
                </a:tc>
                <a:tc>
                  <a:txBody>
                    <a:bodyPr/>
                    <a:lstStyle/>
                    <a:p>
                      <a:pPr algn="l" fontAlgn="b"/>
                      <a:endParaRPr lang="en-GB" sz="1200" b="0" i="0" u="none" strike="noStrike">
                        <a:solidFill>
                          <a:srgbClr val="000000"/>
                        </a:solidFill>
                        <a:effectLst/>
                        <a:latin typeface="+mn-lt"/>
                      </a:endParaRPr>
                    </a:p>
                  </a:txBody>
                  <a:tcPr marL="6580" marR="6580" marT="6580" marB="0" anchor="b">
                    <a:noFill/>
                  </a:tcPr>
                </a:tc>
                <a:tc>
                  <a:txBody>
                    <a:bodyPr/>
                    <a:lstStyle/>
                    <a:p>
                      <a:pPr algn="l" fontAlgn="b"/>
                      <a:endParaRPr lang="en-GB" sz="1200" b="0" i="0" u="none" strike="noStrike">
                        <a:solidFill>
                          <a:srgbClr val="000000"/>
                        </a:solidFill>
                        <a:effectLst/>
                        <a:latin typeface="+mn-lt"/>
                      </a:endParaRPr>
                    </a:p>
                  </a:txBody>
                  <a:tcPr marL="6580" marR="6580" marT="6580" marB="0" anchor="b">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233699062"/>
                  </a:ext>
                </a:extLst>
              </a:tr>
              <a:tr h="187850">
                <a:tc>
                  <a:txBody>
                    <a:bodyPr/>
                    <a:lstStyle/>
                    <a:p>
                      <a:pPr algn="ctr" fontAlgn="b"/>
                      <a:r>
                        <a:rPr lang="en-GB" sz="1200" u="none" strike="noStrike">
                          <a:effectLst/>
                          <a:latin typeface="+mn-lt"/>
                        </a:rPr>
                        <a:t>25</a:t>
                      </a:r>
                      <a:endParaRPr lang="en-GB" sz="1200" b="0" i="0" u="none" strike="noStrike">
                        <a:solidFill>
                          <a:srgbClr val="000000"/>
                        </a:solidFill>
                        <a:effectLst/>
                        <a:latin typeface="+mn-lt"/>
                      </a:endParaRPr>
                    </a:p>
                  </a:txBody>
                  <a:tcPr marL="6580" marR="6580" marT="6580" marB="0" anchor="b">
                    <a:lnL w="12700" cap="flat" cmpd="sng" algn="ctr">
                      <a:solidFill>
                        <a:schemeClr val="tx1"/>
                      </a:solidFill>
                      <a:prstDash val="solid"/>
                      <a:round/>
                      <a:headEnd type="none" w="med" len="med"/>
                      <a:tailEnd type="none" w="med" len="med"/>
                    </a:lnL>
                    <a:noFill/>
                  </a:tcPr>
                </a:tc>
                <a:tc>
                  <a:txBody>
                    <a:bodyPr/>
                    <a:lstStyle/>
                    <a:p>
                      <a:pPr algn="ctr" fontAlgn="b"/>
                      <a:r>
                        <a:rPr lang="en-GB" sz="1200" u="none" strike="noStrike">
                          <a:effectLst/>
                          <a:latin typeface="+mn-lt"/>
                        </a:rPr>
                        <a:t>B</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a:effectLst/>
                          <a:latin typeface="+mn-lt"/>
                        </a:rPr>
                        <a:t>2</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dirty="0">
                          <a:effectLst/>
                          <a:latin typeface="+mn-lt"/>
                        </a:rPr>
                        <a:t>14</a:t>
                      </a:r>
                      <a:endParaRPr lang="en-GB" sz="1200" b="0" i="0" u="none" strike="noStrike" dirty="0">
                        <a:solidFill>
                          <a:srgbClr val="000000"/>
                        </a:solidFill>
                        <a:effectLst/>
                        <a:latin typeface="+mn-lt"/>
                      </a:endParaRPr>
                    </a:p>
                  </a:txBody>
                  <a:tcPr marL="6580" marR="6580" marT="6580" marB="0" anchor="b">
                    <a:noFill/>
                  </a:tcPr>
                </a:tc>
                <a:tc vMerge="1">
                  <a:txBody>
                    <a:bodyPr/>
                    <a:lstStyle/>
                    <a:p>
                      <a:endParaRPr lang="en-US"/>
                    </a:p>
                  </a:txBody>
                  <a:tcPr/>
                </a:tc>
                <a:tc vMerge="1">
                  <a:txBody>
                    <a:bodyPr/>
                    <a:lstStyle/>
                    <a:p>
                      <a:endParaRPr lang="en-US"/>
                    </a:p>
                  </a:txBody>
                  <a:tcPr/>
                </a:tc>
                <a:tc>
                  <a:txBody>
                    <a:bodyPr/>
                    <a:lstStyle/>
                    <a:p>
                      <a:pPr algn="l" fontAlgn="b"/>
                      <a:endParaRPr lang="en-GB" sz="1200" b="0" i="0" u="none" strike="noStrike">
                        <a:solidFill>
                          <a:srgbClr val="000000"/>
                        </a:solidFill>
                        <a:effectLst/>
                        <a:latin typeface="+mn-lt"/>
                      </a:endParaRPr>
                    </a:p>
                  </a:txBody>
                  <a:tcPr marL="6580" marR="6580" marT="6580" marB="0" anchor="b">
                    <a:noFill/>
                  </a:tcPr>
                </a:tc>
                <a:tc>
                  <a:txBody>
                    <a:bodyPr/>
                    <a:lstStyle/>
                    <a:p>
                      <a:pPr algn="l" fontAlgn="b"/>
                      <a:endParaRPr lang="en-GB" sz="1200" b="0" i="0" u="none" strike="noStrike">
                        <a:solidFill>
                          <a:srgbClr val="000000"/>
                        </a:solidFill>
                        <a:effectLst/>
                        <a:latin typeface="+mn-lt"/>
                      </a:endParaRPr>
                    </a:p>
                  </a:txBody>
                  <a:tcPr marL="6580" marR="6580" marT="6580" marB="0" anchor="b">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3629821219"/>
                  </a:ext>
                </a:extLst>
              </a:tr>
              <a:tr h="187850">
                <a:tc>
                  <a:txBody>
                    <a:bodyPr/>
                    <a:lstStyle/>
                    <a:p>
                      <a:pPr algn="ctr" fontAlgn="b"/>
                      <a:r>
                        <a:rPr lang="en-GB" sz="1200" u="none" strike="noStrike">
                          <a:effectLst/>
                          <a:latin typeface="+mn-lt"/>
                        </a:rPr>
                        <a:t>3</a:t>
                      </a:r>
                      <a:endParaRPr lang="en-GB" sz="1200" b="0" i="0" u="none" strike="noStrike">
                        <a:solidFill>
                          <a:srgbClr val="000000"/>
                        </a:solidFill>
                        <a:effectLst/>
                        <a:latin typeface="+mn-lt"/>
                      </a:endParaRPr>
                    </a:p>
                  </a:txBody>
                  <a:tcPr marL="6580" marR="6580" marT="6580" marB="0" anchor="b">
                    <a:lnL w="12700" cap="flat" cmpd="sng" algn="ctr">
                      <a:solidFill>
                        <a:schemeClr val="tx1"/>
                      </a:solidFill>
                      <a:prstDash val="solid"/>
                      <a:round/>
                      <a:headEnd type="none" w="med" len="med"/>
                      <a:tailEnd type="none" w="med" len="med"/>
                    </a:lnL>
                    <a:noFill/>
                  </a:tcPr>
                </a:tc>
                <a:tc>
                  <a:txBody>
                    <a:bodyPr/>
                    <a:lstStyle/>
                    <a:p>
                      <a:pPr algn="ctr" fontAlgn="b"/>
                      <a:r>
                        <a:rPr lang="en-GB" sz="1200" u="none" strike="noStrike">
                          <a:effectLst/>
                          <a:latin typeface="+mn-lt"/>
                        </a:rPr>
                        <a:t>A</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a:effectLst/>
                          <a:latin typeface="+mn-lt"/>
                        </a:rPr>
                        <a:t>3</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a:effectLst/>
                          <a:latin typeface="+mn-lt"/>
                        </a:rPr>
                        <a:t>15</a:t>
                      </a:r>
                      <a:endParaRPr lang="en-GB" sz="1200" b="0" i="0" u="none" strike="noStrike">
                        <a:solidFill>
                          <a:srgbClr val="000000"/>
                        </a:solidFill>
                        <a:effectLst/>
                        <a:latin typeface="+mn-lt"/>
                      </a:endParaRPr>
                    </a:p>
                  </a:txBody>
                  <a:tcPr marL="6580" marR="6580" marT="6580" marB="0" anchor="b">
                    <a:noFill/>
                  </a:tcPr>
                </a:tc>
                <a:tc rowSpan="7">
                  <a:txBody>
                    <a:bodyPr/>
                    <a:lstStyle/>
                    <a:p>
                      <a:pPr algn="ctr" fontAlgn="ctr"/>
                      <a:r>
                        <a:rPr lang="en-GB" sz="1200" u="none" strike="noStrike" dirty="0">
                          <a:effectLst/>
                          <a:latin typeface="+mn-lt"/>
                        </a:rPr>
                        <a:t>126</a:t>
                      </a:r>
                      <a:endParaRPr lang="en-GB" sz="1200" b="0" i="0" u="none" strike="noStrike" dirty="0">
                        <a:solidFill>
                          <a:srgbClr val="000000"/>
                        </a:solidFill>
                        <a:effectLst/>
                        <a:latin typeface="+mn-lt"/>
                      </a:endParaRPr>
                    </a:p>
                  </a:txBody>
                  <a:tcPr marL="6580" marR="6580" marT="6580" marB="0" anchor="ctr">
                    <a:noFill/>
                  </a:tcPr>
                </a:tc>
                <a:tc rowSpan="7">
                  <a:txBody>
                    <a:bodyPr/>
                    <a:lstStyle/>
                    <a:p>
                      <a:pPr algn="ctr" fontAlgn="ctr"/>
                      <a:r>
                        <a:rPr lang="en-GB" sz="1200" u="none" strike="noStrike">
                          <a:effectLst/>
                          <a:latin typeface="+mn-lt"/>
                        </a:rPr>
                        <a:t>18</a:t>
                      </a:r>
                      <a:endParaRPr lang="en-GB" sz="1200" b="0" i="0" u="none" strike="noStrike">
                        <a:solidFill>
                          <a:srgbClr val="000000"/>
                        </a:solidFill>
                        <a:effectLst/>
                        <a:latin typeface="+mn-lt"/>
                      </a:endParaRPr>
                    </a:p>
                  </a:txBody>
                  <a:tcPr marL="6580" marR="6580" marT="6580" marB="0" anchor="ctr">
                    <a:noFill/>
                  </a:tcPr>
                </a:tc>
                <a:tc>
                  <a:txBody>
                    <a:bodyPr/>
                    <a:lstStyle/>
                    <a:p>
                      <a:pPr algn="l" fontAlgn="b"/>
                      <a:endParaRPr lang="en-GB" sz="1200" b="0" i="0" u="none" strike="noStrike">
                        <a:solidFill>
                          <a:srgbClr val="000000"/>
                        </a:solidFill>
                        <a:effectLst/>
                        <a:latin typeface="+mn-lt"/>
                      </a:endParaRPr>
                    </a:p>
                  </a:txBody>
                  <a:tcPr marL="6580" marR="6580" marT="6580" marB="0" anchor="b">
                    <a:noFill/>
                  </a:tcPr>
                </a:tc>
                <a:tc>
                  <a:txBody>
                    <a:bodyPr/>
                    <a:lstStyle/>
                    <a:p>
                      <a:pPr algn="l" fontAlgn="b"/>
                      <a:endParaRPr lang="en-GB" sz="1200" b="0" i="0" u="none" strike="noStrike">
                        <a:solidFill>
                          <a:srgbClr val="000000"/>
                        </a:solidFill>
                        <a:effectLst/>
                        <a:latin typeface="+mn-lt"/>
                      </a:endParaRPr>
                    </a:p>
                  </a:txBody>
                  <a:tcPr marL="6580" marR="6580" marT="6580" marB="0" anchor="b">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427110038"/>
                  </a:ext>
                </a:extLst>
              </a:tr>
              <a:tr h="187850">
                <a:tc>
                  <a:txBody>
                    <a:bodyPr/>
                    <a:lstStyle/>
                    <a:p>
                      <a:pPr algn="ctr" fontAlgn="b"/>
                      <a:r>
                        <a:rPr lang="en-GB" sz="1200" u="none" strike="noStrike">
                          <a:effectLst/>
                          <a:latin typeface="+mn-lt"/>
                        </a:rPr>
                        <a:t>13</a:t>
                      </a:r>
                      <a:endParaRPr lang="en-GB" sz="1200" b="0" i="0" u="none" strike="noStrike">
                        <a:solidFill>
                          <a:srgbClr val="000000"/>
                        </a:solidFill>
                        <a:effectLst/>
                        <a:latin typeface="+mn-lt"/>
                      </a:endParaRPr>
                    </a:p>
                  </a:txBody>
                  <a:tcPr marL="6580" marR="6580" marT="6580" marB="0" anchor="b">
                    <a:lnL w="12700" cap="flat" cmpd="sng" algn="ctr">
                      <a:solidFill>
                        <a:schemeClr val="tx1"/>
                      </a:solidFill>
                      <a:prstDash val="solid"/>
                      <a:round/>
                      <a:headEnd type="none" w="med" len="med"/>
                      <a:tailEnd type="none" w="med" len="med"/>
                    </a:lnL>
                    <a:noFill/>
                  </a:tcPr>
                </a:tc>
                <a:tc>
                  <a:txBody>
                    <a:bodyPr/>
                    <a:lstStyle/>
                    <a:p>
                      <a:pPr algn="ctr" fontAlgn="b"/>
                      <a:r>
                        <a:rPr lang="en-GB" sz="1200" u="none" strike="noStrike">
                          <a:effectLst/>
                          <a:latin typeface="+mn-lt"/>
                        </a:rPr>
                        <a:t>A</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a:effectLst/>
                          <a:latin typeface="+mn-lt"/>
                        </a:rPr>
                        <a:t>3</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dirty="0">
                          <a:effectLst/>
                          <a:latin typeface="+mn-lt"/>
                        </a:rPr>
                        <a:t>16</a:t>
                      </a:r>
                      <a:endParaRPr lang="en-GB" sz="1200" b="0" i="0" u="none" strike="noStrike" dirty="0">
                        <a:solidFill>
                          <a:srgbClr val="000000"/>
                        </a:solidFill>
                        <a:effectLst/>
                        <a:latin typeface="+mn-lt"/>
                      </a:endParaRPr>
                    </a:p>
                  </a:txBody>
                  <a:tcPr marL="6580" marR="6580" marT="6580" marB="0" anchor="b">
                    <a:noFill/>
                  </a:tcPr>
                </a:tc>
                <a:tc vMerge="1">
                  <a:txBody>
                    <a:bodyPr/>
                    <a:lstStyle/>
                    <a:p>
                      <a:endParaRPr lang="en-US"/>
                    </a:p>
                  </a:txBody>
                  <a:tcPr/>
                </a:tc>
                <a:tc vMerge="1">
                  <a:txBody>
                    <a:bodyPr/>
                    <a:lstStyle/>
                    <a:p>
                      <a:endParaRPr lang="en-US"/>
                    </a:p>
                  </a:txBody>
                  <a:tcPr/>
                </a:tc>
                <a:tc>
                  <a:txBody>
                    <a:bodyPr/>
                    <a:lstStyle/>
                    <a:p>
                      <a:pPr algn="l" fontAlgn="b"/>
                      <a:endParaRPr lang="en-GB" sz="1200" b="0" i="0" u="none" strike="noStrike">
                        <a:solidFill>
                          <a:srgbClr val="000000"/>
                        </a:solidFill>
                        <a:effectLst/>
                        <a:latin typeface="+mn-lt"/>
                      </a:endParaRPr>
                    </a:p>
                  </a:txBody>
                  <a:tcPr marL="6580" marR="6580" marT="6580" marB="0" anchor="b">
                    <a:noFill/>
                  </a:tcPr>
                </a:tc>
                <a:tc>
                  <a:txBody>
                    <a:bodyPr/>
                    <a:lstStyle/>
                    <a:p>
                      <a:pPr algn="l" fontAlgn="b"/>
                      <a:endParaRPr lang="en-GB" sz="1200" b="0" i="0" u="none" strike="noStrike">
                        <a:solidFill>
                          <a:srgbClr val="000000"/>
                        </a:solidFill>
                        <a:effectLst/>
                        <a:latin typeface="+mn-lt"/>
                      </a:endParaRPr>
                    </a:p>
                  </a:txBody>
                  <a:tcPr marL="6580" marR="6580" marT="6580" marB="0" anchor="b">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3452493937"/>
                  </a:ext>
                </a:extLst>
              </a:tr>
              <a:tr h="187850">
                <a:tc>
                  <a:txBody>
                    <a:bodyPr/>
                    <a:lstStyle/>
                    <a:p>
                      <a:pPr algn="ctr" fontAlgn="b"/>
                      <a:r>
                        <a:rPr lang="en-GB" sz="1200" u="none" strike="noStrike">
                          <a:effectLst/>
                          <a:latin typeface="+mn-lt"/>
                        </a:rPr>
                        <a:t>16</a:t>
                      </a:r>
                      <a:endParaRPr lang="en-GB" sz="1200" b="0" i="0" u="none" strike="noStrike">
                        <a:solidFill>
                          <a:srgbClr val="000000"/>
                        </a:solidFill>
                        <a:effectLst/>
                        <a:latin typeface="+mn-lt"/>
                      </a:endParaRPr>
                    </a:p>
                  </a:txBody>
                  <a:tcPr marL="6580" marR="6580" marT="6580" marB="0" anchor="b">
                    <a:lnL w="12700" cap="flat" cmpd="sng" algn="ctr">
                      <a:solidFill>
                        <a:schemeClr val="tx1"/>
                      </a:solidFill>
                      <a:prstDash val="solid"/>
                      <a:round/>
                      <a:headEnd type="none" w="med" len="med"/>
                      <a:tailEnd type="none" w="med" len="med"/>
                    </a:lnL>
                    <a:noFill/>
                  </a:tcPr>
                </a:tc>
                <a:tc>
                  <a:txBody>
                    <a:bodyPr/>
                    <a:lstStyle/>
                    <a:p>
                      <a:pPr algn="ctr" fontAlgn="b"/>
                      <a:r>
                        <a:rPr lang="en-GB" sz="1200" u="none" strike="noStrike">
                          <a:effectLst/>
                          <a:latin typeface="+mn-lt"/>
                        </a:rPr>
                        <a:t>B</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a:effectLst/>
                          <a:latin typeface="+mn-lt"/>
                        </a:rPr>
                        <a:t>3</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a:effectLst/>
                          <a:latin typeface="+mn-lt"/>
                        </a:rPr>
                        <a:t>17</a:t>
                      </a:r>
                      <a:endParaRPr lang="en-GB" sz="1200" b="0" i="0" u="none" strike="noStrike">
                        <a:solidFill>
                          <a:srgbClr val="000000"/>
                        </a:solidFill>
                        <a:effectLst/>
                        <a:latin typeface="+mn-lt"/>
                      </a:endParaRPr>
                    </a:p>
                  </a:txBody>
                  <a:tcPr marL="6580" marR="6580" marT="6580" marB="0" anchor="b">
                    <a:noFill/>
                  </a:tcPr>
                </a:tc>
                <a:tc vMerge="1">
                  <a:txBody>
                    <a:bodyPr/>
                    <a:lstStyle/>
                    <a:p>
                      <a:endParaRPr lang="en-US"/>
                    </a:p>
                  </a:txBody>
                  <a:tcPr/>
                </a:tc>
                <a:tc vMerge="1">
                  <a:txBody>
                    <a:bodyPr/>
                    <a:lstStyle/>
                    <a:p>
                      <a:endParaRPr lang="en-US"/>
                    </a:p>
                  </a:txBody>
                  <a:tcPr/>
                </a:tc>
                <a:tc>
                  <a:txBody>
                    <a:bodyPr/>
                    <a:lstStyle/>
                    <a:p>
                      <a:pPr algn="l" fontAlgn="b"/>
                      <a:endParaRPr lang="en-GB" sz="1200" b="0" i="0" u="none" strike="noStrike">
                        <a:solidFill>
                          <a:srgbClr val="000000"/>
                        </a:solidFill>
                        <a:effectLst/>
                        <a:latin typeface="+mn-lt"/>
                      </a:endParaRPr>
                    </a:p>
                  </a:txBody>
                  <a:tcPr marL="6580" marR="6580" marT="6580" marB="0" anchor="b">
                    <a:noFill/>
                  </a:tcPr>
                </a:tc>
                <a:tc>
                  <a:txBody>
                    <a:bodyPr/>
                    <a:lstStyle/>
                    <a:p>
                      <a:pPr algn="l" fontAlgn="b"/>
                      <a:endParaRPr lang="en-GB" sz="1200" b="0" i="0" u="none" strike="noStrike">
                        <a:solidFill>
                          <a:srgbClr val="000000"/>
                        </a:solidFill>
                        <a:effectLst/>
                        <a:latin typeface="+mn-lt"/>
                      </a:endParaRPr>
                    </a:p>
                  </a:txBody>
                  <a:tcPr marL="6580" marR="6580" marT="6580" marB="0" anchor="b">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3628865864"/>
                  </a:ext>
                </a:extLst>
              </a:tr>
              <a:tr h="187850">
                <a:tc>
                  <a:txBody>
                    <a:bodyPr/>
                    <a:lstStyle/>
                    <a:p>
                      <a:pPr algn="ctr" fontAlgn="b"/>
                      <a:r>
                        <a:rPr lang="en-GB" sz="1200" u="none" strike="noStrike">
                          <a:effectLst/>
                          <a:latin typeface="+mn-lt"/>
                        </a:rPr>
                        <a:t>20</a:t>
                      </a:r>
                      <a:endParaRPr lang="en-GB" sz="1200" b="0" i="0" u="none" strike="noStrike">
                        <a:solidFill>
                          <a:srgbClr val="000000"/>
                        </a:solidFill>
                        <a:effectLst/>
                        <a:latin typeface="+mn-lt"/>
                      </a:endParaRPr>
                    </a:p>
                  </a:txBody>
                  <a:tcPr marL="6580" marR="6580" marT="6580" marB="0" anchor="b">
                    <a:lnL w="12700" cap="flat" cmpd="sng" algn="ctr">
                      <a:solidFill>
                        <a:schemeClr val="tx1"/>
                      </a:solidFill>
                      <a:prstDash val="solid"/>
                      <a:round/>
                      <a:headEnd type="none" w="med" len="med"/>
                      <a:tailEnd type="none" w="med" len="med"/>
                    </a:lnL>
                    <a:noFill/>
                  </a:tcPr>
                </a:tc>
                <a:tc>
                  <a:txBody>
                    <a:bodyPr/>
                    <a:lstStyle/>
                    <a:p>
                      <a:pPr algn="ctr" fontAlgn="b"/>
                      <a:r>
                        <a:rPr lang="en-GB" sz="1200" u="none" strike="noStrike">
                          <a:effectLst/>
                          <a:latin typeface="+mn-lt"/>
                        </a:rPr>
                        <a:t>B</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a:effectLst/>
                          <a:latin typeface="+mn-lt"/>
                        </a:rPr>
                        <a:t>3</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dirty="0">
                          <a:effectLst/>
                          <a:latin typeface="+mn-lt"/>
                        </a:rPr>
                        <a:t>18</a:t>
                      </a:r>
                      <a:endParaRPr lang="en-GB" sz="1200" b="0" i="0" u="none" strike="noStrike" dirty="0">
                        <a:solidFill>
                          <a:srgbClr val="000000"/>
                        </a:solidFill>
                        <a:effectLst/>
                        <a:latin typeface="+mn-lt"/>
                      </a:endParaRPr>
                    </a:p>
                  </a:txBody>
                  <a:tcPr marL="6580" marR="6580" marT="6580" marB="0" anchor="b">
                    <a:noFill/>
                  </a:tcPr>
                </a:tc>
                <a:tc vMerge="1">
                  <a:txBody>
                    <a:bodyPr/>
                    <a:lstStyle/>
                    <a:p>
                      <a:endParaRPr lang="en-US"/>
                    </a:p>
                  </a:txBody>
                  <a:tcPr/>
                </a:tc>
                <a:tc vMerge="1">
                  <a:txBody>
                    <a:bodyPr/>
                    <a:lstStyle/>
                    <a:p>
                      <a:endParaRPr lang="en-US"/>
                    </a:p>
                  </a:txBody>
                  <a:tcPr/>
                </a:tc>
                <a:tc>
                  <a:txBody>
                    <a:bodyPr/>
                    <a:lstStyle/>
                    <a:p>
                      <a:pPr algn="l" fontAlgn="b"/>
                      <a:endParaRPr lang="en-GB" sz="1200" b="0" i="0" u="none" strike="noStrike">
                        <a:solidFill>
                          <a:srgbClr val="000000"/>
                        </a:solidFill>
                        <a:effectLst/>
                        <a:latin typeface="+mn-lt"/>
                      </a:endParaRPr>
                    </a:p>
                  </a:txBody>
                  <a:tcPr marL="6580" marR="6580" marT="6580" marB="0" anchor="b">
                    <a:noFill/>
                  </a:tcPr>
                </a:tc>
                <a:tc>
                  <a:txBody>
                    <a:bodyPr/>
                    <a:lstStyle/>
                    <a:p>
                      <a:pPr algn="l" fontAlgn="b"/>
                      <a:endParaRPr lang="en-GB" sz="1200" b="0" i="0" u="none" strike="noStrike">
                        <a:solidFill>
                          <a:srgbClr val="000000"/>
                        </a:solidFill>
                        <a:effectLst/>
                        <a:latin typeface="+mn-lt"/>
                      </a:endParaRPr>
                    </a:p>
                  </a:txBody>
                  <a:tcPr marL="6580" marR="6580" marT="6580" marB="0" anchor="b">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2522250452"/>
                  </a:ext>
                </a:extLst>
              </a:tr>
              <a:tr h="187850">
                <a:tc>
                  <a:txBody>
                    <a:bodyPr/>
                    <a:lstStyle/>
                    <a:p>
                      <a:pPr algn="ctr" fontAlgn="b"/>
                      <a:r>
                        <a:rPr lang="en-GB" sz="1200" u="none" strike="noStrike">
                          <a:effectLst/>
                          <a:latin typeface="+mn-lt"/>
                        </a:rPr>
                        <a:t>23</a:t>
                      </a:r>
                      <a:endParaRPr lang="en-GB" sz="1200" b="0" i="0" u="none" strike="noStrike">
                        <a:solidFill>
                          <a:srgbClr val="000000"/>
                        </a:solidFill>
                        <a:effectLst/>
                        <a:latin typeface="+mn-lt"/>
                      </a:endParaRPr>
                    </a:p>
                  </a:txBody>
                  <a:tcPr marL="6580" marR="6580" marT="6580" marB="0" anchor="b">
                    <a:lnL w="12700" cap="flat" cmpd="sng" algn="ctr">
                      <a:solidFill>
                        <a:schemeClr val="tx1"/>
                      </a:solidFill>
                      <a:prstDash val="solid"/>
                      <a:round/>
                      <a:headEnd type="none" w="med" len="med"/>
                      <a:tailEnd type="none" w="med" len="med"/>
                    </a:lnL>
                    <a:noFill/>
                  </a:tcPr>
                </a:tc>
                <a:tc>
                  <a:txBody>
                    <a:bodyPr/>
                    <a:lstStyle/>
                    <a:p>
                      <a:pPr algn="ctr" fontAlgn="b"/>
                      <a:r>
                        <a:rPr lang="en-GB" sz="1200" u="none" strike="noStrike">
                          <a:effectLst/>
                          <a:latin typeface="+mn-lt"/>
                        </a:rPr>
                        <a:t>B</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a:effectLst/>
                          <a:latin typeface="+mn-lt"/>
                        </a:rPr>
                        <a:t>3</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a:effectLst/>
                          <a:latin typeface="+mn-lt"/>
                        </a:rPr>
                        <a:t>19</a:t>
                      </a:r>
                      <a:endParaRPr lang="en-GB" sz="1200" b="0" i="0" u="none" strike="noStrike">
                        <a:solidFill>
                          <a:srgbClr val="000000"/>
                        </a:solidFill>
                        <a:effectLst/>
                        <a:latin typeface="+mn-lt"/>
                      </a:endParaRPr>
                    </a:p>
                  </a:txBody>
                  <a:tcPr marL="6580" marR="6580" marT="6580" marB="0" anchor="b">
                    <a:noFill/>
                  </a:tcPr>
                </a:tc>
                <a:tc vMerge="1">
                  <a:txBody>
                    <a:bodyPr/>
                    <a:lstStyle/>
                    <a:p>
                      <a:endParaRPr lang="en-US"/>
                    </a:p>
                  </a:txBody>
                  <a:tcPr/>
                </a:tc>
                <a:tc vMerge="1">
                  <a:txBody>
                    <a:bodyPr/>
                    <a:lstStyle/>
                    <a:p>
                      <a:endParaRPr lang="en-US"/>
                    </a:p>
                  </a:txBody>
                  <a:tcPr/>
                </a:tc>
                <a:tc>
                  <a:txBody>
                    <a:bodyPr/>
                    <a:lstStyle/>
                    <a:p>
                      <a:pPr algn="l" fontAlgn="b"/>
                      <a:endParaRPr lang="en-GB" sz="1200" b="0" i="0" u="none" strike="noStrike">
                        <a:solidFill>
                          <a:srgbClr val="000000"/>
                        </a:solidFill>
                        <a:effectLst/>
                        <a:latin typeface="+mn-lt"/>
                      </a:endParaRPr>
                    </a:p>
                  </a:txBody>
                  <a:tcPr marL="6580" marR="6580" marT="6580" marB="0" anchor="b">
                    <a:noFill/>
                  </a:tcPr>
                </a:tc>
                <a:tc>
                  <a:txBody>
                    <a:bodyPr/>
                    <a:lstStyle/>
                    <a:p>
                      <a:pPr algn="l" fontAlgn="b"/>
                      <a:endParaRPr lang="en-GB" sz="1200" b="0" i="0" u="none" strike="noStrike">
                        <a:solidFill>
                          <a:srgbClr val="000000"/>
                        </a:solidFill>
                        <a:effectLst/>
                        <a:latin typeface="+mn-lt"/>
                      </a:endParaRPr>
                    </a:p>
                  </a:txBody>
                  <a:tcPr marL="6580" marR="6580" marT="6580" marB="0" anchor="b">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933688337"/>
                  </a:ext>
                </a:extLst>
              </a:tr>
              <a:tr h="187850">
                <a:tc>
                  <a:txBody>
                    <a:bodyPr/>
                    <a:lstStyle/>
                    <a:p>
                      <a:pPr algn="ctr" fontAlgn="b"/>
                      <a:r>
                        <a:rPr lang="en-GB" sz="1200" u="none" strike="noStrike">
                          <a:effectLst/>
                          <a:latin typeface="+mn-lt"/>
                        </a:rPr>
                        <a:t>26</a:t>
                      </a:r>
                      <a:endParaRPr lang="en-GB" sz="1200" b="0" i="0" u="none" strike="noStrike">
                        <a:solidFill>
                          <a:srgbClr val="000000"/>
                        </a:solidFill>
                        <a:effectLst/>
                        <a:latin typeface="+mn-lt"/>
                      </a:endParaRPr>
                    </a:p>
                  </a:txBody>
                  <a:tcPr marL="6580" marR="6580" marT="6580" marB="0" anchor="b">
                    <a:lnL w="12700" cap="flat" cmpd="sng" algn="ctr">
                      <a:solidFill>
                        <a:schemeClr val="tx1"/>
                      </a:solidFill>
                      <a:prstDash val="solid"/>
                      <a:round/>
                      <a:headEnd type="none" w="med" len="med"/>
                      <a:tailEnd type="none" w="med" len="med"/>
                    </a:lnL>
                    <a:noFill/>
                  </a:tcPr>
                </a:tc>
                <a:tc>
                  <a:txBody>
                    <a:bodyPr/>
                    <a:lstStyle/>
                    <a:p>
                      <a:pPr algn="ctr" fontAlgn="b"/>
                      <a:r>
                        <a:rPr lang="en-GB" sz="1200" u="none" strike="noStrike">
                          <a:effectLst/>
                          <a:latin typeface="+mn-lt"/>
                        </a:rPr>
                        <a:t>B</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a:effectLst/>
                          <a:latin typeface="+mn-lt"/>
                        </a:rPr>
                        <a:t>3</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dirty="0">
                          <a:effectLst/>
                          <a:latin typeface="+mn-lt"/>
                        </a:rPr>
                        <a:t>20</a:t>
                      </a:r>
                      <a:endParaRPr lang="en-GB" sz="1200" b="0" i="0" u="none" strike="noStrike" dirty="0">
                        <a:solidFill>
                          <a:srgbClr val="000000"/>
                        </a:solidFill>
                        <a:effectLst/>
                        <a:latin typeface="+mn-lt"/>
                      </a:endParaRPr>
                    </a:p>
                  </a:txBody>
                  <a:tcPr marL="6580" marR="6580" marT="6580" marB="0" anchor="b">
                    <a:noFill/>
                  </a:tcPr>
                </a:tc>
                <a:tc vMerge="1">
                  <a:txBody>
                    <a:bodyPr/>
                    <a:lstStyle/>
                    <a:p>
                      <a:endParaRPr lang="en-US"/>
                    </a:p>
                  </a:txBody>
                  <a:tcPr/>
                </a:tc>
                <a:tc vMerge="1">
                  <a:txBody>
                    <a:bodyPr/>
                    <a:lstStyle/>
                    <a:p>
                      <a:endParaRPr lang="en-US"/>
                    </a:p>
                  </a:txBody>
                  <a:tcPr/>
                </a:tc>
                <a:tc>
                  <a:txBody>
                    <a:bodyPr/>
                    <a:lstStyle/>
                    <a:p>
                      <a:pPr algn="l" fontAlgn="b"/>
                      <a:endParaRPr lang="en-GB" sz="1200" b="0" i="0" u="none" strike="noStrike">
                        <a:solidFill>
                          <a:srgbClr val="000000"/>
                        </a:solidFill>
                        <a:effectLst/>
                        <a:latin typeface="+mn-lt"/>
                      </a:endParaRPr>
                    </a:p>
                  </a:txBody>
                  <a:tcPr marL="6580" marR="6580" marT="6580" marB="0" anchor="b">
                    <a:noFill/>
                  </a:tcPr>
                </a:tc>
                <a:tc>
                  <a:txBody>
                    <a:bodyPr/>
                    <a:lstStyle/>
                    <a:p>
                      <a:pPr algn="l" fontAlgn="b"/>
                      <a:endParaRPr lang="en-GB" sz="1200" b="0" i="0" u="none" strike="noStrike">
                        <a:solidFill>
                          <a:srgbClr val="000000"/>
                        </a:solidFill>
                        <a:effectLst/>
                        <a:latin typeface="+mn-lt"/>
                      </a:endParaRPr>
                    </a:p>
                  </a:txBody>
                  <a:tcPr marL="6580" marR="6580" marT="6580" marB="0" anchor="b">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412908479"/>
                  </a:ext>
                </a:extLst>
              </a:tr>
              <a:tr h="187850">
                <a:tc>
                  <a:txBody>
                    <a:bodyPr/>
                    <a:lstStyle/>
                    <a:p>
                      <a:pPr algn="ctr" fontAlgn="b"/>
                      <a:r>
                        <a:rPr lang="en-GB" sz="1200" u="none" strike="noStrike">
                          <a:effectLst/>
                          <a:latin typeface="+mn-lt"/>
                        </a:rPr>
                        <a:t>29</a:t>
                      </a:r>
                      <a:endParaRPr lang="en-GB" sz="1200" b="0" i="0" u="none" strike="noStrike">
                        <a:solidFill>
                          <a:srgbClr val="000000"/>
                        </a:solidFill>
                        <a:effectLst/>
                        <a:latin typeface="+mn-lt"/>
                      </a:endParaRPr>
                    </a:p>
                  </a:txBody>
                  <a:tcPr marL="6580" marR="6580" marT="6580" marB="0" anchor="b">
                    <a:lnL w="12700" cap="flat" cmpd="sng" algn="ctr">
                      <a:solidFill>
                        <a:schemeClr val="tx1"/>
                      </a:solidFill>
                      <a:prstDash val="solid"/>
                      <a:round/>
                      <a:headEnd type="none" w="med" len="med"/>
                      <a:tailEnd type="none" w="med" len="med"/>
                    </a:lnL>
                    <a:noFill/>
                  </a:tcPr>
                </a:tc>
                <a:tc>
                  <a:txBody>
                    <a:bodyPr/>
                    <a:lstStyle/>
                    <a:p>
                      <a:pPr algn="ctr" fontAlgn="b"/>
                      <a:r>
                        <a:rPr lang="en-GB" sz="1200" u="none" strike="noStrike">
                          <a:effectLst/>
                          <a:latin typeface="+mn-lt"/>
                        </a:rPr>
                        <a:t>B</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a:effectLst/>
                          <a:latin typeface="+mn-lt"/>
                        </a:rPr>
                        <a:t>3</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dirty="0">
                          <a:effectLst/>
                          <a:latin typeface="+mn-lt"/>
                        </a:rPr>
                        <a:t>21</a:t>
                      </a:r>
                      <a:endParaRPr lang="en-GB" sz="1200" b="0" i="0" u="none" strike="noStrike" dirty="0">
                        <a:solidFill>
                          <a:srgbClr val="000000"/>
                        </a:solidFill>
                        <a:effectLst/>
                        <a:latin typeface="+mn-lt"/>
                      </a:endParaRPr>
                    </a:p>
                  </a:txBody>
                  <a:tcPr marL="6580" marR="6580" marT="6580" marB="0" anchor="b">
                    <a:noFill/>
                  </a:tcPr>
                </a:tc>
                <a:tc vMerge="1">
                  <a:txBody>
                    <a:bodyPr/>
                    <a:lstStyle/>
                    <a:p>
                      <a:endParaRPr lang="en-US"/>
                    </a:p>
                  </a:txBody>
                  <a:tcPr/>
                </a:tc>
                <a:tc vMerge="1">
                  <a:txBody>
                    <a:bodyPr/>
                    <a:lstStyle/>
                    <a:p>
                      <a:endParaRPr lang="en-US"/>
                    </a:p>
                  </a:txBody>
                  <a:tcPr/>
                </a:tc>
                <a:tc>
                  <a:txBody>
                    <a:bodyPr/>
                    <a:lstStyle/>
                    <a:p>
                      <a:pPr algn="l" fontAlgn="b"/>
                      <a:endParaRPr lang="en-GB" sz="1200" b="0" i="0" u="none" strike="noStrike">
                        <a:solidFill>
                          <a:srgbClr val="000000"/>
                        </a:solidFill>
                        <a:effectLst/>
                        <a:latin typeface="+mn-lt"/>
                      </a:endParaRPr>
                    </a:p>
                  </a:txBody>
                  <a:tcPr marL="6580" marR="6580" marT="6580" marB="0" anchor="b">
                    <a:noFill/>
                  </a:tcPr>
                </a:tc>
                <a:tc>
                  <a:txBody>
                    <a:bodyPr/>
                    <a:lstStyle/>
                    <a:p>
                      <a:pPr algn="l" fontAlgn="b"/>
                      <a:endParaRPr lang="en-GB" sz="1200" b="0" i="0" u="none" strike="noStrike">
                        <a:solidFill>
                          <a:srgbClr val="000000"/>
                        </a:solidFill>
                        <a:effectLst/>
                        <a:latin typeface="+mn-lt"/>
                      </a:endParaRPr>
                    </a:p>
                  </a:txBody>
                  <a:tcPr marL="6580" marR="6580" marT="6580" marB="0" anchor="b">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3135972139"/>
                  </a:ext>
                </a:extLst>
              </a:tr>
              <a:tr h="187850">
                <a:tc>
                  <a:txBody>
                    <a:bodyPr/>
                    <a:lstStyle/>
                    <a:p>
                      <a:pPr algn="ctr" fontAlgn="b"/>
                      <a:r>
                        <a:rPr lang="en-GB" sz="1200" u="none" strike="noStrike">
                          <a:effectLst/>
                          <a:latin typeface="+mn-lt"/>
                        </a:rPr>
                        <a:t>4</a:t>
                      </a:r>
                      <a:endParaRPr lang="en-GB" sz="1200" b="0" i="0" u="none" strike="noStrike">
                        <a:solidFill>
                          <a:srgbClr val="000000"/>
                        </a:solidFill>
                        <a:effectLst/>
                        <a:latin typeface="+mn-lt"/>
                      </a:endParaRPr>
                    </a:p>
                  </a:txBody>
                  <a:tcPr marL="6580" marR="6580" marT="6580" marB="0" anchor="b">
                    <a:lnL w="12700" cap="flat" cmpd="sng" algn="ctr">
                      <a:solidFill>
                        <a:schemeClr val="tx1"/>
                      </a:solidFill>
                      <a:prstDash val="solid"/>
                      <a:round/>
                      <a:headEnd type="none" w="med" len="med"/>
                      <a:tailEnd type="none" w="med" len="med"/>
                    </a:lnL>
                    <a:noFill/>
                  </a:tcPr>
                </a:tc>
                <a:tc>
                  <a:txBody>
                    <a:bodyPr/>
                    <a:lstStyle/>
                    <a:p>
                      <a:pPr algn="ctr" fontAlgn="b"/>
                      <a:r>
                        <a:rPr lang="en-GB" sz="1200" u="none" strike="noStrike">
                          <a:effectLst/>
                          <a:latin typeface="+mn-lt"/>
                        </a:rPr>
                        <a:t>A</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a:effectLst/>
                          <a:latin typeface="+mn-lt"/>
                        </a:rPr>
                        <a:t>4</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a:effectLst/>
                          <a:latin typeface="+mn-lt"/>
                        </a:rPr>
                        <a:t>22</a:t>
                      </a:r>
                      <a:endParaRPr lang="en-GB" sz="1200" b="0" i="0" u="none" strike="noStrike">
                        <a:solidFill>
                          <a:srgbClr val="000000"/>
                        </a:solidFill>
                        <a:effectLst/>
                        <a:latin typeface="+mn-lt"/>
                      </a:endParaRPr>
                    </a:p>
                  </a:txBody>
                  <a:tcPr marL="6580" marR="6580" marT="6580" marB="0" anchor="b">
                    <a:noFill/>
                  </a:tcPr>
                </a:tc>
                <a:tc rowSpan="5">
                  <a:txBody>
                    <a:bodyPr/>
                    <a:lstStyle/>
                    <a:p>
                      <a:pPr algn="ctr" fontAlgn="ctr"/>
                      <a:r>
                        <a:rPr lang="en-GB" sz="1200" u="none" strike="noStrike">
                          <a:effectLst/>
                          <a:latin typeface="+mn-lt"/>
                        </a:rPr>
                        <a:t>120</a:t>
                      </a:r>
                      <a:endParaRPr lang="en-GB" sz="1200" b="0" i="0" u="none" strike="noStrike">
                        <a:solidFill>
                          <a:srgbClr val="000000"/>
                        </a:solidFill>
                        <a:effectLst/>
                        <a:latin typeface="+mn-lt"/>
                      </a:endParaRPr>
                    </a:p>
                  </a:txBody>
                  <a:tcPr marL="6580" marR="6580" marT="6580" marB="0" anchor="ctr">
                    <a:noFill/>
                  </a:tcPr>
                </a:tc>
                <a:tc rowSpan="5">
                  <a:txBody>
                    <a:bodyPr/>
                    <a:lstStyle/>
                    <a:p>
                      <a:pPr algn="ctr" fontAlgn="ctr"/>
                      <a:r>
                        <a:rPr lang="en-GB" sz="1200" u="none" strike="noStrike">
                          <a:effectLst/>
                          <a:latin typeface="+mn-lt"/>
                        </a:rPr>
                        <a:t>24</a:t>
                      </a:r>
                      <a:endParaRPr lang="en-GB" sz="1200" b="0" i="0" u="none" strike="noStrike">
                        <a:solidFill>
                          <a:srgbClr val="000000"/>
                        </a:solidFill>
                        <a:effectLst/>
                        <a:latin typeface="+mn-lt"/>
                      </a:endParaRPr>
                    </a:p>
                  </a:txBody>
                  <a:tcPr marL="6580" marR="6580" marT="6580" marB="0" anchor="ctr">
                    <a:noFill/>
                  </a:tcPr>
                </a:tc>
                <a:tc>
                  <a:txBody>
                    <a:bodyPr/>
                    <a:lstStyle/>
                    <a:p>
                      <a:pPr algn="l" fontAlgn="b"/>
                      <a:endParaRPr lang="en-GB" sz="1200" b="0" i="0" u="none" strike="noStrike">
                        <a:solidFill>
                          <a:srgbClr val="000000"/>
                        </a:solidFill>
                        <a:effectLst/>
                        <a:latin typeface="+mn-lt"/>
                      </a:endParaRPr>
                    </a:p>
                  </a:txBody>
                  <a:tcPr marL="6580" marR="6580" marT="6580" marB="0" anchor="b">
                    <a:noFill/>
                  </a:tcPr>
                </a:tc>
                <a:tc>
                  <a:txBody>
                    <a:bodyPr/>
                    <a:lstStyle/>
                    <a:p>
                      <a:pPr algn="l" fontAlgn="b"/>
                      <a:endParaRPr lang="en-GB" sz="1200" b="0" i="0" u="none" strike="noStrike">
                        <a:solidFill>
                          <a:srgbClr val="000000"/>
                        </a:solidFill>
                        <a:effectLst/>
                        <a:latin typeface="+mn-lt"/>
                      </a:endParaRPr>
                    </a:p>
                  </a:txBody>
                  <a:tcPr marL="6580" marR="6580" marT="6580" marB="0" anchor="b">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982718858"/>
                  </a:ext>
                </a:extLst>
              </a:tr>
              <a:tr h="187850">
                <a:tc>
                  <a:txBody>
                    <a:bodyPr/>
                    <a:lstStyle/>
                    <a:p>
                      <a:pPr algn="ctr" fontAlgn="b"/>
                      <a:r>
                        <a:rPr lang="en-GB" sz="1200" u="none" strike="noStrike">
                          <a:effectLst/>
                          <a:latin typeface="+mn-lt"/>
                        </a:rPr>
                        <a:t>17</a:t>
                      </a:r>
                      <a:endParaRPr lang="en-GB" sz="1200" b="0" i="0" u="none" strike="noStrike">
                        <a:solidFill>
                          <a:srgbClr val="000000"/>
                        </a:solidFill>
                        <a:effectLst/>
                        <a:latin typeface="+mn-lt"/>
                      </a:endParaRPr>
                    </a:p>
                  </a:txBody>
                  <a:tcPr marL="6580" marR="6580" marT="6580" marB="0" anchor="b">
                    <a:lnL w="12700" cap="flat" cmpd="sng" algn="ctr">
                      <a:solidFill>
                        <a:schemeClr val="tx1"/>
                      </a:solidFill>
                      <a:prstDash val="solid"/>
                      <a:round/>
                      <a:headEnd type="none" w="med" len="med"/>
                      <a:tailEnd type="none" w="med" len="med"/>
                    </a:lnL>
                    <a:noFill/>
                  </a:tcPr>
                </a:tc>
                <a:tc>
                  <a:txBody>
                    <a:bodyPr/>
                    <a:lstStyle/>
                    <a:p>
                      <a:pPr algn="ctr" fontAlgn="b"/>
                      <a:r>
                        <a:rPr lang="en-GB" sz="1200" u="none" strike="noStrike">
                          <a:effectLst/>
                          <a:latin typeface="+mn-lt"/>
                        </a:rPr>
                        <a:t>B</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a:effectLst/>
                          <a:latin typeface="+mn-lt"/>
                        </a:rPr>
                        <a:t>4</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dirty="0">
                          <a:effectLst/>
                          <a:latin typeface="+mn-lt"/>
                        </a:rPr>
                        <a:t>23</a:t>
                      </a:r>
                      <a:endParaRPr lang="en-GB" sz="1200" b="0" i="0" u="none" strike="noStrike" dirty="0">
                        <a:solidFill>
                          <a:srgbClr val="000000"/>
                        </a:solidFill>
                        <a:effectLst/>
                        <a:latin typeface="+mn-lt"/>
                      </a:endParaRPr>
                    </a:p>
                  </a:txBody>
                  <a:tcPr marL="6580" marR="6580" marT="6580" marB="0" anchor="b">
                    <a:noFill/>
                  </a:tcPr>
                </a:tc>
                <a:tc vMerge="1">
                  <a:txBody>
                    <a:bodyPr/>
                    <a:lstStyle/>
                    <a:p>
                      <a:endParaRPr lang="en-US"/>
                    </a:p>
                  </a:txBody>
                  <a:tcPr/>
                </a:tc>
                <a:tc vMerge="1">
                  <a:txBody>
                    <a:bodyPr/>
                    <a:lstStyle/>
                    <a:p>
                      <a:endParaRPr lang="en-US"/>
                    </a:p>
                  </a:txBody>
                  <a:tcPr/>
                </a:tc>
                <a:tc>
                  <a:txBody>
                    <a:bodyPr/>
                    <a:lstStyle/>
                    <a:p>
                      <a:pPr algn="l" fontAlgn="b"/>
                      <a:endParaRPr lang="en-GB" sz="1200" b="0" i="0" u="none" strike="noStrike">
                        <a:solidFill>
                          <a:srgbClr val="000000"/>
                        </a:solidFill>
                        <a:effectLst/>
                        <a:latin typeface="+mn-lt"/>
                      </a:endParaRPr>
                    </a:p>
                  </a:txBody>
                  <a:tcPr marL="6580" marR="6580" marT="6580" marB="0" anchor="b">
                    <a:noFill/>
                  </a:tcPr>
                </a:tc>
                <a:tc>
                  <a:txBody>
                    <a:bodyPr/>
                    <a:lstStyle/>
                    <a:p>
                      <a:pPr algn="l" fontAlgn="b"/>
                      <a:endParaRPr lang="en-GB" sz="1200" b="0" i="0" u="none" strike="noStrike">
                        <a:solidFill>
                          <a:srgbClr val="000000"/>
                        </a:solidFill>
                        <a:effectLst/>
                        <a:latin typeface="+mn-lt"/>
                      </a:endParaRPr>
                    </a:p>
                  </a:txBody>
                  <a:tcPr marL="6580" marR="6580" marT="6580" marB="0" anchor="b">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589547931"/>
                  </a:ext>
                </a:extLst>
              </a:tr>
              <a:tr h="187850">
                <a:tc>
                  <a:txBody>
                    <a:bodyPr/>
                    <a:lstStyle/>
                    <a:p>
                      <a:pPr algn="ctr" fontAlgn="b"/>
                      <a:r>
                        <a:rPr lang="en-GB" sz="1200" u="none" strike="noStrike">
                          <a:effectLst/>
                          <a:latin typeface="+mn-lt"/>
                        </a:rPr>
                        <a:t>18</a:t>
                      </a:r>
                      <a:endParaRPr lang="en-GB" sz="1200" b="0" i="0" u="none" strike="noStrike">
                        <a:solidFill>
                          <a:srgbClr val="000000"/>
                        </a:solidFill>
                        <a:effectLst/>
                        <a:latin typeface="+mn-lt"/>
                      </a:endParaRPr>
                    </a:p>
                  </a:txBody>
                  <a:tcPr marL="6580" marR="6580" marT="6580" marB="0" anchor="b">
                    <a:lnL w="12700" cap="flat" cmpd="sng" algn="ctr">
                      <a:solidFill>
                        <a:schemeClr val="tx1"/>
                      </a:solidFill>
                      <a:prstDash val="solid"/>
                      <a:round/>
                      <a:headEnd type="none" w="med" len="med"/>
                      <a:tailEnd type="none" w="med" len="med"/>
                    </a:lnL>
                    <a:noFill/>
                  </a:tcPr>
                </a:tc>
                <a:tc>
                  <a:txBody>
                    <a:bodyPr/>
                    <a:lstStyle/>
                    <a:p>
                      <a:pPr algn="ctr" fontAlgn="b"/>
                      <a:r>
                        <a:rPr lang="en-GB" sz="1200" u="none" strike="noStrike">
                          <a:effectLst/>
                          <a:latin typeface="+mn-lt"/>
                        </a:rPr>
                        <a:t>B</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a:effectLst/>
                          <a:latin typeface="+mn-lt"/>
                        </a:rPr>
                        <a:t>4</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a:effectLst/>
                          <a:latin typeface="+mn-lt"/>
                        </a:rPr>
                        <a:t>24</a:t>
                      </a:r>
                      <a:endParaRPr lang="en-GB" sz="1200" b="0" i="0" u="none" strike="noStrike">
                        <a:solidFill>
                          <a:srgbClr val="000000"/>
                        </a:solidFill>
                        <a:effectLst/>
                        <a:latin typeface="+mn-lt"/>
                      </a:endParaRPr>
                    </a:p>
                  </a:txBody>
                  <a:tcPr marL="6580" marR="6580" marT="6580" marB="0" anchor="b">
                    <a:noFill/>
                  </a:tcPr>
                </a:tc>
                <a:tc vMerge="1">
                  <a:txBody>
                    <a:bodyPr/>
                    <a:lstStyle/>
                    <a:p>
                      <a:endParaRPr lang="en-US"/>
                    </a:p>
                  </a:txBody>
                  <a:tcPr/>
                </a:tc>
                <a:tc vMerge="1">
                  <a:txBody>
                    <a:bodyPr/>
                    <a:lstStyle/>
                    <a:p>
                      <a:endParaRPr lang="en-US"/>
                    </a:p>
                  </a:txBody>
                  <a:tcPr/>
                </a:tc>
                <a:tc>
                  <a:txBody>
                    <a:bodyPr/>
                    <a:lstStyle/>
                    <a:p>
                      <a:pPr algn="l" fontAlgn="b"/>
                      <a:endParaRPr lang="en-GB" sz="1200" b="0" i="0" u="none" strike="noStrike" dirty="0">
                        <a:solidFill>
                          <a:srgbClr val="000000"/>
                        </a:solidFill>
                        <a:effectLst/>
                        <a:latin typeface="+mn-lt"/>
                      </a:endParaRPr>
                    </a:p>
                  </a:txBody>
                  <a:tcPr marL="6580" marR="6580" marT="6580" marB="0" anchor="b">
                    <a:noFill/>
                  </a:tcPr>
                </a:tc>
                <a:tc>
                  <a:txBody>
                    <a:bodyPr/>
                    <a:lstStyle/>
                    <a:p>
                      <a:pPr algn="l" fontAlgn="b"/>
                      <a:endParaRPr lang="en-GB" sz="1200" b="0" i="0" u="none" strike="noStrike">
                        <a:solidFill>
                          <a:srgbClr val="000000"/>
                        </a:solidFill>
                        <a:effectLst/>
                        <a:latin typeface="+mn-lt"/>
                      </a:endParaRPr>
                    </a:p>
                  </a:txBody>
                  <a:tcPr marL="6580" marR="6580" marT="6580" marB="0" anchor="b">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839474991"/>
                  </a:ext>
                </a:extLst>
              </a:tr>
              <a:tr h="187850">
                <a:tc>
                  <a:txBody>
                    <a:bodyPr/>
                    <a:lstStyle/>
                    <a:p>
                      <a:pPr algn="ctr" fontAlgn="b"/>
                      <a:r>
                        <a:rPr lang="en-GB" sz="1200" u="none" strike="noStrike">
                          <a:effectLst/>
                          <a:latin typeface="+mn-lt"/>
                        </a:rPr>
                        <a:t>19</a:t>
                      </a:r>
                      <a:endParaRPr lang="en-GB" sz="1200" b="0" i="0" u="none" strike="noStrike">
                        <a:solidFill>
                          <a:srgbClr val="000000"/>
                        </a:solidFill>
                        <a:effectLst/>
                        <a:latin typeface="+mn-lt"/>
                      </a:endParaRPr>
                    </a:p>
                  </a:txBody>
                  <a:tcPr marL="6580" marR="6580" marT="6580" marB="0" anchor="b">
                    <a:lnL w="12700" cap="flat" cmpd="sng" algn="ctr">
                      <a:solidFill>
                        <a:schemeClr val="tx1"/>
                      </a:solidFill>
                      <a:prstDash val="solid"/>
                      <a:round/>
                      <a:headEnd type="none" w="med" len="med"/>
                      <a:tailEnd type="none" w="med" len="med"/>
                    </a:lnL>
                    <a:noFill/>
                  </a:tcPr>
                </a:tc>
                <a:tc>
                  <a:txBody>
                    <a:bodyPr/>
                    <a:lstStyle/>
                    <a:p>
                      <a:pPr algn="ctr" fontAlgn="b"/>
                      <a:r>
                        <a:rPr lang="en-GB" sz="1200" u="none" strike="noStrike">
                          <a:effectLst/>
                          <a:latin typeface="+mn-lt"/>
                        </a:rPr>
                        <a:t>B</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a:effectLst/>
                          <a:latin typeface="+mn-lt"/>
                        </a:rPr>
                        <a:t>4</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a:effectLst/>
                          <a:latin typeface="+mn-lt"/>
                        </a:rPr>
                        <a:t>25</a:t>
                      </a:r>
                      <a:endParaRPr lang="en-GB" sz="1200" b="0" i="0" u="none" strike="noStrike">
                        <a:solidFill>
                          <a:srgbClr val="000000"/>
                        </a:solidFill>
                        <a:effectLst/>
                        <a:latin typeface="+mn-lt"/>
                      </a:endParaRPr>
                    </a:p>
                  </a:txBody>
                  <a:tcPr marL="6580" marR="6580" marT="6580" marB="0" anchor="b">
                    <a:noFill/>
                  </a:tcPr>
                </a:tc>
                <a:tc vMerge="1">
                  <a:txBody>
                    <a:bodyPr/>
                    <a:lstStyle/>
                    <a:p>
                      <a:endParaRPr lang="en-US"/>
                    </a:p>
                  </a:txBody>
                  <a:tcPr/>
                </a:tc>
                <a:tc vMerge="1">
                  <a:txBody>
                    <a:bodyPr/>
                    <a:lstStyle/>
                    <a:p>
                      <a:endParaRPr lang="en-US"/>
                    </a:p>
                  </a:txBody>
                  <a:tcPr/>
                </a:tc>
                <a:tc>
                  <a:txBody>
                    <a:bodyPr/>
                    <a:lstStyle/>
                    <a:p>
                      <a:pPr algn="l" fontAlgn="b"/>
                      <a:endParaRPr lang="en-GB" sz="1200" b="0" i="0" u="none" strike="noStrike" dirty="0">
                        <a:solidFill>
                          <a:srgbClr val="000000"/>
                        </a:solidFill>
                        <a:effectLst/>
                        <a:latin typeface="+mn-lt"/>
                      </a:endParaRPr>
                    </a:p>
                  </a:txBody>
                  <a:tcPr marL="6580" marR="6580" marT="6580" marB="0" anchor="b">
                    <a:noFill/>
                  </a:tcPr>
                </a:tc>
                <a:tc>
                  <a:txBody>
                    <a:bodyPr/>
                    <a:lstStyle/>
                    <a:p>
                      <a:pPr algn="l" fontAlgn="b"/>
                      <a:endParaRPr lang="en-GB" sz="1200" b="0" i="0" u="none" strike="noStrike">
                        <a:solidFill>
                          <a:srgbClr val="000000"/>
                        </a:solidFill>
                        <a:effectLst/>
                        <a:latin typeface="+mn-lt"/>
                      </a:endParaRPr>
                    </a:p>
                  </a:txBody>
                  <a:tcPr marL="6580" marR="6580" marT="6580" marB="0" anchor="b">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92980536"/>
                  </a:ext>
                </a:extLst>
              </a:tr>
              <a:tr h="187850">
                <a:tc>
                  <a:txBody>
                    <a:bodyPr/>
                    <a:lstStyle/>
                    <a:p>
                      <a:pPr algn="ctr" fontAlgn="b"/>
                      <a:r>
                        <a:rPr lang="en-GB" sz="1200" u="none" strike="noStrike">
                          <a:effectLst/>
                          <a:latin typeface="+mn-lt"/>
                        </a:rPr>
                        <a:t>28</a:t>
                      </a:r>
                      <a:endParaRPr lang="en-GB" sz="1200" b="0" i="0" u="none" strike="noStrike">
                        <a:solidFill>
                          <a:srgbClr val="000000"/>
                        </a:solidFill>
                        <a:effectLst/>
                        <a:latin typeface="+mn-lt"/>
                      </a:endParaRPr>
                    </a:p>
                  </a:txBody>
                  <a:tcPr marL="6580" marR="6580" marT="6580" marB="0" anchor="b">
                    <a:lnL w="12700" cap="flat" cmpd="sng" algn="ctr">
                      <a:solidFill>
                        <a:schemeClr val="tx1"/>
                      </a:solidFill>
                      <a:prstDash val="solid"/>
                      <a:round/>
                      <a:headEnd type="none" w="med" len="med"/>
                      <a:tailEnd type="none" w="med" len="med"/>
                    </a:lnL>
                    <a:noFill/>
                  </a:tcPr>
                </a:tc>
                <a:tc>
                  <a:txBody>
                    <a:bodyPr/>
                    <a:lstStyle/>
                    <a:p>
                      <a:pPr algn="ctr" fontAlgn="b"/>
                      <a:r>
                        <a:rPr lang="en-GB" sz="1200" u="none" strike="noStrike">
                          <a:effectLst/>
                          <a:latin typeface="+mn-lt"/>
                        </a:rPr>
                        <a:t>B</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a:effectLst/>
                          <a:latin typeface="+mn-lt"/>
                        </a:rPr>
                        <a:t>4</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a:effectLst/>
                          <a:latin typeface="+mn-lt"/>
                        </a:rPr>
                        <a:t>26</a:t>
                      </a:r>
                      <a:endParaRPr lang="en-GB" sz="1200" b="0" i="0" u="none" strike="noStrike">
                        <a:solidFill>
                          <a:srgbClr val="000000"/>
                        </a:solidFill>
                        <a:effectLst/>
                        <a:latin typeface="+mn-lt"/>
                      </a:endParaRPr>
                    </a:p>
                  </a:txBody>
                  <a:tcPr marL="6580" marR="6580" marT="6580" marB="0" anchor="b">
                    <a:noFill/>
                  </a:tcPr>
                </a:tc>
                <a:tc vMerge="1">
                  <a:txBody>
                    <a:bodyPr/>
                    <a:lstStyle/>
                    <a:p>
                      <a:endParaRPr lang="en-US"/>
                    </a:p>
                  </a:txBody>
                  <a:tcPr/>
                </a:tc>
                <a:tc vMerge="1">
                  <a:txBody>
                    <a:bodyPr/>
                    <a:lstStyle/>
                    <a:p>
                      <a:endParaRPr lang="en-US"/>
                    </a:p>
                  </a:txBody>
                  <a:tcPr/>
                </a:tc>
                <a:tc>
                  <a:txBody>
                    <a:bodyPr/>
                    <a:lstStyle/>
                    <a:p>
                      <a:pPr algn="l" fontAlgn="b"/>
                      <a:endParaRPr lang="en-GB" sz="1200" b="0" i="0" u="none" strike="noStrike" dirty="0">
                        <a:solidFill>
                          <a:srgbClr val="000000"/>
                        </a:solidFill>
                        <a:effectLst/>
                        <a:latin typeface="+mn-lt"/>
                      </a:endParaRPr>
                    </a:p>
                  </a:txBody>
                  <a:tcPr marL="6580" marR="6580" marT="6580" marB="0" anchor="b">
                    <a:noFill/>
                  </a:tcPr>
                </a:tc>
                <a:tc>
                  <a:txBody>
                    <a:bodyPr/>
                    <a:lstStyle/>
                    <a:p>
                      <a:pPr algn="l" fontAlgn="b"/>
                      <a:endParaRPr lang="en-GB" sz="1200" b="0" i="0" u="none" strike="noStrike">
                        <a:solidFill>
                          <a:srgbClr val="000000"/>
                        </a:solidFill>
                        <a:effectLst/>
                        <a:latin typeface="+mn-lt"/>
                      </a:endParaRPr>
                    </a:p>
                  </a:txBody>
                  <a:tcPr marL="6580" marR="6580" marT="6580" marB="0" anchor="b">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566606215"/>
                  </a:ext>
                </a:extLst>
              </a:tr>
              <a:tr h="187850">
                <a:tc>
                  <a:txBody>
                    <a:bodyPr/>
                    <a:lstStyle/>
                    <a:p>
                      <a:pPr algn="ctr" fontAlgn="b"/>
                      <a:r>
                        <a:rPr lang="en-GB" sz="1200" u="none" strike="noStrike">
                          <a:effectLst/>
                          <a:latin typeface="+mn-lt"/>
                        </a:rPr>
                        <a:t>22</a:t>
                      </a:r>
                      <a:endParaRPr lang="en-GB" sz="1200" b="0" i="0" u="none" strike="noStrike">
                        <a:solidFill>
                          <a:srgbClr val="000000"/>
                        </a:solidFill>
                        <a:effectLst/>
                        <a:latin typeface="+mn-lt"/>
                      </a:endParaRPr>
                    </a:p>
                  </a:txBody>
                  <a:tcPr marL="6580" marR="6580" marT="6580" marB="0" anchor="b">
                    <a:lnL w="12700" cap="flat" cmpd="sng" algn="ctr">
                      <a:solidFill>
                        <a:schemeClr val="tx1"/>
                      </a:solidFill>
                      <a:prstDash val="solid"/>
                      <a:round/>
                      <a:headEnd type="none" w="med" len="med"/>
                      <a:tailEnd type="none" w="med" len="med"/>
                    </a:lnL>
                    <a:noFill/>
                  </a:tcPr>
                </a:tc>
                <a:tc>
                  <a:txBody>
                    <a:bodyPr/>
                    <a:lstStyle/>
                    <a:p>
                      <a:pPr algn="ctr" fontAlgn="b"/>
                      <a:r>
                        <a:rPr lang="en-GB" sz="1200" u="none" strike="noStrike">
                          <a:effectLst/>
                          <a:latin typeface="+mn-lt"/>
                        </a:rPr>
                        <a:t>B</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a:effectLst/>
                          <a:latin typeface="+mn-lt"/>
                        </a:rPr>
                        <a:t>5</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a:effectLst/>
                          <a:latin typeface="+mn-lt"/>
                        </a:rPr>
                        <a:t>27</a:t>
                      </a:r>
                      <a:endParaRPr lang="en-GB" sz="1200" b="0" i="0" u="none" strike="noStrike">
                        <a:solidFill>
                          <a:srgbClr val="000000"/>
                        </a:solidFill>
                        <a:effectLst/>
                        <a:latin typeface="+mn-lt"/>
                      </a:endParaRPr>
                    </a:p>
                  </a:txBody>
                  <a:tcPr marL="6580" marR="6580" marT="6580" marB="0" anchor="b">
                    <a:noFill/>
                  </a:tcPr>
                </a:tc>
                <a:tc rowSpan="2">
                  <a:txBody>
                    <a:bodyPr/>
                    <a:lstStyle/>
                    <a:p>
                      <a:pPr algn="ctr" fontAlgn="ctr"/>
                      <a:r>
                        <a:rPr lang="en-GB" sz="1200" u="none" strike="noStrike">
                          <a:effectLst/>
                          <a:latin typeface="+mn-lt"/>
                        </a:rPr>
                        <a:t>55</a:t>
                      </a:r>
                      <a:endParaRPr lang="en-GB" sz="1200" b="0" i="0" u="none" strike="noStrike">
                        <a:solidFill>
                          <a:srgbClr val="000000"/>
                        </a:solidFill>
                        <a:effectLst/>
                        <a:latin typeface="+mn-lt"/>
                      </a:endParaRPr>
                    </a:p>
                  </a:txBody>
                  <a:tcPr marL="6580" marR="6580" marT="6580" marB="0" anchor="ctr">
                    <a:noFill/>
                  </a:tcPr>
                </a:tc>
                <a:tc rowSpan="2">
                  <a:txBody>
                    <a:bodyPr/>
                    <a:lstStyle/>
                    <a:p>
                      <a:pPr algn="ctr" fontAlgn="ctr"/>
                      <a:r>
                        <a:rPr lang="en-GB" sz="1200" u="none" strike="noStrike">
                          <a:effectLst/>
                          <a:latin typeface="+mn-lt"/>
                        </a:rPr>
                        <a:t>27.5</a:t>
                      </a:r>
                      <a:endParaRPr lang="en-GB" sz="1200" b="0" i="0" u="none" strike="noStrike">
                        <a:solidFill>
                          <a:srgbClr val="000000"/>
                        </a:solidFill>
                        <a:effectLst/>
                        <a:latin typeface="+mn-lt"/>
                      </a:endParaRPr>
                    </a:p>
                  </a:txBody>
                  <a:tcPr marL="6580" marR="6580" marT="6580" marB="0" anchor="ctr">
                    <a:noFill/>
                  </a:tcPr>
                </a:tc>
                <a:tc>
                  <a:txBody>
                    <a:bodyPr/>
                    <a:lstStyle/>
                    <a:p>
                      <a:pPr algn="l" fontAlgn="b"/>
                      <a:endParaRPr lang="en-GB" sz="1200" b="0" i="0" u="none" strike="noStrike" dirty="0">
                        <a:solidFill>
                          <a:srgbClr val="000000"/>
                        </a:solidFill>
                        <a:effectLst/>
                        <a:latin typeface="+mn-lt"/>
                      </a:endParaRPr>
                    </a:p>
                  </a:txBody>
                  <a:tcPr marL="6580" marR="6580" marT="6580" marB="0" anchor="b">
                    <a:noFill/>
                  </a:tcPr>
                </a:tc>
                <a:tc>
                  <a:txBody>
                    <a:bodyPr/>
                    <a:lstStyle/>
                    <a:p>
                      <a:pPr algn="l" fontAlgn="b"/>
                      <a:endParaRPr lang="en-GB" sz="1200" b="0" i="0" u="none" strike="noStrike">
                        <a:solidFill>
                          <a:srgbClr val="000000"/>
                        </a:solidFill>
                        <a:effectLst/>
                        <a:latin typeface="+mn-lt"/>
                      </a:endParaRPr>
                    </a:p>
                  </a:txBody>
                  <a:tcPr marL="6580" marR="6580" marT="6580" marB="0" anchor="b">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3719866284"/>
                  </a:ext>
                </a:extLst>
              </a:tr>
              <a:tr h="187850">
                <a:tc>
                  <a:txBody>
                    <a:bodyPr/>
                    <a:lstStyle/>
                    <a:p>
                      <a:pPr algn="ctr" fontAlgn="b"/>
                      <a:r>
                        <a:rPr lang="en-GB" sz="1200" u="none" strike="noStrike">
                          <a:effectLst/>
                          <a:latin typeface="+mn-lt"/>
                        </a:rPr>
                        <a:t>30</a:t>
                      </a:r>
                      <a:endParaRPr lang="en-GB" sz="1200" b="0" i="0" u="none" strike="noStrike">
                        <a:solidFill>
                          <a:srgbClr val="000000"/>
                        </a:solidFill>
                        <a:effectLst/>
                        <a:latin typeface="+mn-lt"/>
                      </a:endParaRPr>
                    </a:p>
                  </a:txBody>
                  <a:tcPr marL="6580" marR="6580" marT="6580" marB="0" anchor="b">
                    <a:lnL w="12700" cap="flat" cmpd="sng" algn="ctr">
                      <a:solidFill>
                        <a:schemeClr val="tx1"/>
                      </a:solidFill>
                      <a:prstDash val="solid"/>
                      <a:round/>
                      <a:headEnd type="none" w="med" len="med"/>
                      <a:tailEnd type="none" w="med" len="med"/>
                    </a:lnL>
                    <a:noFill/>
                  </a:tcPr>
                </a:tc>
                <a:tc>
                  <a:txBody>
                    <a:bodyPr/>
                    <a:lstStyle/>
                    <a:p>
                      <a:pPr algn="ctr" fontAlgn="b"/>
                      <a:r>
                        <a:rPr lang="en-GB" sz="1200" u="none" strike="noStrike">
                          <a:effectLst/>
                          <a:latin typeface="+mn-lt"/>
                        </a:rPr>
                        <a:t>B</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a:effectLst/>
                          <a:latin typeface="+mn-lt"/>
                        </a:rPr>
                        <a:t>5</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a:effectLst/>
                          <a:latin typeface="+mn-lt"/>
                        </a:rPr>
                        <a:t>28</a:t>
                      </a:r>
                      <a:endParaRPr lang="en-GB" sz="1200" b="0" i="0" u="none" strike="noStrike">
                        <a:solidFill>
                          <a:srgbClr val="000000"/>
                        </a:solidFill>
                        <a:effectLst/>
                        <a:latin typeface="+mn-lt"/>
                      </a:endParaRPr>
                    </a:p>
                  </a:txBody>
                  <a:tcPr marL="6580" marR="6580" marT="6580" marB="0" anchor="b">
                    <a:noFill/>
                  </a:tcPr>
                </a:tc>
                <a:tc vMerge="1">
                  <a:txBody>
                    <a:bodyPr/>
                    <a:lstStyle/>
                    <a:p>
                      <a:endParaRPr lang="en-US"/>
                    </a:p>
                  </a:txBody>
                  <a:tcPr/>
                </a:tc>
                <a:tc vMerge="1">
                  <a:txBody>
                    <a:bodyPr/>
                    <a:lstStyle/>
                    <a:p>
                      <a:endParaRPr lang="en-US"/>
                    </a:p>
                  </a:txBody>
                  <a:tcPr/>
                </a:tc>
                <a:tc>
                  <a:txBody>
                    <a:bodyPr/>
                    <a:lstStyle/>
                    <a:p>
                      <a:pPr algn="l" fontAlgn="b"/>
                      <a:endParaRPr lang="en-GB" sz="1200" b="0" i="0" u="none" strike="noStrike" dirty="0">
                        <a:solidFill>
                          <a:srgbClr val="000000"/>
                        </a:solidFill>
                        <a:effectLst/>
                        <a:latin typeface="+mn-lt"/>
                      </a:endParaRPr>
                    </a:p>
                  </a:txBody>
                  <a:tcPr marL="6580" marR="6580" marT="6580" marB="0" anchor="b">
                    <a:noFill/>
                  </a:tcPr>
                </a:tc>
                <a:tc>
                  <a:txBody>
                    <a:bodyPr/>
                    <a:lstStyle/>
                    <a:p>
                      <a:pPr algn="l" fontAlgn="b"/>
                      <a:endParaRPr lang="en-GB" sz="1200" b="0" i="0" u="none" strike="noStrike">
                        <a:solidFill>
                          <a:srgbClr val="000000"/>
                        </a:solidFill>
                        <a:effectLst/>
                        <a:latin typeface="+mn-lt"/>
                      </a:endParaRPr>
                    </a:p>
                  </a:txBody>
                  <a:tcPr marL="6580" marR="6580" marT="6580" marB="0" anchor="b">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492074566"/>
                  </a:ext>
                </a:extLst>
              </a:tr>
              <a:tr h="187850">
                <a:tc>
                  <a:txBody>
                    <a:bodyPr/>
                    <a:lstStyle/>
                    <a:p>
                      <a:pPr algn="ctr" fontAlgn="b"/>
                      <a:r>
                        <a:rPr lang="en-GB" sz="1200" u="none" strike="noStrike">
                          <a:effectLst/>
                          <a:latin typeface="+mn-lt"/>
                        </a:rPr>
                        <a:t>27</a:t>
                      </a:r>
                      <a:endParaRPr lang="en-GB" sz="1200" b="0" i="0" u="none" strike="noStrike">
                        <a:solidFill>
                          <a:srgbClr val="000000"/>
                        </a:solidFill>
                        <a:effectLst/>
                        <a:latin typeface="+mn-lt"/>
                      </a:endParaRPr>
                    </a:p>
                  </a:txBody>
                  <a:tcPr marL="6580" marR="6580" marT="6580" marB="0" anchor="b">
                    <a:lnL w="12700" cap="flat" cmpd="sng" algn="ctr">
                      <a:solidFill>
                        <a:schemeClr val="tx1"/>
                      </a:solidFill>
                      <a:prstDash val="solid"/>
                      <a:round/>
                      <a:headEnd type="none" w="med" len="med"/>
                      <a:tailEnd type="none" w="med" len="med"/>
                    </a:lnL>
                    <a:noFill/>
                  </a:tcPr>
                </a:tc>
                <a:tc>
                  <a:txBody>
                    <a:bodyPr/>
                    <a:lstStyle/>
                    <a:p>
                      <a:pPr algn="ctr" fontAlgn="b"/>
                      <a:r>
                        <a:rPr lang="en-GB" sz="1200" u="none" strike="noStrike">
                          <a:effectLst/>
                          <a:latin typeface="+mn-lt"/>
                        </a:rPr>
                        <a:t>B</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a:effectLst/>
                          <a:latin typeface="+mn-lt"/>
                        </a:rPr>
                        <a:t>7</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a:effectLst/>
                          <a:latin typeface="+mn-lt"/>
                        </a:rPr>
                        <a:t>29</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a:effectLst/>
                          <a:latin typeface="+mn-lt"/>
                        </a:rPr>
                        <a:t>29</a:t>
                      </a:r>
                      <a:endParaRPr lang="en-GB" sz="1200" b="0" i="0" u="none" strike="noStrike">
                        <a:solidFill>
                          <a:srgbClr val="000000"/>
                        </a:solidFill>
                        <a:effectLst/>
                        <a:latin typeface="+mn-lt"/>
                      </a:endParaRPr>
                    </a:p>
                  </a:txBody>
                  <a:tcPr marL="6580" marR="6580" marT="6580" marB="0" anchor="b">
                    <a:noFill/>
                  </a:tcPr>
                </a:tc>
                <a:tc>
                  <a:txBody>
                    <a:bodyPr/>
                    <a:lstStyle/>
                    <a:p>
                      <a:pPr algn="ctr" fontAlgn="b"/>
                      <a:r>
                        <a:rPr lang="en-GB" sz="1200" u="none" strike="noStrike">
                          <a:effectLst/>
                          <a:latin typeface="+mn-lt"/>
                        </a:rPr>
                        <a:t>29</a:t>
                      </a:r>
                      <a:endParaRPr lang="en-GB" sz="1200" b="0" i="0" u="none" strike="noStrike">
                        <a:solidFill>
                          <a:srgbClr val="000000"/>
                        </a:solidFill>
                        <a:effectLst/>
                        <a:latin typeface="+mn-lt"/>
                      </a:endParaRPr>
                    </a:p>
                  </a:txBody>
                  <a:tcPr marL="6580" marR="6580" marT="6580" marB="0" anchor="b">
                    <a:noFill/>
                  </a:tcPr>
                </a:tc>
                <a:tc>
                  <a:txBody>
                    <a:bodyPr/>
                    <a:lstStyle/>
                    <a:p>
                      <a:pPr algn="l" fontAlgn="b"/>
                      <a:endParaRPr lang="en-GB" sz="1200" b="0" i="0" u="none" strike="noStrike" dirty="0">
                        <a:solidFill>
                          <a:srgbClr val="000000"/>
                        </a:solidFill>
                        <a:effectLst/>
                        <a:latin typeface="+mn-lt"/>
                      </a:endParaRPr>
                    </a:p>
                  </a:txBody>
                  <a:tcPr marL="6580" marR="6580" marT="6580" marB="0" anchor="b">
                    <a:noFill/>
                  </a:tcPr>
                </a:tc>
                <a:tc>
                  <a:txBody>
                    <a:bodyPr/>
                    <a:lstStyle/>
                    <a:p>
                      <a:pPr algn="l" fontAlgn="b"/>
                      <a:endParaRPr lang="en-GB" sz="1200" b="0" i="0" u="none" strike="noStrike">
                        <a:solidFill>
                          <a:srgbClr val="000000"/>
                        </a:solidFill>
                        <a:effectLst/>
                        <a:latin typeface="+mn-lt"/>
                      </a:endParaRPr>
                    </a:p>
                  </a:txBody>
                  <a:tcPr marL="6580" marR="6580" marT="6580" marB="0" anchor="b">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551729337"/>
                  </a:ext>
                </a:extLst>
              </a:tr>
              <a:tr h="187850">
                <a:tc>
                  <a:txBody>
                    <a:bodyPr/>
                    <a:lstStyle/>
                    <a:p>
                      <a:pPr algn="ctr" fontAlgn="b"/>
                      <a:r>
                        <a:rPr lang="en-GB" sz="1200" u="none" strike="noStrike">
                          <a:effectLst/>
                          <a:latin typeface="+mn-lt"/>
                        </a:rPr>
                        <a:t>10</a:t>
                      </a:r>
                      <a:endParaRPr lang="en-GB" sz="1200" b="0" i="0" u="none" strike="noStrike">
                        <a:solidFill>
                          <a:srgbClr val="000000"/>
                        </a:solidFill>
                        <a:effectLst/>
                        <a:latin typeface="+mn-lt"/>
                      </a:endParaRPr>
                    </a:p>
                  </a:txBody>
                  <a:tcPr marL="6580" marR="6580" marT="6580" marB="0" anchor="b">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a:txBody>
                    <a:bodyPr/>
                    <a:lstStyle/>
                    <a:p>
                      <a:pPr algn="ctr" fontAlgn="b"/>
                      <a:r>
                        <a:rPr lang="en-GB" sz="1200" u="none" strike="noStrike">
                          <a:effectLst/>
                          <a:latin typeface="+mn-lt"/>
                        </a:rPr>
                        <a:t>A</a:t>
                      </a:r>
                      <a:endParaRPr lang="en-GB" sz="1200" b="0" i="0" u="none" strike="noStrike">
                        <a:solidFill>
                          <a:srgbClr val="000000"/>
                        </a:solidFill>
                        <a:effectLst/>
                        <a:latin typeface="+mn-lt"/>
                      </a:endParaRPr>
                    </a:p>
                  </a:txBody>
                  <a:tcPr marL="6580" marR="6580" marT="6580" marB="0" anchor="b">
                    <a:lnB w="12700" cap="flat" cmpd="sng" algn="ctr">
                      <a:solidFill>
                        <a:schemeClr val="tx1"/>
                      </a:solidFill>
                      <a:prstDash val="solid"/>
                      <a:round/>
                      <a:headEnd type="none" w="med" len="med"/>
                      <a:tailEnd type="none" w="med" len="med"/>
                    </a:lnB>
                    <a:noFill/>
                  </a:tcPr>
                </a:tc>
                <a:tc>
                  <a:txBody>
                    <a:bodyPr/>
                    <a:lstStyle/>
                    <a:p>
                      <a:pPr algn="ctr" fontAlgn="b"/>
                      <a:r>
                        <a:rPr lang="en-GB" sz="1200" u="none" strike="noStrike">
                          <a:effectLst/>
                          <a:latin typeface="+mn-lt"/>
                        </a:rPr>
                        <a:t>8</a:t>
                      </a:r>
                      <a:endParaRPr lang="en-GB" sz="1200" b="0" i="0" u="none" strike="noStrike">
                        <a:solidFill>
                          <a:srgbClr val="000000"/>
                        </a:solidFill>
                        <a:effectLst/>
                        <a:latin typeface="+mn-lt"/>
                      </a:endParaRPr>
                    </a:p>
                  </a:txBody>
                  <a:tcPr marL="6580" marR="6580" marT="6580" marB="0" anchor="b">
                    <a:lnB w="12700" cap="flat" cmpd="sng" algn="ctr">
                      <a:solidFill>
                        <a:schemeClr val="tx1"/>
                      </a:solidFill>
                      <a:prstDash val="solid"/>
                      <a:round/>
                      <a:headEnd type="none" w="med" len="med"/>
                      <a:tailEnd type="none" w="med" len="med"/>
                    </a:lnB>
                    <a:noFill/>
                  </a:tcPr>
                </a:tc>
                <a:tc>
                  <a:txBody>
                    <a:bodyPr/>
                    <a:lstStyle/>
                    <a:p>
                      <a:pPr algn="ctr" fontAlgn="b"/>
                      <a:r>
                        <a:rPr lang="en-GB" sz="1200" u="none" strike="noStrike">
                          <a:effectLst/>
                          <a:latin typeface="+mn-lt"/>
                        </a:rPr>
                        <a:t>30</a:t>
                      </a:r>
                      <a:endParaRPr lang="en-GB" sz="1200" b="0" i="0" u="none" strike="noStrike">
                        <a:solidFill>
                          <a:srgbClr val="000000"/>
                        </a:solidFill>
                        <a:effectLst/>
                        <a:latin typeface="+mn-lt"/>
                      </a:endParaRPr>
                    </a:p>
                  </a:txBody>
                  <a:tcPr marL="6580" marR="6580" marT="6580" marB="0" anchor="b">
                    <a:lnB w="12700" cap="flat" cmpd="sng" algn="ctr">
                      <a:solidFill>
                        <a:schemeClr val="tx1"/>
                      </a:solidFill>
                      <a:prstDash val="solid"/>
                      <a:round/>
                      <a:headEnd type="none" w="med" len="med"/>
                      <a:tailEnd type="none" w="med" len="med"/>
                    </a:lnB>
                    <a:noFill/>
                  </a:tcPr>
                </a:tc>
                <a:tc>
                  <a:txBody>
                    <a:bodyPr/>
                    <a:lstStyle/>
                    <a:p>
                      <a:pPr algn="ctr" fontAlgn="b"/>
                      <a:r>
                        <a:rPr lang="en-GB" sz="1200" u="none" strike="noStrike">
                          <a:effectLst/>
                          <a:latin typeface="+mn-lt"/>
                        </a:rPr>
                        <a:t>30</a:t>
                      </a:r>
                      <a:endParaRPr lang="en-GB" sz="1200" b="0" i="0" u="none" strike="noStrike">
                        <a:solidFill>
                          <a:srgbClr val="000000"/>
                        </a:solidFill>
                        <a:effectLst/>
                        <a:latin typeface="+mn-lt"/>
                      </a:endParaRPr>
                    </a:p>
                  </a:txBody>
                  <a:tcPr marL="6580" marR="6580" marT="6580" marB="0" anchor="b">
                    <a:lnB w="12700" cap="flat" cmpd="sng" algn="ctr">
                      <a:solidFill>
                        <a:schemeClr val="tx1"/>
                      </a:solidFill>
                      <a:prstDash val="solid"/>
                      <a:round/>
                      <a:headEnd type="none" w="med" len="med"/>
                      <a:tailEnd type="none" w="med" len="med"/>
                    </a:lnB>
                    <a:noFill/>
                  </a:tcPr>
                </a:tc>
                <a:tc>
                  <a:txBody>
                    <a:bodyPr/>
                    <a:lstStyle/>
                    <a:p>
                      <a:pPr algn="ctr" fontAlgn="b"/>
                      <a:r>
                        <a:rPr lang="en-GB" sz="1200" u="none" strike="noStrike">
                          <a:effectLst/>
                          <a:latin typeface="+mn-lt"/>
                        </a:rPr>
                        <a:t>30</a:t>
                      </a:r>
                      <a:endParaRPr lang="en-GB" sz="1200" b="0" i="0" u="none" strike="noStrike">
                        <a:solidFill>
                          <a:srgbClr val="000000"/>
                        </a:solidFill>
                        <a:effectLst/>
                        <a:latin typeface="+mn-lt"/>
                      </a:endParaRPr>
                    </a:p>
                  </a:txBody>
                  <a:tcPr marL="6580" marR="6580" marT="6580" marB="0" anchor="b">
                    <a:lnB w="12700" cap="flat" cmpd="sng" algn="ctr">
                      <a:solidFill>
                        <a:schemeClr val="tx1"/>
                      </a:solidFill>
                      <a:prstDash val="solid"/>
                      <a:round/>
                      <a:headEnd type="none" w="med" len="med"/>
                      <a:tailEnd type="none" w="med" len="med"/>
                    </a:lnB>
                    <a:noFill/>
                  </a:tcPr>
                </a:tc>
                <a:tc>
                  <a:txBody>
                    <a:bodyPr/>
                    <a:lstStyle/>
                    <a:p>
                      <a:pPr algn="l" fontAlgn="b"/>
                      <a:endParaRPr lang="en-GB" sz="1200" b="0" i="0" u="none" strike="noStrike">
                        <a:solidFill>
                          <a:srgbClr val="000000"/>
                        </a:solidFill>
                        <a:effectLst/>
                        <a:latin typeface="+mn-lt"/>
                      </a:endParaRPr>
                    </a:p>
                  </a:txBody>
                  <a:tcPr marL="6580" marR="6580" marT="6580" marB="0" anchor="b">
                    <a:lnB w="12700" cap="flat" cmpd="sng" algn="ctr">
                      <a:solidFill>
                        <a:schemeClr val="tx1"/>
                      </a:solidFill>
                      <a:prstDash val="solid"/>
                      <a:round/>
                      <a:headEnd type="none" w="med" len="med"/>
                      <a:tailEnd type="none" w="med" len="med"/>
                    </a:lnB>
                    <a:noFill/>
                  </a:tcPr>
                </a:tc>
                <a:tc>
                  <a:txBody>
                    <a:bodyPr/>
                    <a:lstStyle/>
                    <a:p>
                      <a:pPr algn="l" fontAlgn="b"/>
                      <a:endParaRPr lang="en-GB" sz="1200" b="0" i="0" u="none" strike="noStrike" dirty="0">
                        <a:solidFill>
                          <a:srgbClr val="000000"/>
                        </a:solidFill>
                        <a:effectLst/>
                        <a:latin typeface="+mn-lt"/>
                      </a:endParaRPr>
                    </a:p>
                  </a:txBody>
                  <a:tcPr marL="6580" marR="6580" marT="6580" marB="0" anchor="b">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6212039"/>
                  </a:ext>
                </a:extLst>
              </a:tr>
            </a:tbl>
          </a:graphicData>
        </a:graphic>
      </p:graphicFrame>
    </p:spTree>
    <p:extLst>
      <p:ext uri="{BB962C8B-B14F-4D97-AF65-F5344CB8AC3E}">
        <p14:creationId xmlns:p14="http://schemas.microsoft.com/office/powerpoint/2010/main" val="305502435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51E50-6CA9-53AB-AAC5-98FAD3643A63}"/>
              </a:ext>
            </a:extLst>
          </p:cNvPr>
          <p:cNvSpPr txBox="1">
            <a:spLocks/>
          </p:cNvSpPr>
          <p:nvPr/>
        </p:nvSpPr>
        <p:spPr>
          <a:xfrm>
            <a:off x="0" y="24068"/>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Distribution of the test statistic</a:t>
            </a:r>
          </a:p>
        </p:txBody>
      </p:sp>
      <p:sp>
        <p:nvSpPr>
          <p:cNvPr id="4" name="TextBox 3">
            <a:extLst>
              <a:ext uri="{FF2B5EF4-FFF2-40B4-BE49-F238E27FC236}">
                <a16:creationId xmlns:a16="http://schemas.microsoft.com/office/drawing/2014/main" id="{AC92A4FF-2733-14A2-1D69-D87946EB7910}"/>
              </a:ext>
            </a:extLst>
          </p:cNvPr>
          <p:cNvSpPr txBox="1"/>
          <p:nvPr/>
        </p:nvSpPr>
        <p:spPr>
          <a:xfrm>
            <a:off x="183617" y="3970298"/>
            <a:ext cx="11675448" cy="1077218"/>
          </a:xfrm>
          <a:prstGeom prst="rect">
            <a:avLst/>
          </a:prstGeom>
          <a:noFill/>
        </p:spPr>
        <p:txBody>
          <a:bodyPr wrap="square" rtlCol="0">
            <a:spAutoFit/>
          </a:bodyPr>
          <a:lstStyle/>
          <a:p>
            <a:pPr marL="457200" indent="-457200">
              <a:buFont typeface="Wingdings" pitchFamily="2" charset="2"/>
              <a:buChar char="§"/>
            </a:pPr>
            <a:r>
              <a:rPr lang="en-US" sz="3200" dirty="0"/>
              <a:t> </a:t>
            </a:r>
            <a:r>
              <a:rPr lang="en-US" sz="3200" b="1" dirty="0"/>
              <a:t>Simulation:</a:t>
            </a:r>
            <a:r>
              <a:rPr lang="en-US" sz="3200" dirty="0"/>
              <a:t> rank j as the same probability to be assigned to one </a:t>
            </a:r>
          </a:p>
          <a:p>
            <a:r>
              <a:rPr lang="en-US" sz="3200" dirty="0"/>
              <a:t>      group or the other.</a:t>
            </a:r>
          </a:p>
        </p:txBody>
      </p:sp>
      <p:sp>
        <p:nvSpPr>
          <p:cNvPr id="5" name="TextBox 4">
            <a:extLst>
              <a:ext uri="{FF2B5EF4-FFF2-40B4-BE49-F238E27FC236}">
                <a16:creationId xmlns:a16="http://schemas.microsoft.com/office/drawing/2014/main" id="{1FEDB792-D4E2-F494-970F-8506AD002505}"/>
              </a:ext>
            </a:extLst>
          </p:cNvPr>
          <p:cNvSpPr txBox="1"/>
          <p:nvPr/>
        </p:nvSpPr>
        <p:spPr>
          <a:xfrm>
            <a:off x="169549" y="5575430"/>
            <a:ext cx="11858327" cy="1077218"/>
          </a:xfrm>
          <a:prstGeom prst="rect">
            <a:avLst/>
          </a:prstGeom>
          <a:noFill/>
        </p:spPr>
        <p:txBody>
          <a:bodyPr wrap="square" rtlCol="0">
            <a:spAutoFit/>
          </a:bodyPr>
          <a:lstStyle/>
          <a:p>
            <a:pPr marL="457200" indent="-457200">
              <a:buFont typeface="Wingdings" pitchFamily="2" charset="2"/>
              <a:buChar char="§"/>
            </a:pPr>
            <a:r>
              <a:rPr lang="en-US" sz="3200" dirty="0"/>
              <a:t>For large samples, a </a:t>
            </a:r>
            <a:r>
              <a:rPr lang="en-US" sz="3200" b="1" dirty="0"/>
              <a:t>normal approximation</a:t>
            </a:r>
            <a:r>
              <a:rPr lang="en-US" sz="3200" dirty="0">
                <a:solidFill>
                  <a:schemeClr val="accent1"/>
                </a:solidFill>
              </a:rPr>
              <a:t> </a:t>
            </a:r>
            <a:r>
              <a:rPr lang="en-US" sz="3200" dirty="0"/>
              <a:t>with known mean and variance can be applied.</a:t>
            </a:r>
          </a:p>
        </p:txBody>
      </p:sp>
      <p:sp>
        <p:nvSpPr>
          <p:cNvPr id="6" name="TextBox 5">
            <a:extLst>
              <a:ext uri="{FF2B5EF4-FFF2-40B4-BE49-F238E27FC236}">
                <a16:creationId xmlns:a16="http://schemas.microsoft.com/office/drawing/2014/main" id="{3EB80486-86E3-97A1-1A77-65E45D919602}"/>
              </a:ext>
            </a:extLst>
          </p:cNvPr>
          <p:cNvSpPr txBox="1"/>
          <p:nvPr/>
        </p:nvSpPr>
        <p:spPr>
          <a:xfrm>
            <a:off x="195337" y="1506106"/>
            <a:ext cx="11675448" cy="584775"/>
          </a:xfrm>
          <a:prstGeom prst="rect">
            <a:avLst/>
          </a:prstGeom>
          <a:noFill/>
        </p:spPr>
        <p:txBody>
          <a:bodyPr wrap="square" rtlCol="0">
            <a:spAutoFit/>
          </a:bodyPr>
          <a:lstStyle/>
          <a:p>
            <a:pPr marL="457200" indent="-457200">
              <a:buFont typeface="Wingdings" pitchFamily="2" charset="2"/>
              <a:buChar char="§"/>
            </a:pPr>
            <a:r>
              <a:rPr lang="en-US" sz="3200" dirty="0"/>
              <a:t> </a:t>
            </a:r>
          </a:p>
        </p:txBody>
      </p:sp>
      <p:graphicFrame>
        <p:nvGraphicFramePr>
          <p:cNvPr id="7" name="Table 6">
            <a:extLst>
              <a:ext uri="{FF2B5EF4-FFF2-40B4-BE49-F238E27FC236}">
                <a16:creationId xmlns:a16="http://schemas.microsoft.com/office/drawing/2014/main" id="{E6B9A29B-5817-5924-A46F-74E563BB7D30}"/>
              </a:ext>
            </a:extLst>
          </p:cNvPr>
          <p:cNvGraphicFramePr>
            <a:graphicFrameLocks noGrp="1"/>
          </p:cNvGraphicFramePr>
          <p:nvPr>
            <p:extLst>
              <p:ext uri="{D42A27DB-BD31-4B8C-83A1-F6EECF244321}">
                <p14:modId xmlns:p14="http://schemas.microsoft.com/office/powerpoint/2010/main" val="1501205232"/>
              </p:ext>
            </p:extLst>
          </p:nvPr>
        </p:nvGraphicFramePr>
        <p:xfrm>
          <a:off x="974575" y="1157776"/>
          <a:ext cx="9252637" cy="1112520"/>
        </p:xfrm>
        <a:graphic>
          <a:graphicData uri="http://schemas.openxmlformats.org/drawingml/2006/table">
            <a:tbl>
              <a:tblPr firstRow="1" bandRow="1">
                <a:tableStyleId>{5C22544A-7EE6-4342-B048-85BDC9FD1C3A}</a:tableStyleId>
              </a:tblPr>
              <a:tblGrid>
                <a:gridCol w="2395009">
                  <a:extLst>
                    <a:ext uri="{9D8B030D-6E8A-4147-A177-3AD203B41FA5}">
                      <a16:colId xmlns:a16="http://schemas.microsoft.com/office/drawing/2014/main" val="2151428353"/>
                    </a:ext>
                  </a:extLst>
                </a:gridCol>
                <a:gridCol w="1371228">
                  <a:extLst>
                    <a:ext uri="{9D8B030D-6E8A-4147-A177-3AD203B41FA5}">
                      <a16:colId xmlns:a16="http://schemas.microsoft.com/office/drawing/2014/main" val="1419069402"/>
                    </a:ext>
                  </a:extLst>
                </a:gridCol>
                <a:gridCol w="1336431">
                  <a:extLst>
                    <a:ext uri="{9D8B030D-6E8A-4147-A177-3AD203B41FA5}">
                      <a16:colId xmlns:a16="http://schemas.microsoft.com/office/drawing/2014/main" val="531348726"/>
                    </a:ext>
                  </a:extLst>
                </a:gridCol>
                <a:gridCol w="1378634">
                  <a:extLst>
                    <a:ext uri="{9D8B030D-6E8A-4147-A177-3AD203B41FA5}">
                      <a16:colId xmlns:a16="http://schemas.microsoft.com/office/drawing/2014/main" val="1528407208"/>
                    </a:ext>
                  </a:extLst>
                </a:gridCol>
                <a:gridCol w="1392701">
                  <a:extLst>
                    <a:ext uri="{9D8B030D-6E8A-4147-A177-3AD203B41FA5}">
                      <a16:colId xmlns:a16="http://schemas.microsoft.com/office/drawing/2014/main" val="3346800950"/>
                    </a:ext>
                  </a:extLst>
                </a:gridCol>
                <a:gridCol w="1378634">
                  <a:extLst>
                    <a:ext uri="{9D8B030D-6E8A-4147-A177-3AD203B41FA5}">
                      <a16:colId xmlns:a16="http://schemas.microsoft.com/office/drawing/2014/main" val="4290793501"/>
                    </a:ext>
                  </a:extLst>
                </a:gridCol>
              </a:tblGrid>
              <a:tr h="370840">
                <a:tc>
                  <a:txBody>
                    <a:bodyPr/>
                    <a:lstStyle/>
                    <a:p>
                      <a:r>
                        <a:rPr lang="en-US" dirty="0">
                          <a:solidFill>
                            <a:schemeClr val="tx1"/>
                          </a:solidFill>
                        </a:rPr>
                        <a:t>Group 1, ranks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3,4,5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2,4,5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1,4,5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2,3,5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1,3,5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189245"/>
                  </a:ext>
                </a:extLst>
              </a:tr>
              <a:tr h="370840">
                <a:tc>
                  <a:txBody>
                    <a:bodyPr/>
                    <a:lstStyle/>
                    <a:p>
                      <a:r>
                        <a:rPr lang="en-US" dirty="0">
                          <a:solidFill>
                            <a:schemeClr val="tx1"/>
                          </a:solidFill>
                        </a:rPr>
                        <a:t>Test statistic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44858144"/>
                  </a:ext>
                </a:extLst>
              </a:tr>
              <a:tr h="370840">
                <a:tc>
                  <a:txBody>
                    <a:bodyPr/>
                    <a:lstStyle/>
                    <a:p>
                      <a:r>
                        <a:rPr lang="en-US" dirty="0">
                          <a:solidFill>
                            <a:schemeClr val="tx1"/>
                          </a:solidFill>
                        </a:rPr>
                        <a:t>Probability under H</a:t>
                      </a:r>
                      <a:r>
                        <a:rPr lang="en-US" baseline="-2500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 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48034418"/>
                  </a:ext>
                </a:extLst>
              </a:tr>
            </a:tbl>
          </a:graphicData>
        </a:graphic>
      </p:graphicFrame>
      <p:graphicFrame>
        <p:nvGraphicFramePr>
          <p:cNvPr id="9" name="Table 8">
            <a:extLst>
              <a:ext uri="{FF2B5EF4-FFF2-40B4-BE49-F238E27FC236}">
                <a16:creationId xmlns:a16="http://schemas.microsoft.com/office/drawing/2014/main" id="{72364E93-9530-0229-A565-8F563B77B851}"/>
              </a:ext>
            </a:extLst>
          </p:cNvPr>
          <p:cNvGraphicFramePr>
            <a:graphicFrameLocks noGrp="1"/>
          </p:cNvGraphicFramePr>
          <p:nvPr>
            <p:extLst>
              <p:ext uri="{D42A27DB-BD31-4B8C-83A1-F6EECF244321}">
                <p14:modId xmlns:p14="http://schemas.microsoft.com/office/powerpoint/2010/main" val="2075066660"/>
              </p:ext>
            </p:extLst>
          </p:nvPr>
        </p:nvGraphicFramePr>
        <p:xfrm>
          <a:off x="972231" y="2407455"/>
          <a:ext cx="9252637" cy="1112520"/>
        </p:xfrm>
        <a:graphic>
          <a:graphicData uri="http://schemas.openxmlformats.org/drawingml/2006/table">
            <a:tbl>
              <a:tblPr firstRow="1" bandRow="1">
                <a:tableStyleId>{5C22544A-7EE6-4342-B048-85BDC9FD1C3A}</a:tableStyleId>
              </a:tblPr>
              <a:tblGrid>
                <a:gridCol w="2395009">
                  <a:extLst>
                    <a:ext uri="{9D8B030D-6E8A-4147-A177-3AD203B41FA5}">
                      <a16:colId xmlns:a16="http://schemas.microsoft.com/office/drawing/2014/main" val="2151428353"/>
                    </a:ext>
                  </a:extLst>
                </a:gridCol>
                <a:gridCol w="1371228">
                  <a:extLst>
                    <a:ext uri="{9D8B030D-6E8A-4147-A177-3AD203B41FA5}">
                      <a16:colId xmlns:a16="http://schemas.microsoft.com/office/drawing/2014/main" val="1419069402"/>
                    </a:ext>
                  </a:extLst>
                </a:gridCol>
                <a:gridCol w="1336431">
                  <a:extLst>
                    <a:ext uri="{9D8B030D-6E8A-4147-A177-3AD203B41FA5}">
                      <a16:colId xmlns:a16="http://schemas.microsoft.com/office/drawing/2014/main" val="531348726"/>
                    </a:ext>
                  </a:extLst>
                </a:gridCol>
                <a:gridCol w="1378634">
                  <a:extLst>
                    <a:ext uri="{9D8B030D-6E8A-4147-A177-3AD203B41FA5}">
                      <a16:colId xmlns:a16="http://schemas.microsoft.com/office/drawing/2014/main" val="1528407208"/>
                    </a:ext>
                  </a:extLst>
                </a:gridCol>
                <a:gridCol w="1392701">
                  <a:extLst>
                    <a:ext uri="{9D8B030D-6E8A-4147-A177-3AD203B41FA5}">
                      <a16:colId xmlns:a16="http://schemas.microsoft.com/office/drawing/2014/main" val="3346800950"/>
                    </a:ext>
                  </a:extLst>
                </a:gridCol>
                <a:gridCol w="1378634">
                  <a:extLst>
                    <a:ext uri="{9D8B030D-6E8A-4147-A177-3AD203B41FA5}">
                      <a16:colId xmlns:a16="http://schemas.microsoft.com/office/drawing/2014/main" val="4290793501"/>
                    </a:ext>
                  </a:extLst>
                </a:gridCol>
              </a:tblGrid>
              <a:tr h="370840">
                <a:tc>
                  <a:txBody>
                    <a:bodyPr/>
                    <a:lstStyle/>
                    <a:p>
                      <a:r>
                        <a:rPr lang="en-US" dirty="0">
                          <a:solidFill>
                            <a:schemeClr val="tx1"/>
                          </a:solidFill>
                        </a:rPr>
                        <a:t>Group 1, ranks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2,3,4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1,3,4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1,2,4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1,2,3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1,2,5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189245"/>
                  </a:ext>
                </a:extLst>
              </a:tr>
              <a:tr h="370840">
                <a:tc>
                  <a:txBody>
                    <a:bodyPr/>
                    <a:lstStyle/>
                    <a:p>
                      <a:r>
                        <a:rPr lang="en-US" dirty="0">
                          <a:solidFill>
                            <a:schemeClr val="tx1"/>
                          </a:solidFill>
                        </a:rPr>
                        <a:t>Test statistic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44858144"/>
                  </a:ext>
                </a:extLst>
              </a:tr>
              <a:tr h="370840">
                <a:tc>
                  <a:txBody>
                    <a:bodyPr/>
                    <a:lstStyle/>
                    <a:p>
                      <a:r>
                        <a:rPr lang="en-US" dirty="0">
                          <a:solidFill>
                            <a:schemeClr val="tx1"/>
                          </a:solidFill>
                        </a:rPr>
                        <a:t>Probability under H</a:t>
                      </a:r>
                      <a:r>
                        <a:rPr lang="en-US" baseline="-2500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 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48034418"/>
                  </a:ext>
                </a:extLst>
              </a:tr>
            </a:tbl>
          </a:graphicData>
        </a:graphic>
      </p:graphicFrame>
      <p:sp>
        <p:nvSpPr>
          <p:cNvPr id="10" name="TextBox 9">
            <a:extLst>
              <a:ext uri="{FF2B5EF4-FFF2-40B4-BE49-F238E27FC236}">
                <a16:creationId xmlns:a16="http://schemas.microsoft.com/office/drawing/2014/main" id="{C9AAD895-EDD0-42C5-2935-0769C21F3F20}"/>
              </a:ext>
            </a:extLst>
          </p:cNvPr>
          <p:cNvSpPr txBox="1"/>
          <p:nvPr/>
        </p:nvSpPr>
        <p:spPr>
          <a:xfrm>
            <a:off x="10494498" y="1731687"/>
            <a:ext cx="1376287" cy="1077218"/>
          </a:xfrm>
          <a:prstGeom prst="rect">
            <a:avLst/>
          </a:prstGeom>
          <a:noFill/>
        </p:spPr>
        <p:txBody>
          <a:bodyPr wrap="square" rtlCol="0">
            <a:spAutoFit/>
          </a:bodyPr>
          <a:lstStyle/>
          <a:p>
            <a:r>
              <a:rPr lang="en-US" sz="3200" dirty="0"/>
              <a:t>n</a:t>
            </a:r>
            <a:r>
              <a:rPr lang="en-US" sz="3200" baseline="-25000" dirty="0"/>
              <a:t>1</a:t>
            </a:r>
            <a:r>
              <a:rPr lang="en-US" sz="3200" dirty="0"/>
              <a:t> = 3 n</a:t>
            </a:r>
            <a:r>
              <a:rPr lang="en-US" sz="3200" baseline="-25000" dirty="0"/>
              <a:t>2</a:t>
            </a:r>
            <a:r>
              <a:rPr lang="en-US" sz="3200" dirty="0"/>
              <a:t> = 2</a:t>
            </a:r>
          </a:p>
        </p:txBody>
      </p:sp>
    </p:spTree>
    <p:extLst>
      <p:ext uri="{BB962C8B-B14F-4D97-AF65-F5344CB8AC3E}">
        <p14:creationId xmlns:p14="http://schemas.microsoft.com/office/powerpoint/2010/main" val="349743961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F071B-9E9F-C52F-4A31-553B76B618EB}"/>
              </a:ext>
            </a:extLst>
          </p:cNvPr>
          <p:cNvSpPr txBox="1">
            <a:spLocks/>
          </p:cNvSpPr>
          <p:nvPr/>
        </p:nvSpPr>
        <p:spPr>
          <a:xfrm>
            <a:off x="9776" y="9781"/>
            <a:ext cx="12192000" cy="718882"/>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Distribution-free tests vs </a:t>
            </a:r>
            <a:r>
              <a:rPr lang="en-US" sz="5000" b="1" i="1" dirty="0"/>
              <a:t>t</a:t>
            </a:r>
            <a:r>
              <a:rPr lang="en-US" sz="5000" b="1" dirty="0"/>
              <a:t>-tests</a:t>
            </a:r>
          </a:p>
        </p:txBody>
      </p:sp>
      <p:sp>
        <p:nvSpPr>
          <p:cNvPr id="5" name="TextBox 4">
            <a:extLst>
              <a:ext uri="{FF2B5EF4-FFF2-40B4-BE49-F238E27FC236}">
                <a16:creationId xmlns:a16="http://schemas.microsoft.com/office/drawing/2014/main" id="{54489716-6073-5FF1-A052-9BFBA9A55889}"/>
              </a:ext>
            </a:extLst>
          </p:cNvPr>
          <p:cNvSpPr txBox="1"/>
          <p:nvPr/>
        </p:nvSpPr>
        <p:spPr>
          <a:xfrm>
            <a:off x="192501" y="1027801"/>
            <a:ext cx="11658602" cy="3020507"/>
          </a:xfrm>
          <a:prstGeom prst="rect">
            <a:avLst/>
          </a:prstGeom>
          <a:noFill/>
        </p:spPr>
        <p:txBody>
          <a:bodyPr wrap="square">
            <a:spAutoFit/>
          </a:bodyPr>
          <a:lstStyle/>
          <a:p>
            <a:r>
              <a:rPr lang="en-GB" sz="3200" dirty="0">
                <a:effectLst/>
              </a:rPr>
              <a:t>Situations which may suggest the use of distribution-free </a:t>
            </a:r>
            <a:r>
              <a:rPr lang="en-GB" sz="3200" dirty="0"/>
              <a:t>tests</a:t>
            </a:r>
            <a:r>
              <a:rPr lang="en-GB" sz="3200" dirty="0">
                <a:effectLst/>
              </a:rPr>
              <a:t>: </a:t>
            </a:r>
          </a:p>
          <a:p>
            <a:endParaRPr lang="en-GB" dirty="0">
              <a:solidFill>
                <a:srgbClr val="353593"/>
              </a:solidFill>
            </a:endParaRPr>
          </a:p>
          <a:p>
            <a:pPr marL="342900" indent="-342900">
              <a:lnSpc>
                <a:spcPct val="150000"/>
              </a:lnSpc>
              <a:buFont typeface="+mj-lt"/>
              <a:buAutoNum type="arabicPeriod"/>
            </a:pPr>
            <a:r>
              <a:rPr lang="en-GB" sz="2400" dirty="0">
                <a:effectLst/>
              </a:rPr>
              <a:t>When one outcome has a </a:t>
            </a:r>
            <a:r>
              <a:rPr lang="en-GB" sz="2400" b="1" dirty="0">
                <a:effectLst/>
              </a:rPr>
              <a:t>distribution other than normal</a:t>
            </a:r>
            <a:r>
              <a:rPr lang="en-GB" sz="2400" dirty="0">
                <a:effectLst/>
              </a:rPr>
              <a:t>.</a:t>
            </a:r>
            <a:endParaRPr lang="en-GB" sz="2400" dirty="0"/>
          </a:p>
          <a:p>
            <a:pPr marL="342900" indent="-342900">
              <a:lnSpc>
                <a:spcPct val="150000"/>
              </a:lnSpc>
              <a:buFont typeface="+mj-lt"/>
              <a:buAutoNum type="arabicPeriod"/>
            </a:pPr>
            <a:r>
              <a:rPr lang="en-GB" sz="2400" dirty="0">
                <a:effectLst/>
              </a:rPr>
              <a:t>When the data are </a:t>
            </a:r>
            <a:r>
              <a:rPr lang="en-GB" sz="2400" b="1" dirty="0">
                <a:effectLst/>
              </a:rPr>
              <a:t>ordered</a:t>
            </a:r>
            <a:r>
              <a:rPr lang="en-GB" sz="2400" dirty="0">
                <a:solidFill>
                  <a:srgbClr val="EA058C"/>
                </a:solidFill>
                <a:effectLst/>
              </a:rPr>
              <a:t> </a:t>
            </a:r>
            <a:r>
              <a:rPr lang="en-GB" sz="2400" dirty="0">
                <a:effectLst/>
              </a:rPr>
              <a:t>with many ties or are rank ordered.</a:t>
            </a:r>
          </a:p>
          <a:p>
            <a:pPr marL="342900" indent="-342900">
              <a:lnSpc>
                <a:spcPct val="150000"/>
              </a:lnSpc>
              <a:buFont typeface="+mj-lt"/>
              <a:buAutoNum type="arabicPeriod"/>
            </a:pPr>
            <a:r>
              <a:rPr lang="en-GB" sz="2400" dirty="0">
                <a:effectLst/>
              </a:rPr>
              <a:t>When the data has </a:t>
            </a:r>
            <a:r>
              <a:rPr lang="en-GB" sz="2400" b="1" dirty="0">
                <a:effectLst/>
              </a:rPr>
              <a:t>notable outliers</a:t>
            </a:r>
            <a:r>
              <a:rPr lang="en-GB" sz="2400" dirty="0">
                <a:effectLst/>
              </a:rPr>
              <a:t>.</a:t>
            </a:r>
            <a:endParaRPr lang="en-GB" sz="2400" dirty="0"/>
          </a:p>
          <a:p>
            <a:pPr marL="342900" indent="-342900">
              <a:lnSpc>
                <a:spcPct val="150000"/>
              </a:lnSpc>
              <a:buFont typeface="+mj-lt"/>
              <a:buAutoNum type="arabicPeriod"/>
            </a:pPr>
            <a:r>
              <a:rPr lang="en-GB" sz="2400" dirty="0">
                <a:effectLst/>
              </a:rPr>
              <a:t>When there is a </a:t>
            </a:r>
            <a:r>
              <a:rPr lang="en-GB" sz="2400" b="1" dirty="0"/>
              <a:t>small sample size</a:t>
            </a:r>
            <a:r>
              <a:rPr lang="en-GB" sz="2400" dirty="0"/>
              <a:t>.</a:t>
            </a:r>
            <a:r>
              <a:rPr lang="en-GB" sz="2400" dirty="0">
                <a:effectLst/>
              </a:rPr>
              <a:t> </a:t>
            </a:r>
          </a:p>
        </p:txBody>
      </p:sp>
      <p:sp>
        <p:nvSpPr>
          <p:cNvPr id="3" name="TextBox 2">
            <a:extLst>
              <a:ext uri="{FF2B5EF4-FFF2-40B4-BE49-F238E27FC236}">
                <a16:creationId xmlns:a16="http://schemas.microsoft.com/office/drawing/2014/main" id="{B899B84B-E529-F433-A721-C925A44D27BD}"/>
              </a:ext>
            </a:extLst>
          </p:cNvPr>
          <p:cNvSpPr txBox="1"/>
          <p:nvPr/>
        </p:nvSpPr>
        <p:spPr>
          <a:xfrm>
            <a:off x="9883943" y="149400"/>
            <a:ext cx="2171700" cy="892552"/>
          </a:xfrm>
          <a:prstGeom prst="rect">
            <a:avLst/>
          </a:prstGeom>
          <a:solidFill>
            <a:schemeClr val="accent4">
              <a:lumMod val="40000"/>
              <a:lumOff val="60000"/>
            </a:schemeClr>
          </a:solidFill>
          <a:ln>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p:spPr>
        <p:txBody>
          <a:bodyPr wrap="square" rtlCol="0">
            <a:spAutoFit/>
          </a:bodyPr>
          <a:lstStyle/>
          <a:p>
            <a:pPr algn="ctr"/>
            <a:r>
              <a:rPr lang="en-US" sz="2600" dirty="0">
                <a:solidFill>
                  <a:srgbClr val="FF0000"/>
                </a:solidFill>
                <a:latin typeface="American Typewriter" panose="02090604020004020304" pitchFamily="18" charset="77"/>
              </a:rPr>
              <a:t>Additional slide</a:t>
            </a:r>
          </a:p>
        </p:txBody>
      </p:sp>
    </p:spTree>
    <p:extLst>
      <p:ext uri="{BB962C8B-B14F-4D97-AF65-F5344CB8AC3E}">
        <p14:creationId xmlns:p14="http://schemas.microsoft.com/office/powerpoint/2010/main" val="212164755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41D326A-F742-9C2A-C43C-56E6234C9E0B}"/>
              </a:ext>
            </a:extLst>
          </p:cNvPr>
          <p:cNvSpPr txBox="1"/>
          <p:nvPr/>
        </p:nvSpPr>
        <p:spPr>
          <a:xfrm>
            <a:off x="153401" y="990308"/>
            <a:ext cx="12038599" cy="5124480"/>
          </a:xfrm>
          <a:prstGeom prst="rect">
            <a:avLst/>
          </a:prstGeom>
          <a:noFill/>
        </p:spPr>
        <p:txBody>
          <a:bodyPr wrap="square">
            <a:spAutoFit/>
          </a:bodyPr>
          <a:lstStyle/>
          <a:p>
            <a:r>
              <a:rPr lang="en-GB" sz="2700" b="0" i="0" u="none" strike="noStrike" dirty="0">
                <a:solidFill>
                  <a:srgbClr val="000000"/>
                </a:solidFill>
                <a:effectLst/>
              </a:rPr>
              <a:t>We can transform the data mathematically…</a:t>
            </a:r>
          </a:p>
          <a:p>
            <a:endParaRPr lang="en-GB" sz="2700" dirty="0">
              <a:solidFill>
                <a:srgbClr val="000000"/>
              </a:solidFill>
            </a:endParaRPr>
          </a:p>
          <a:p>
            <a:pPr marL="457200" indent="-457200">
              <a:buFont typeface="Wingdings" pitchFamily="2" charset="2"/>
              <a:buChar char="§"/>
            </a:pPr>
            <a:r>
              <a:rPr lang="en-GB" sz="2700" dirty="0">
                <a:solidFill>
                  <a:srgbClr val="000000"/>
                </a:solidFill>
              </a:rPr>
              <a:t>t</a:t>
            </a:r>
            <a:r>
              <a:rPr lang="en-GB" sz="2700" b="0" i="0" u="none" strike="noStrike" dirty="0">
                <a:solidFill>
                  <a:srgbClr val="000000"/>
                </a:solidFill>
                <a:effectLst/>
              </a:rPr>
              <a:t>o make them fit the normality </a:t>
            </a:r>
          </a:p>
          <a:p>
            <a:r>
              <a:rPr lang="en-GB" sz="2700" dirty="0">
                <a:solidFill>
                  <a:srgbClr val="000000"/>
                </a:solidFill>
              </a:rPr>
              <a:t>     </a:t>
            </a:r>
            <a:r>
              <a:rPr lang="en-GB" sz="2700" b="0" i="0" u="none" strike="noStrike" dirty="0">
                <a:solidFill>
                  <a:srgbClr val="000000"/>
                </a:solidFill>
                <a:effectLst/>
              </a:rPr>
              <a:t>more closely</a:t>
            </a:r>
          </a:p>
          <a:p>
            <a:endParaRPr lang="en-GB" sz="2700" dirty="0">
              <a:solidFill>
                <a:srgbClr val="000000"/>
              </a:solidFill>
            </a:endParaRPr>
          </a:p>
          <a:p>
            <a:endParaRPr lang="en-GB" sz="2700" b="0" i="0" u="none" strike="noStrike" dirty="0">
              <a:solidFill>
                <a:srgbClr val="000000"/>
              </a:solidFill>
              <a:effectLst/>
            </a:endParaRPr>
          </a:p>
          <a:p>
            <a:endParaRPr lang="en-GB" b="0" i="0" u="none" strike="noStrike" dirty="0">
              <a:solidFill>
                <a:srgbClr val="000000"/>
              </a:solidFill>
              <a:effectLst/>
            </a:endParaRPr>
          </a:p>
          <a:p>
            <a:pPr marL="457200" indent="-457200">
              <a:buFont typeface="Wingdings" pitchFamily="2" charset="2"/>
              <a:buChar char="§"/>
            </a:pPr>
            <a:r>
              <a:rPr lang="en-GB" sz="2700" dirty="0">
                <a:solidFill>
                  <a:srgbClr val="000000"/>
                </a:solidFill>
              </a:rPr>
              <a:t>to obtain more similar variances	</a:t>
            </a:r>
          </a:p>
          <a:p>
            <a:endParaRPr lang="en-GB" sz="2700" dirty="0">
              <a:solidFill>
                <a:srgbClr val="000000"/>
              </a:solidFill>
            </a:endParaRPr>
          </a:p>
          <a:p>
            <a:endParaRPr lang="en-GB" sz="2700" dirty="0">
              <a:solidFill>
                <a:srgbClr val="000000"/>
              </a:solidFill>
            </a:endParaRPr>
          </a:p>
          <a:p>
            <a:endParaRPr lang="en-GB" sz="2700" dirty="0">
              <a:solidFill>
                <a:srgbClr val="000000"/>
              </a:solidFill>
            </a:endParaRPr>
          </a:p>
          <a:p>
            <a:endParaRPr lang="en-GB" sz="1200" dirty="0">
              <a:solidFill>
                <a:srgbClr val="000000"/>
              </a:solidFill>
            </a:endParaRPr>
          </a:p>
          <a:p>
            <a:pPr marL="457200" indent="-457200">
              <a:buFont typeface="Wingdings" pitchFamily="2" charset="2"/>
              <a:buChar char="§"/>
            </a:pPr>
            <a:r>
              <a:rPr lang="en-GB" sz="2700" dirty="0">
                <a:solidFill>
                  <a:srgbClr val="000000"/>
                </a:solidFill>
              </a:rPr>
              <a:t>to handle outliers</a:t>
            </a:r>
          </a:p>
        </p:txBody>
      </p:sp>
      <p:pic>
        <p:nvPicPr>
          <p:cNvPr id="8" name="Picture 7" descr="A graph of ulcer area&#10;&#10;Description automatically generated">
            <a:extLst>
              <a:ext uri="{FF2B5EF4-FFF2-40B4-BE49-F238E27FC236}">
                <a16:creationId xmlns:a16="http://schemas.microsoft.com/office/drawing/2014/main" id="{EEF12368-C221-EFC3-2EBC-34DC8D6C7781}"/>
              </a:ext>
            </a:extLst>
          </p:cNvPr>
          <p:cNvPicPr>
            <a:picLocks noChangeAspect="1"/>
          </p:cNvPicPr>
          <p:nvPr/>
        </p:nvPicPr>
        <p:blipFill>
          <a:blip r:embed="rId3"/>
          <a:stretch>
            <a:fillRect/>
          </a:stretch>
        </p:blipFill>
        <p:spPr>
          <a:xfrm>
            <a:off x="5222056" y="1682814"/>
            <a:ext cx="2387600" cy="1752600"/>
          </a:xfrm>
          <a:prstGeom prst="rect">
            <a:avLst/>
          </a:prstGeom>
        </p:spPr>
      </p:pic>
      <p:pic>
        <p:nvPicPr>
          <p:cNvPr id="10" name="Picture 9" descr="A graph with a red line&#10;&#10;Description automatically generated">
            <a:extLst>
              <a:ext uri="{FF2B5EF4-FFF2-40B4-BE49-F238E27FC236}">
                <a16:creationId xmlns:a16="http://schemas.microsoft.com/office/drawing/2014/main" id="{C4EC40D9-C732-0A53-857C-139F1356F72D}"/>
              </a:ext>
            </a:extLst>
          </p:cNvPr>
          <p:cNvPicPr>
            <a:picLocks noChangeAspect="1"/>
          </p:cNvPicPr>
          <p:nvPr/>
        </p:nvPicPr>
        <p:blipFill>
          <a:blip r:embed="rId4"/>
          <a:stretch>
            <a:fillRect/>
          </a:stretch>
        </p:blipFill>
        <p:spPr>
          <a:xfrm>
            <a:off x="9368208" y="1711392"/>
            <a:ext cx="2387600" cy="1752600"/>
          </a:xfrm>
          <a:prstGeom prst="rect">
            <a:avLst/>
          </a:prstGeom>
        </p:spPr>
      </p:pic>
      <p:pic>
        <p:nvPicPr>
          <p:cNvPr id="12" name="Picture 11" descr="A graph with green and white numbers&#10;&#10;Description automatically generated">
            <a:extLst>
              <a:ext uri="{FF2B5EF4-FFF2-40B4-BE49-F238E27FC236}">
                <a16:creationId xmlns:a16="http://schemas.microsoft.com/office/drawing/2014/main" id="{F30BE044-9EBC-60BD-3383-F2A3B0733361}"/>
              </a:ext>
            </a:extLst>
          </p:cNvPr>
          <p:cNvPicPr>
            <a:picLocks noChangeAspect="1"/>
          </p:cNvPicPr>
          <p:nvPr/>
        </p:nvPicPr>
        <p:blipFill>
          <a:blip r:embed="rId5"/>
          <a:stretch>
            <a:fillRect/>
          </a:stretch>
        </p:blipFill>
        <p:spPr>
          <a:xfrm>
            <a:off x="5232119" y="5096029"/>
            <a:ext cx="2387600" cy="1752600"/>
          </a:xfrm>
          <a:prstGeom prst="rect">
            <a:avLst/>
          </a:prstGeom>
        </p:spPr>
      </p:pic>
      <p:pic>
        <p:nvPicPr>
          <p:cNvPr id="14" name="Picture 13" descr="A graph showing the number of prostatitis histology&#10;&#10;Description automatically generated">
            <a:extLst>
              <a:ext uri="{FF2B5EF4-FFF2-40B4-BE49-F238E27FC236}">
                <a16:creationId xmlns:a16="http://schemas.microsoft.com/office/drawing/2014/main" id="{2B849662-E4CE-48D5-3976-DB6AC8B0F561}"/>
              </a:ext>
            </a:extLst>
          </p:cNvPr>
          <p:cNvPicPr>
            <a:picLocks noChangeAspect="1"/>
          </p:cNvPicPr>
          <p:nvPr/>
        </p:nvPicPr>
        <p:blipFill>
          <a:blip r:embed="rId6"/>
          <a:stretch>
            <a:fillRect/>
          </a:stretch>
        </p:blipFill>
        <p:spPr>
          <a:xfrm>
            <a:off x="9396344" y="5113512"/>
            <a:ext cx="2387600" cy="1752600"/>
          </a:xfrm>
          <a:prstGeom prst="rect">
            <a:avLst/>
          </a:prstGeom>
        </p:spPr>
      </p:pic>
      <p:pic>
        <p:nvPicPr>
          <p:cNvPr id="16" name="Picture 15" descr="A diagram of different colored squares&#10;&#10;Description automatically generated">
            <a:extLst>
              <a:ext uri="{FF2B5EF4-FFF2-40B4-BE49-F238E27FC236}">
                <a16:creationId xmlns:a16="http://schemas.microsoft.com/office/drawing/2014/main" id="{4CB30FFE-93B2-3357-543E-22BD08AB91F0}"/>
              </a:ext>
            </a:extLst>
          </p:cNvPr>
          <p:cNvPicPr>
            <a:picLocks noChangeAspect="1"/>
          </p:cNvPicPr>
          <p:nvPr/>
        </p:nvPicPr>
        <p:blipFill>
          <a:blip r:embed="rId7"/>
          <a:stretch>
            <a:fillRect/>
          </a:stretch>
        </p:blipFill>
        <p:spPr>
          <a:xfrm>
            <a:off x="5351744" y="3422406"/>
            <a:ext cx="2296111" cy="1685443"/>
          </a:xfrm>
          <a:prstGeom prst="rect">
            <a:avLst/>
          </a:prstGeom>
        </p:spPr>
      </p:pic>
      <p:pic>
        <p:nvPicPr>
          <p:cNvPr id="18" name="Picture 17" descr="A diagram of different colored squares&#10;&#10;Description automatically generated">
            <a:extLst>
              <a:ext uri="{FF2B5EF4-FFF2-40B4-BE49-F238E27FC236}">
                <a16:creationId xmlns:a16="http://schemas.microsoft.com/office/drawing/2014/main" id="{802B9B38-773E-F70E-4DC5-69EC68D59D02}"/>
              </a:ext>
            </a:extLst>
          </p:cNvPr>
          <p:cNvPicPr>
            <a:picLocks noChangeAspect="1"/>
          </p:cNvPicPr>
          <p:nvPr/>
        </p:nvPicPr>
        <p:blipFill>
          <a:blip r:embed="rId8"/>
          <a:stretch>
            <a:fillRect/>
          </a:stretch>
        </p:blipFill>
        <p:spPr>
          <a:xfrm>
            <a:off x="9502404" y="3435856"/>
            <a:ext cx="2296111" cy="1685443"/>
          </a:xfrm>
          <a:prstGeom prst="rect">
            <a:avLst/>
          </a:prstGeom>
        </p:spPr>
      </p:pic>
      <p:sp>
        <p:nvSpPr>
          <p:cNvPr id="2" name="Title 1">
            <a:extLst>
              <a:ext uri="{FF2B5EF4-FFF2-40B4-BE49-F238E27FC236}">
                <a16:creationId xmlns:a16="http://schemas.microsoft.com/office/drawing/2014/main" id="{D9DFA967-E44A-9FEB-5B0F-A037E57DC999}"/>
              </a:ext>
            </a:extLst>
          </p:cNvPr>
          <p:cNvSpPr txBox="1">
            <a:spLocks/>
          </p:cNvSpPr>
          <p:nvPr/>
        </p:nvSpPr>
        <p:spPr>
          <a:xfrm>
            <a:off x="0" y="24068"/>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Data transformations</a:t>
            </a:r>
          </a:p>
        </p:txBody>
      </p:sp>
      <p:cxnSp>
        <p:nvCxnSpPr>
          <p:cNvPr id="4" name="Straight Arrow Connector 3">
            <a:extLst>
              <a:ext uri="{FF2B5EF4-FFF2-40B4-BE49-F238E27FC236}">
                <a16:creationId xmlns:a16="http://schemas.microsoft.com/office/drawing/2014/main" id="{3C694455-B5D4-C789-B613-FAEC99FBA041}"/>
              </a:ext>
            </a:extLst>
          </p:cNvPr>
          <p:cNvCxnSpPr/>
          <p:nvPr/>
        </p:nvCxnSpPr>
        <p:spPr>
          <a:xfrm>
            <a:off x="7766462" y="2410691"/>
            <a:ext cx="1448790" cy="0"/>
          </a:xfrm>
          <a:prstGeom prst="straightConnector1">
            <a:avLst/>
          </a:prstGeom>
          <a:ln>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FA3E88B5-7804-3CF4-63BE-CF6F1B2F948B}"/>
              </a:ext>
            </a:extLst>
          </p:cNvPr>
          <p:cNvCxnSpPr/>
          <p:nvPr/>
        </p:nvCxnSpPr>
        <p:spPr>
          <a:xfrm>
            <a:off x="7768962" y="4002138"/>
            <a:ext cx="1448790" cy="0"/>
          </a:xfrm>
          <a:prstGeom prst="straightConnector1">
            <a:avLst/>
          </a:prstGeom>
          <a:ln>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2C0E6E80-5C7C-B17F-7CD5-10DBCF249472}"/>
              </a:ext>
            </a:extLst>
          </p:cNvPr>
          <p:cNvCxnSpPr/>
          <p:nvPr/>
        </p:nvCxnSpPr>
        <p:spPr>
          <a:xfrm>
            <a:off x="7738982" y="5830931"/>
            <a:ext cx="1448790" cy="0"/>
          </a:xfrm>
          <a:prstGeom prst="straightConnector1">
            <a:avLst/>
          </a:prstGeom>
          <a:ln>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C45D43E6-5BA4-D2EB-1C09-19A573BC00C7}"/>
              </a:ext>
            </a:extLst>
          </p:cNvPr>
          <p:cNvSpPr txBox="1"/>
          <p:nvPr/>
        </p:nvSpPr>
        <p:spPr>
          <a:xfrm>
            <a:off x="9883943" y="149400"/>
            <a:ext cx="2171700" cy="892552"/>
          </a:xfrm>
          <a:prstGeom prst="rect">
            <a:avLst/>
          </a:prstGeom>
          <a:solidFill>
            <a:schemeClr val="accent4">
              <a:lumMod val="40000"/>
              <a:lumOff val="60000"/>
            </a:schemeClr>
          </a:solidFill>
          <a:ln>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p:spPr>
        <p:txBody>
          <a:bodyPr wrap="square" rtlCol="0">
            <a:spAutoFit/>
          </a:bodyPr>
          <a:lstStyle/>
          <a:p>
            <a:pPr algn="ctr"/>
            <a:r>
              <a:rPr lang="en-US" sz="2600" dirty="0">
                <a:solidFill>
                  <a:srgbClr val="FF0000"/>
                </a:solidFill>
                <a:latin typeface="American Typewriter" panose="02090604020004020304" pitchFamily="18" charset="77"/>
              </a:rPr>
              <a:t>Additional slide</a:t>
            </a:r>
          </a:p>
        </p:txBody>
      </p:sp>
    </p:spTree>
    <p:extLst>
      <p:ext uri="{BB962C8B-B14F-4D97-AF65-F5344CB8AC3E}">
        <p14:creationId xmlns:p14="http://schemas.microsoft.com/office/powerpoint/2010/main" val="328260156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41D326A-F742-9C2A-C43C-56E6234C9E0B}"/>
              </a:ext>
            </a:extLst>
          </p:cNvPr>
          <p:cNvSpPr txBox="1"/>
          <p:nvPr/>
        </p:nvSpPr>
        <p:spPr>
          <a:xfrm>
            <a:off x="153401" y="1012337"/>
            <a:ext cx="12038599" cy="5693866"/>
          </a:xfrm>
          <a:prstGeom prst="rect">
            <a:avLst/>
          </a:prstGeom>
          <a:noFill/>
        </p:spPr>
        <p:txBody>
          <a:bodyPr wrap="square">
            <a:spAutoFit/>
          </a:bodyPr>
          <a:lstStyle/>
          <a:p>
            <a:r>
              <a:rPr lang="en-GB" sz="2600" b="0" i="0" u="none" strike="noStrike" dirty="0">
                <a:solidFill>
                  <a:srgbClr val="000000"/>
                </a:solidFill>
                <a:effectLst/>
              </a:rPr>
              <a:t>We can transform the data mathematically into…</a:t>
            </a:r>
            <a:r>
              <a:rPr lang="en-GB" sz="2600" dirty="0">
                <a:solidFill>
                  <a:srgbClr val="000000"/>
                </a:solidFill>
              </a:rPr>
              <a:t> </a:t>
            </a:r>
            <a:endParaRPr lang="en-GB" sz="2600" b="0" i="0" u="none" strike="noStrike" dirty="0">
              <a:solidFill>
                <a:srgbClr val="000000"/>
              </a:solidFill>
              <a:effectLst/>
            </a:endParaRPr>
          </a:p>
          <a:p>
            <a:r>
              <a:rPr lang="en-GB" sz="2600" b="0" i="0" u="none" strike="noStrike" dirty="0">
                <a:solidFill>
                  <a:srgbClr val="000000"/>
                </a:solidFill>
                <a:effectLst/>
              </a:rPr>
              <a:t>1. </a:t>
            </a:r>
            <a:r>
              <a:rPr lang="en-GB" sz="2600" dirty="0">
                <a:solidFill>
                  <a:srgbClr val="000000"/>
                </a:solidFill>
              </a:rPr>
              <a:t>t</a:t>
            </a:r>
            <a:r>
              <a:rPr lang="en-GB" sz="2600" b="0" i="0" u="none" strike="noStrike" dirty="0">
                <a:solidFill>
                  <a:srgbClr val="000000"/>
                </a:solidFill>
                <a:effectLst/>
              </a:rPr>
              <a:t>he </a:t>
            </a:r>
            <a:r>
              <a:rPr lang="en-GB" sz="2600" dirty="0">
                <a:solidFill>
                  <a:srgbClr val="000000"/>
                </a:solidFill>
              </a:rPr>
              <a:t>l</a:t>
            </a:r>
            <a:r>
              <a:rPr lang="en-GB" sz="2600" b="0" i="0" u="none" strike="noStrike" dirty="0">
                <a:solidFill>
                  <a:srgbClr val="000000"/>
                </a:solidFill>
                <a:effectLst/>
              </a:rPr>
              <a:t>ogarithm (x</a:t>
            </a:r>
            <a:r>
              <a:rPr lang="en-GB" sz="2600" b="0" i="0" u="none" strike="noStrike" baseline="-25000" dirty="0">
                <a:solidFill>
                  <a:srgbClr val="000000"/>
                </a:solidFill>
                <a:effectLst/>
              </a:rPr>
              <a:t>i</a:t>
            </a:r>
            <a:r>
              <a:rPr lang="en-GB" sz="2600" b="0" i="0" u="none" strike="noStrike" dirty="0">
                <a:solidFill>
                  <a:srgbClr val="000000"/>
                </a:solidFill>
                <a:effectLst/>
              </a:rPr>
              <a:t> &gt; 0, </a:t>
            </a:r>
            <a:r>
              <a:rPr lang="en-GB" sz="2600" b="0" i="0" u="none" strike="noStrike" dirty="0" err="1">
                <a:solidFill>
                  <a:srgbClr val="000000"/>
                </a:solidFill>
                <a:effectLst/>
              </a:rPr>
              <a:t>i</a:t>
            </a:r>
            <a:r>
              <a:rPr lang="en-GB" sz="2600" b="0" i="0" u="none" strike="noStrike" dirty="0">
                <a:solidFill>
                  <a:srgbClr val="000000"/>
                </a:solidFill>
                <a:effectLst/>
              </a:rPr>
              <a:t>=1,…n)</a:t>
            </a:r>
            <a:endParaRPr lang="en-GB" sz="2600" dirty="0">
              <a:solidFill>
                <a:srgbClr val="000000"/>
              </a:solidFill>
            </a:endParaRPr>
          </a:p>
          <a:p>
            <a:r>
              <a:rPr lang="en-GB" sz="2600" dirty="0">
                <a:solidFill>
                  <a:srgbClr val="000000"/>
                </a:solidFill>
              </a:rPr>
              <a:t>2. the square root </a:t>
            </a:r>
            <a:r>
              <a:rPr lang="en-GB" sz="2600" b="0" i="0" u="none" strike="noStrike" dirty="0">
                <a:solidFill>
                  <a:srgbClr val="000000"/>
                </a:solidFill>
                <a:effectLst/>
              </a:rPr>
              <a:t>(x</a:t>
            </a:r>
            <a:r>
              <a:rPr lang="en-GB" sz="2600" b="0" i="0" u="none" strike="noStrike" baseline="-25000" dirty="0">
                <a:solidFill>
                  <a:srgbClr val="000000"/>
                </a:solidFill>
                <a:effectLst/>
              </a:rPr>
              <a:t>i</a:t>
            </a:r>
            <a:r>
              <a:rPr lang="en-GB" sz="2600" b="0" i="0" u="none" strike="noStrike" dirty="0">
                <a:solidFill>
                  <a:srgbClr val="000000"/>
                </a:solidFill>
                <a:effectLst/>
              </a:rPr>
              <a:t> </a:t>
            </a:r>
            <a:r>
              <a:rPr lang="en-GB" sz="2600" b="0" i="0" u="sng" strike="noStrike" dirty="0">
                <a:solidFill>
                  <a:srgbClr val="000000"/>
                </a:solidFill>
                <a:effectLst/>
              </a:rPr>
              <a:t>&gt;</a:t>
            </a:r>
            <a:r>
              <a:rPr lang="en-GB" sz="2600" b="0" i="0" u="none" strike="noStrike" dirty="0">
                <a:solidFill>
                  <a:srgbClr val="000000"/>
                </a:solidFill>
                <a:effectLst/>
              </a:rPr>
              <a:t> 0, </a:t>
            </a:r>
            <a:r>
              <a:rPr lang="en-GB" sz="2600" b="0" i="0" u="none" strike="noStrike" dirty="0" err="1">
                <a:solidFill>
                  <a:srgbClr val="000000"/>
                </a:solidFill>
                <a:effectLst/>
              </a:rPr>
              <a:t>i</a:t>
            </a:r>
            <a:r>
              <a:rPr lang="en-GB" sz="2600" b="0" i="0" u="none" strike="noStrike" dirty="0">
                <a:solidFill>
                  <a:srgbClr val="000000"/>
                </a:solidFill>
                <a:effectLst/>
              </a:rPr>
              <a:t>=1,…n)</a:t>
            </a:r>
            <a:r>
              <a:rPr lang="en-GB" sz="2600" dirty="0">
                <a:solidFill>
                  <a:srgbClr val="000000"/>
                </a:solidFill>
              </a:rPr>
              <a:t>	</a:t>
            </a:r>
          </a:p>
          <a:p>
            <a:r>
              <a:rPr lang="en-GB" sz="2600" dirty="0">
                <a:solidFill>
                  <a:srgbClr val="000000"/>
                </a:solidFill>
              </a:rPr>
              <a:t>3. the reciprocal </a:t>
            </a:r>
            <a:r>
              <a:rPr lang="en-GB" sz="2600" b="0" i="0" u="none" strike="noStrike" dirty="0">
                <a:solidFill>
                  <a:srgbClr val="000000"/>
                </a:solidFill>
                <a:effectLst/>
              </a:rPr>
              <a:t>(x</a:t>
            </a:r>
            <a:r>
              <a:rPr lang="en-GB" sz="2600" b="0" i="0" u="none" strike="noStrike" baseline="-25000" dirty="0">
                <a:solidFill>
                  <a:srgbClr val="000000"/>
                </a:solidFill>
                <a:effectLst/>
              </a:rPr>
              <a:t>i</a:t>
            </a:r>
            <a:r>
              <a:rPr lang="en-GB" sz="2600" b="0" i="0" u="none" strike="noStrike" dirty="0">
                <a:solidFill>
                  <a:srgbClr val="000000"/>
                </a:solidFill>
                <a:effectLst/>
              </a:rPr>
              <a:t> &gt; 0, </a:t>
            </a:r>
            <a:r>
              <a:rPr lang="en-GB" sz="2600" b="0" i="0" u="none" strike="noStrike" dirty="0" err="1">
                <a:solidFill>
                  <a:srgbClr val="000000"/>
                </a:solidFill>
                <a:effectLst/>
              </a:rPr>
              <a:t>i</a:t>
            </a:r>
            <a:r>
              <a:rPr lang="en-GB" sz="2600" b="0" i="0" u="none" strike="noStrike" dirty="0">
                <a:solidFill>
                  <a:srgbClr val="000000"/>
                </a:solidFill>
                <a:effectLst/>
              </a:rPr>
              <a:t>=1,…n)</a:t>
            </a:r>
            <a:endParaRPr lang="en-GB" sz="2600" dirty="0">
              <a:solidFill>
                <a:srgbClr val="000000"/>
              </a:solidFill>
            </a:endParaRPr>
          </a:p>
          <a:p>
            <a:endParaRPr lang="en-GB" sz="2600" dirty="0">
              <a:solidFill>
                <a:srgbClr val="000000"/>
              </a:solidFill>
            </a:endParaRPr>
          </a:p>
          <a:p>
            <a:r>
              <a:rPr lang="en-GB" sz="2600" b="1" dirty="0">
                <a:solidFill>
                  <a:srgbClr val="000000"/>
                </a:solidFill>
              </a:rPr>
              <a:t>Take home message:</a:t>
            </a:r>
          </a:p>
          <a:p>
            <a:pPr marL="457200" indent="-457200">
              <a:buFont typeface="Arial" panose="020B0604020202020204" pitchFamily="34" charset="0"/>
              <a:buChar char="•"/>
            </a:pPr>
            <a:r>
              <a:rPr lang="en-GB" sz="2600" dirty="0">
                <a:solidFill>
                  <a:srgbClr val="000000"/>
                </a:solidFill>
              </a:rPr>
              <a:t>These transformations could be useful to obtain normality, similar variance and handling outliers</a:t>
            </a:r>
          </a:p>
          <a:p>
            <a:endParaRPr lang="en-GB" sz="2600" dirty="0">
              <a:solidFill>
                <a:srgbClr val="000000"/>
              </a:solidFill>
            </a:endParaRPr>
          </a:p>
          <a:p>
            <a:pPr marL="457200" indent="-457200">
              <a:buFont typeface="Arial" panose="020B0604020202020204" pitchFamily="34" charset="0"/>
              <a:buChar char="•"/>
            </a:pPr>
            <a:r>
              <a:rPr lang="en-GB" sz="2600" dirty="0">
                <a:solidFill>
                  <a:srgbClr val="000000"/>
                </a:solidFill>
              </a:rPr>
              <a:t>The best choice depends on the relationship between variability and mean. Graphical display of data is useful to choose the </a:t>
            </a:r>
          </a:p>
          <a:p>
            <a:r>
              <a:rPr lang="en-GB" sz="2600" dirty="0">
                <a:solidFill>
                  <a:srgbClr val="000000"/>
                </a:solidFill>
              </a:rPr>
              <a:t>      best transformation</a:t>
            </a:r>
          </a:p>
          <a:p>
            <a:endParaRPr lang="en-GB" sz="2600" dirty="0">
              <a:solidFill>
                <a:srgbClr val="000000"/>
              </a:solidFill>
            </a:endParaRPr>
          </a:p>
          <a:p>
            <a:pPr marL="457200" indent="-457200">
              <a:buFont typeface="Arial" panose="020B0604020202020204" pitchFamily="34" charset="0"/>
              <a:buChar char="•"/>
            </a:pPr>
            <a:r>
              <a:rPr lang="en-GB" sz="2600" b="0" i="0" u="none" strike="noStrike" dirty="0">
                <a:solidFill>
                  <a:srgbClr val="000000"/>
                </a:solidFill>
                <a:effectLst/>
              </a:rPr>
              <a:t>Not all data can be transformed successfully</a:t>
            </a:r>
            <a:endParaRPr lang="en-GB" sz="2600" dirty="0">
              <a:solidFill>
                <a:srgbClr val="000000"/>
              </a:solidFill>
            </a:endParaRPr>
          </a:p>
        </p:txBody>
      </p:sp>
      <p:pic>
        <p:nvPicPr>
          <p:cNvPr id="3" name="Picture 2" descr="A graph of a normal distribution&#10;&#10;Description automatically generated">
            <a:extLst>
              <a:ext uri="{FF2B5EF4-FFF2-40B4-BE49-F238E27FC236}">
                <a16:creationId xmlns:a16="http://schemas.microsoft.com/office/drawing/2014/main" id="{BDA6BA46-299A-A713-4B3B-FB8E386F3824}"/>
              </a:ext>
            </a:extLst>
          </p:cNvPr>
          <p:cNvPicPr>
            <a:picLocks noChangeAspect="1"/>
          </p:cNvPicPr>
          <p:nvPr/>
        </p:nvPicPr>
        <p:blipFill>
          <a:blip r:embed="rId3"/>
          <a:stretch>
            <a:fillRect/>
          </a:stretch>
        </p:blipFill>
        <p:spPr>
          <a:xfrm>
            <a:off x="6948958" y="5582653"/>
            <a:ext cx="1737429" cy="1275347"/>
          </a:xfrm>
          <a:prstGeom prst="rect">
            <a:avLst/>
          </a:prstGeom>
        </p:spPr>
      </p:pic>
      <p:sp>
        <p:nvSpPr>
          <p:cNvPr id="2" name="Title 1">
            <a:extLst>
              <a:ext uri="{FF2B5EF4-FFF2-40B4-BE49-F238E27FC236}">
                <a16:creationId xmlns:a16="http://schemas.microsoft.com/office/drawing/2014/main" id="{F6D819ED-FB64-2A14-B6AB-388C140309E9}"/>
              </a:ext>
            </a:extLst>
          </p:cNvPr>
          <p:cNvSpPr txBox="1">
            <a:spLocks/>
          </p:cNvSpPr>
          <p:nvPr/>
        </p:nvSpPr>
        <p:spPr>
          <a:xfrm>
            <a:off x="0" y="24068"/>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500" b="1" dirty="0"/>
              <a:t>The most common used transformations</a:t>
            </a:r>
          </a:p>
        </p:txBody>
      </p:sp>
      <p:sp>
        <p:nvSpPr>
          <p:cNvPr id="4" name="TextBox 3">
            <a:extLst>
              <a:ext uri="{FF2B5EF4-FFF2-40B4-BE49-F238E27FC236}">
                <a16:creationId xmlns:a16="http://schemas.microsoft.com/office/drawing/2014/main" id="{86C63438-C166-8967-5A2E-7BD6B5070F3D}"/>
              </a:ext>
            </a:extLst>
          </p:cNvPr>
          <p:cNvSpPr txBox="1"/>
          <p:nvPr/>
        </p:nvSpPr>
        <p:spPr>
          <a:xfrm>
            <a:off x="9883943" y="149400"/>
            <a:ext cx="2171700" cy="892552"/>
          </a:xfrm>
          <a:prstGeom prst="rect">
            <a:avLst/>
          </a:prstGeom>
          <a:solidFill>
            <a:schemeClr val="accent4">
              <a:lumMod val="40000"/>
              <a:lumOff val="60000"/>
            </a:schemeClr>
          </a:solidFill>
          <a:ln>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p:spPr>
        <p:txBody>
          <a:bodyPr wrap="square" rtlCol="0">
            <a:spAutoFit/>
          </a:bodyPr>
          <a:lstStyle/>
          <a:p>
            <a:pPr algn="ctr"/>
            <a:r>
              <a:rPr lang="en-US" sz="2600" dirty="0">
                <a:solidFill>
                  <a:srgbClr val="FF0000"/>
                </a:solidFill>
                <a:latin typeface="American Typewriter" panose="02090604020004020304" pitchFamily="18" charset="77"/>
              </a:rPr>
              <a:t>Additional slide</a:t>
            </a:r>
          </a:p>
        </p:txBody>
      </p:sp>
    </p:spTree>
    <p:extLst>
      <p:ext uri="{BB962C8B-B14F-4D97-AF65-F5344CB8AC3E}">
        <p14:creationId xmlns:p14="http://schemas.microsoft.com/office/powerpoint/2010/main" val="283171580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420E7F4-6D49-973D-9BFC-725E70844A9E}"/>
              </a:ext>
            </a:extLst>
          </p:cNvPr>
          <p:cNvSpPr txBox="1"/>
          <p:nvPr/>
        </p:nvSpPr>
        <p:spPr>
          <a:xfrm>
            <a:off x="72181" y="902365"/>
            <a:ext cx="12083724" cy="5693866"/>
          </a:xfrm>
          <a:prstGeom prst="rect">
            <a:avLst/>
          </a:prstGeom>
          <a:noFill/>
        </p:spPr>
        <p:txBody>
          <a:bodyPr wrap="square" rtlCol="0">
            <a:spAutoFit/>
          </a:bodyPr>
          <a:lstStyle/>
          <a:p>
            <a:r>
              <a:rPr lang="en-US" sz="2800" b="1" dirty="0"/>
              <a:t>Assumptions: </a:t>
            </a:r>
            <a:r>
              <a:rPr lang="en-US" sz="2800" dirty="0"/>
              <a:t>	1. Student’s </a:t>
            </a:r>
            <a:r>
              <a:rPr lang="en-US" sz="2800" i="1" dirty="0"/>
              <a:t>t</a:t>
            </a:r>
            <a:r>
              <a:rPr lang="en-US" sz="2800" dirty="0"/>
              <a:t>-test assumptions or</a:t>
            </a:r>
          </a:p>
          <a:p>
            <a:r>
              <a:rPr lang="en-US" sz="2800" dirty="0"/>
              <a:t>			2. Welch’s </a:t>
            </a:r>
            <a:r>
              <a:rPr lang="en-US" sz="2800" i="1" dirty="0"/>
              <a:t>t</a:t>
            </a:r>
            <a:r>
              <a:rPr lang="en-US" sz="2800" dirty="0"/>
              <a:t>-test assumptions</a:t>
            </a:r>
          </a:p>
          <a:p>
            <a:endParaRPr lang="en-US" sz="2800" b="1" dirty="0"/>
          </a:p>
          <a:p>
            <a:r>
              <a:rPr lang="en-US" sz="2800" b="1" dirty="0"/>
              <a:t>Hypotheses to test: </a:t>
            </a:r>
            <a:r>
              <a:rPr lang="en-US" sz="2800" dirty="0"/>
              <a:t>								 </a:t>
            </a:r>
          </a:p>
          <a:p>
            <a:r>
              <a:rPr lang="en-US" sz="2800" dirty="0"/>
              <a:t>H</a:t>
            </a:r>
            <a:r>
              <a:rPr lang="en-US" sz="2800" baseline="-25000" dirty="0"/>
              <a:t>0</a:t>
            </a:r>
            <a:r>
              <a:rPr lang="en-US" sz="2800" dirty="0"/>
              <a:t>: 	The population distributions are the same (G=F) </a:t>
            </a:r>
            <a:r>
              <a:rPr lang="en-US" sz="2800" baseline="30000" dirty="0"/>
              <a:t>⋆ ⋆</a:t>
            </a:r>
            <a:r>
              <a:rPr lang="en-US" sz="2800" dirty="0"/>
              <a:t> </a:t>
            </a:r>
          </a:p>
          <a:p>
            <a:r>
              <a:rPr lang="en-US" sz="2800" dirty="0"/>
              <a:t>H</a:t>
            </a:r>
            <a:r>
              <a:rPr lang="en-US" sz="2800" baseline="-25000" dirty="0"/>
              <a:t>1</a:t>
            </a:r>
            <a:r>
              <a:rPr lang="en-US" sz="2800" dirty="0"/>
              <a:t>: 	G ≠ F (two-sided H</a:t>
            </a:r>
            <a:r>
              <a:rPr lang="en-US" sz="2800" baseline="-25000" dirty="0"/>
              <a:t>1</a:t>
            </a:r>
            <a:r>
              <a:rPr lang="en-US" sz="2800" dirty="0"/>
              <a:t>) or G &lt; F </a:t>
            </a:r>
            <a:r>
              <a:rPr lang="en-US" sz="2800" baseline="30000" dirty="0"/>
              <a:t>⋆ </a:t>
            </a:r>
            <a:r>
              <a:rPr lang="en-US" sz="2800" dirty="0"/>
              <a:t>(one-sided H</a:t>
            </a:r>
            <a:r>
              <a:rPr lang="en-US" sz="2800" baseline="-25000" dirty="0"/>
              <a:t>1</a:t>
            </a:r>
            <a:r>
              <a:rPr lang="en-US" sz="2800" dirty="0"/>
              <a:t>) or G &gt; F </a:t>
            </a:r>
            <a:r>
              <a:rPr lang="en-US" sz="2800" baseline="30000" dirty="0"/>
              <a:t>∘ </a:t>
            </a:r>
            <a:r>
              <a:rPr lang="en-US" sz="2800" dirty="0"/>
              <a:t>(one-sided H</a:t>
            </a:r>
            <a:r>
              <a:rPr lang="en-US" sz="2800" baseline="-25000" dirty="0"/>
              <a:t>1</a:t>
            </a:r>
            <a:r>
              <a:rPr lang="en-US" sz="2800" dirty="0"/>
              <a:t>)</a:t>
            </a:r>
          </a:p>
          <a:p>
            <a:r>
              <a:rPr lang="en-US" sz="2800" dirty="0"/>
              <a:t>	</a:t>
            </a:r>
            <a:r>
              <a:rPr lang="en-US" sz="2800" baseline="30000" dirty="0"/>
              <a:t>⋆</a:t>
            </a:r>
            <a:r>
              <a:rPr lang="en-US" sz="2800" dirty="0"/>
              <a:t> G is shifted to the left of F</a:t>
            </a:r>
          </a:p>
          <a:p>
            <a:r>
              <a:rPr lang="en-US" sz="2800" dirty="0"/>
              <a:t>	</a:t>
            </a:r>
            <a:r>
              <a:rPr lang="en-US" sz="2800" baseline="30000" dirty="0"/>
              <a:t>∘</a:t>
            </a:r>
            <a:r>
              <a:rPr lang="en-US" sz="2800" dirty="0"/>
              <a:t> G is shifted to the right of F</a:t>
            </a:r>
          </a:p>
          <a:p>
            <a:endParaRPr lang="en-US" sz="2800" b="1" dirty="0"/>
          </a:p>
          <a:p>
            <a:r>
              <a:rPr lang="en-US" sz="2800" baseline="30000" dirty="0"/>
              <a:t>⋆ ⋆ </a:t>
            </a:r>
            <a:r>
              <a:rPr lang="en-US" sz="2800" dirty="0"/>
              <a:t>Previous data transformations are monotonic. Hence,</a:t>
            </a:r>
          </a:p>
          <a:p>
            <a:r>
              <a:rPr lang="en-US" sz="2800" dirty="0"/>
              <a:t>    G=F on the natural scale if and only if G=F on the transformed scale</a:t>
            </a:r>
          </a:p>
          <a:p>
            <a:endParaRPr lang="en-US" sz="2800" b="1" dirty="0"/>
          </a:p>
          <a:p>
            <a:r>
              <a:rPr lang="en-US" sz="2800" b="1" dirty="0"/>
              <a:t>Test statistic:	</a:t>
            </a:r>
            <a:r>
              <a:rPr lang="en-US" sz="2800" dirty="0"/>
              <a:t>Student’s test statistic or Welch’s test statistic</a:t>
            </a:r>
            <a:r>
              <a:rPr lang="en-US" sz="2800" baseline="-25000" dirty="0"/>
              <a:t>			</a:t>
            </a:r>
          </a:p>
        </p:txBody>
      </p:sp>
      <p:pic>
        <p:nvPicPr>
          <p:cNvPr id="5" name="Picture 4" descr="A diagram of a graph&#10;&#10;Description automatically generated">
            <a:extLst>
              <a:ext uri="{FF2B5EF4-FFF2-40B4-BE49-F238E27FC236}">
                <a16:creationId xmlns:a16="http://schemas.microsoft.com/office/drawing/2014/main" id="{4DF2428E-9E29-A940-601A-33B3434CCC2B}"/>
              </a:ext>
            </a:extLst>
          </p:cNvPr>
          <p:cNvPicPr>
            <a:picLocks noChangeAspect="1"/>
          </p:cNvPicPr>
          <p:nvPr/>
        </p:nvPicPr>
        <p:blipFill>
          <a:blip r:embed="rId3"/>
          <a:stretch>
            <a:fillRect/>
          </a:stretch>
        </p:blipFill>
        <p:spPr>
          <a:xfrm>
            <a:off x="9422864" y="3749298"/>
            <a:ext cx="2563360" cy="1435482"/>
          </a:xfrm>
          <a:prstGeom prst="rect">
            <a:avLst/>
          </a:prstGeom>
          <a:ln>
            <a:solidFill>
              <a:schemeClr val="tx1"/>
            </a:solidFill>
          </a:ln>
        </p:spPr>
      </p:pic>
      <p:sp>
        <p:nvSpPr>
          <p:cNvPr id="6" name="Title 1">
            <a:extLst>
              <a:ext uri="{FF2B5EF4-FFF2-40B4-BE49-F238E27FC236}">
                <a16:creationId xmlns:a16="http://schemas.microsoft.com/office/drawing/2014/main" id="{E57FD977-828A-CE20-F326-7EB447F752E1}"/>
              </a:ext>
            </a:extLst>
          </p:cNvPr>
          <p:cNvSpPr txBox="1">
            <a:spLocks/>
          </p:cNvSpPr>
          <p:nvPr/>
        </p:nvSpPr>
        <p:spPr>
          <a:xfrm>
            <a:off x="0" y="9780"/>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dirty="0"/>
              <a:t>Hypothesis to be tested after data transformations</a:t>
            </a:r>
          </a:p>
        </p:txBody>
      </p:sp>
      <p:sp>
        <p:nvSpPr>
          <p:cNvPr id="2" name="TextBox 1">
            <a:extLst>
              <a:ext uri="{FF2B5EF4-FFF2-40B4-BE49-F238E27FC236}">
                <a16:creationId xmlns:a16="http://schemas.microsoft.com/office/drawing/2014/main" id="{EADCBF19-312A-EC7C-6045-1EAFC0D46FE4}"/>
              </a:ext>
            </a:extLst>
          </p:cNvPr>
          <p:cNvSpPr txBox="1"/>
          <p:nvPr/>
        </p:nvSpPr>
        <p:spPr>
          <a:xfrm>
            <a:off x="9883943" y="149400"/>
            <a:ext cx="2171700" cy="892552"/>
          </a:xfrm>
          <a:prstGeom prst="rect">
            <a:avLst/>
          </a:prstGeom>
          <a:solidFill>
            <a:schemeClr val="accent4">
              <a:lumMod val="40000"/>
              <a:lumOff val="60000"/>
            </a:schemeClr>
          </a:solidFill>
          <a:ln>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p:spPr>
        <p:txBody>
          <a:bodyPr wrap="square" rtlCol="0">
            <a:spAutoFit/>
          </a:bodyPr>
          <a:lstStyle/>
          <a:p>
            <a:pPr algn="ctr"/>
            <a:r>
              <a:rPr lang="en-US" sz="2600" dirty="0">
                <a:solidFill>
                  <a:srgbClr val="FF0000"/>
                </a:solidFill>
                <a:latin typeface="American Typewriter" panose="02090604020004020304" pitchFamily="18" charset="77"/>
              </a:rPr>
              <a:t>Additional slide</a:t>
            </a:r>
          </a:p>
        </p:txBody>
      </p:sp>
    </p:spTree>
    <p:extLst>
      <p:ext uri="{BB962C8B-B14F-4D97-AF65-F5344CB8AC3E}">
        <p14:creationId xmlns:p14="http://schemas.microsoft.com/office/powerpoint/2010/main" val="116015390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raph with a red line and blue line&#10;&#10;Description automatically generated">
            <a:extLst>
              <a:ext uri="{FF2B5EF4-FFF2-40B4-BE49-F238E27FC236}">
                <a16:creationId xmlns:a16="http://schemas.microsoft.com/office/drawing/2014/main" id="{0541CB97-A524-E43B-94EC-BF2C180839A5}"/>
              </a:ext>
            </a:extLst>
          </p:cNvPr>
          <p:cNvPicPr>
            <a:picLocks noChangeAspect="1"/>
          </p:cNvPicPr>
          <p:nvPr/>
        </p:nvPicPr>
        <p:blipFill>
          <a:blip r:embed="rId3"/>
          <a:stretch>
            <a:fillRect/>
          </a:stretch>
        </p:blipFill>
        <p:spPr>
          <a:xfrm>
            <a:off x="358238" y="1779115"/>
            <a:ext cx="3940630" cy="3721706"/>
          </a:xfrm>
          <a:prstGeom prst="rect">
            <a:avLst/>
          </a:prstGeom>
          <a:ln>
            <a:solidFill>
              <a:schemeClr val="tx1"/>
            </a:solidFill>
          </a:ln>
        </p:spPr>
      </p:pic>
      <p:sp>
        <p:nvSpPr>
          <p:cNvPr id="7" name="TextBox 6">
            <a:extLst>
              <a:ext uri="{FF2B5EF4-FFF2-40B4-BE49-F238E27FC236}">
                <a16:creationId xmlns:a16="http://schemas.microsoft.com/office/drawing/2014/main" id="{D3F2DDE3-AE6D-2215-BF35-8A531958E923}"/>
              </a:ext>
            </a:extLst>
          </p:cNvPr>
          <p:cNvSpPr txBox="1"/>
          <p:nvPr/>
        </p:nvSpPr>
        <p:spPr>
          <a:xfrm>
            <a:off x="4819403" y="2054435"/>
            <a:ext cx="6260276" cy="523220"/>
          </a:xfrm>
          <a:prstGeom prst="rect">
            <a:avLst/>
          </a:prstGeom>
          <a:noFill/>
        </p:spPr>
        <p:txBody>
          <a:bodyPr wrap="square" rtlCol="0">
            <a:spAutoFit/>
          </a:bodyPr>
          <a:lstStyle/>
          <a:p>
            <a:pPr marL="457200" indent="-457200">
              <a:buFont typeface="Arial" panose="020B0604020202020204" pitchFamily="34" charset="0"/>
              <a:buChar char="•"/>
            </a:pPr>
            <a:r>
              <a:rPr lang="en-US" sz="2800" dirty="0"/>
              <a:t>Mean log-normal: exp(𝝁 + 𝝈</a:t>
            </a:r>
            <a:r>
              <a:rPr lang="en-US" sz="2800" baseline="30000" dirty="0"/>
              <a:t>2 </a:t>
            </a:r>
            <a:r>
              <a:rPr lang="en-US" sz="2800" dirty="0"/>
              <a:t>/ 2)</a:t>
            </a:r>
          </a:p>
        </p:txBody>
      </p:sp>
      <p:sp>
        <p:nvSpPr>
          <p:cNvPr id="8" name="TextBox 7">
            <a:extLst>
              <a:ext uri="{FF2B5EF4-FFF2-40B4-BE49-F238E27FC236}">
                <a16:creationId xmlns:a16="http://schemas.microsoft.com/office/drawing/2014/main" id="{DA49CDD3-5232-571C-3450-D4ACFBAA894A}"/>
              </a:ext>
            </a:extLst>
          </p:cNvPr>
          <p:cNvSpPr txBox="1"/>
          <p:nvPr/>
        </p:nvSpPr>
        <p:spPr>
          <a:xfrm>
            <a:off x="4831279" y="2563092"/>
            <a:ext cx="5175661" cy="523220"/>
          </a:xfrm>
          <a:prstGeom prst="rect">
            <a:avLst/>
          </a:prstGeom>
          <a:noFill/>
        </p:spPr>
        <p:txBody>
          <a:bodyPr wrap="square" rtlCol="0">
            <a:spAutoFit/>
          </a:bodyPr>
          <a:lstStyle/>
          <a:p>
            <a:pPr marL="457200" indent="-457200">
              <a:buFont typeface="Arial" panose="020B0604020202020204" pitchFamily="34" charset="0"/>
              <a:buChar char="•"/>
            </a:pPr>
            <a:r>
              <a:rPr lang="en-US" sz="2800" dirty="0"/>
              <a:t>Median log-normal: exp(𝝁)</a:t>
            </a:r>
          </a:p>
        </p:txBody>
      </p:sp>
      <p:sp>
        <p:nvSpPr>
          <p:cNvPr id="9" name="TextBox 8">
            <a:extLst>
              <a:ext uri="{FF2B5EF4-FFF2-40B4-BE49-F238E27FC236}">
                <a16:creationId xmlns:a16="http://schemas.microsoft.com/office/drawing/2014/main" id="{9D0B7275-E395-EA61-90DC-E18F5373CAFE}"/>
              </a:ext>
            </a:extLst>
          </p:cNvPr>
          <p:cNvSpPr txBox="1"/>
          <p:nvPr/>
        </p:nvSpPr>
        <p:spPr>
          <a:xfrm>
            <a:off x="4843151" y="4049486"/>
            <a:ext cx="6854042" cy="523220"/>
          </a:xfrm>
          <a:prstGeom prst="rect">
            <a:avLst/>
          </a:prstGeom>
          <a:noFill/>
        </p:spPr>
        <p:txBody>
          <a:bodyPr wrap="square" rtlCol="0">
            <a:spAutoFit/>
          </a:bodyPr>
          <a:lstStyle/>
          <a:p>
            <a:pPr marL="457200" indent="-457200">
              <a:buFont typeface="Arial" panose="020B0604020202020204" pitchFamily="34" charset="0"/>
              <a:buChar char="•"/>
            </a:pPr>
            <a:r>
              <a:rPr lang="en-US" sz="2800" dirty="0"/>
              <a:t>If 𝝁</a:t>
            </a:r>
            <a:r>
              <a:rPr lang="en-US" sz="2800" baseline="-25000" dirty="0"/>
              <a:t>1</a:t>
            </a:r>
            <a:r>
              <a:rPr lang="en-US" sz="2800" dirty="0"/>
              <a:t> = 𝝁</a:t>
            </a:r>
            <a:r>
              <a:rPr lang="en-US" sz="2800" baseline="-25000" dirty="0"/>
              <a:t>2 </a:t>
            </a:r>
            <a:r>
              <a:rPr lang="en-US" sz="2800" dirty="0"/>
              <a:t>then Median</a:t>
            </a:r>
            <a:r>
              <a:rPr lang="en-US" sz="2800" baseline="-25000" dirty="0"/>
              <a:t>1</a:t>
            </a:r>
            <a:r>
              <a:rPr lang="en-US" sz="2800" dirty="0"/>
              <a:t> = Median</a:t>
            </a:r>
            <a:r>
              <a:rPr lang="en-US" sz="2800" baseline="-25000" dirty="0"/>
              <a:t>2</a:t>
            </a:r>
            <a:r>
              <a:rPr lang="en-US" sz="2800" dirty="0"/>
              <a:t> </a:t>
            </a:r>
          </a:p>
        </p:txBody>
      </p:sp>
      <p:sp>
        <p:nvSpPr>
          <p:cNvPr id="10" name="TextBox 9">
            <a:extLst>
              <a:ext uri="{FF2B5EF4-FFF2-40B4-BE49-F238E27FC236}">
                <a16:creationId xmlns:a16="http://schemas.microsoft.com/office/drawing/2014/main" id="{1B0BB712-2C19-808B-5C93-41A41EFA85B5}"/>
              </a:ext>
            </a:extLst>
          </p:cNvPr>
          <p:cNvSpPr txBox="1"/>
          <p:nvPr/>
        </p:nvSpPr>
        <p:spPr>
          <a:xfrm>
            <a:off x="4864922" y="4605647"/>
            <a:ext cx="7152903" cy="523220"/>
          </a:xfrm>
          <a:prstGeom prst="rect">
            <a:avLst/>
          </a:prstGeom>
          <a:noFill/>
        </p:spPr>
        <p:txBody>
          <a:bodyPr wrap="square" rtlCol="0">
            <a:spAutoFit/>
          </a:bodyPr>
          <a:lstStyle/>
          <a:p>
            <a:pPr marL="457200" indent="-457200">
              <a:buFont typeface="Arial" panose="020B0604020202020204" pitchFamily="34" charset="0"/>
              <a:buChar char="•"/>
            </a:pPr>
            <a:r>
              <a:rPr lang="en-US" sz="2800" dirty="0"/>
              <a:t>If 𝝁</a:t>
            </a:r>
            <a:r>
              <a:rPr lang="en-US" sz="2800" baseline="-25000" dirty="0"/>
              <a:t>1</a:t>
            </a:r>
            <a:r>
              <a:rPr lang="en-US" sz="2800" dirty="0"/>
              <a:t> = 𝝁</a:t>
            </a:r>
            <a:r>
              <a:rPr lang="en-US" sz="2800" baseline="-25000" dirty="0"/>
              <a:t>2 </a:t>
            </a:r>
            <a:r>
              <a:rPr lang="en-US" sz="2800" dirty="0"/>
              <a:t>and</a:t>
            </a:r>
            <a:r>
              <a:rPr lang="en-US" sz="2800" baseline="-25000" dirty="0"/>
              <a:t> </a:t>
            </a:r>
            <a:r>
              <a:rPr lang="en-US" sz="2800" dirty="0"/>
              <a:t>𝝈</a:t>
            </a:r>
            <a:r>
              <a:rPr lang="en-US" sz="2800" baseline="-25000" dirty="0"/>
              <a:t>1</a:t>
            </a:r>
            <a:r>
              <a:rPr lang="en-US" sz="2800" dirty="0"/>
              <a:t> ≠ 𝝈</a:t>
            </a:r>
            <a:r>
              <a:rPr lang="en-US" sz="2800" baseline="-25000" dirty="0"/>
              <a:t>2 </a:t>
            </a:r>
            <a:r>
              <a:rPr lang="en-US" sz="2800" dirty="0"/>
              <a:t>then Mean</a:t>
            </a:r>
            <a:r>
              <a:rPr lang="en-US" sz="2800" baseline="-25000" dirty="0"/>
              <a:t>1</a:t>
            </a:r>
            <a:r>
              <a:rPr lang="en-US" sz="2800" dirty="0"/>
              <a:t> ≠ Mean</a:t>
            </a:r>
            <a:r>
              <a:rPr lang="en-US" sz="2800" baseline="-25000" dirty="0"/>
              <a:t>2</a:t>
            </a:r>
            <a:r>
              <a:rPr lang="en-US" sz="2800" dirty="0"/>
              <a:t> </a:t>
            </a:r>
          </a:p>
        </p:txBody>
      </p:sp>
      <p:sp>
        <p:nvSpPr>
          <p:cNvPr id="11" name="TextBox 10">
            <a:extLst>
              <a:ext uri="{FF2B5EF4-FFF2-40B4-BE49-F238E27FC236}">
                <a16:creationId xmlns:a16="http://schemas.microsoft.com/office/drawing/2014/main" id="{5C6BA971-4DE4-25A6-582D-BEBCC2A2AE41}"/>
              </a:ext>
            </a:extLst>
          </p:cNvPr>
          <p:cNvSpPr txBox="1"/>
          <p:nvPr/>
        </p:nvSpPr>
        <p:spPr>
          <a:xfrm>
            <a:off x="1291318" y="1217473"/>
            <a:ext cx="2426301" cy="369332"/>
          </a:xfrm>
          <a:prstGeom prst="rect">
            <a:avLst/>
          </a:prstGeom>
          <a:noFill/>
        </p:spPr>
        <p:txBody>
          <a:bodyPr wrap="square" rtlCol="0">
            <a:spAutoFit/>
          </a:bodyPr>
          <a:lstStyle/>
          <a:p>
            <a:r>
              <a:rPr lang="en-US" b="1" dirty="0"/>
              <a:t>Log-normal distribution</a:t>
            </a:r>
          </a:p>
        </p:txBody>
      </p:sp>
      <p:sp>
        <p:nvSpPr>
          <p:cNvPr id="12" name="TextBox 11">
            <a:extLst>
              <a:ext uri="{FF2B5EF4-FFF2-40B4-BE49-F238E27FC236}">
                <a16:creationId xmlns:a16="http://schemas.microsoft.com/office/drawing/2014/main" id="{00569EDE-4935-A44E-6994-5540832C1A6A}"/>
              </a:ext>
            </a:extLst>
          </p:cNvPr>
          <p:cNvSpPr txBox="1"/>
          <p:nvPr/>
        </p:nvSpPr>
        <p:spPr>
          <a:xfrm>
            <a:off x="4807525" y="1481526"/>
            <a:ext cx="6093158" cy="523220"/>
          </a:xfrm>
          <a:prstGeom prst="rect">
            <a:avLst/>
          </a:prstGeom>
          <a:noFill/>
          <a:ln>
            <a:solidFill>
              <a:schemeClr val="tx1"/>
            </a:solidFill>
          </a:ln>
        </p:spPr>
        <p:txBody>
          <a:bodyPr wrap="square" rtlCol="0">
            <a:spAutoFit/>
          </a:bodyPr>
          <a:lstStyle/>
          <a:p>
            <a:r>
              <a:rPr lang="en-US" sz="2800" dirty="0"/>
              <a:t>Properties of the log-normal distribution</a:t>
            </a:r>
          </a:p>
        </p:txBody>
      </p:sp>
      <p:sp>
        <p:nvSpPr>
          <p:cNvPr id="13" name="TextBox 12">
            <a:extLst>
              <a:ext uri="{FF2B5EF4-FFF2-40B4-BE49-F238E27FC236}">
                <a16:creationId xmlns:a16="http://schemas.microsoft.com/office/drawing/2014/main" id="{285ED5E4-E78F-51DA-9781-071214DAB2BC}"/>
              </a:ext>
            </a:extLst>
          </p:cNvPr>
          <p:cNvSpPr txBox="1"/>
          <p:nvPr/>
        </p:nvSpPr>
        <p:spPr>
          <a:xfrm>
            <a:off x="4781796" y="3379598"/>
            <a:ext cx="6093158" cy="523220"/>
          </a:xfrm>
          <a:prstGeom prst="rect">
            <a:avLst/>
          </a:prstGeom>
          <a:noFill/>
          <a:ln>
            <a:solidFill>
              <a:schemeClr val="tx1"/>
            </a:solidFill>
          </a:ln>
        </p:spPr>
        <p:txBody>
          <a:bodyPr wrap="square" rtlCol="0">
            <a:spAutoFit/>
          </a:bodyPr>
          <a:lstStyle/>
          <a:p>
            <a:r>
              <a:rPr lang="en-US" sz="2800" dirty="0"/>
              <a:t>Consequences</a:t>
            </a:r>
          </a:p>
        </p:txBody>
      </p:sp>
      <p:sp>
        <p:nvSpPr>
          <p:cNvPr id="2" name="Title 1">
            <a:extLst>
              <a:ext uri="{FF2B5EF4-FFF2-40B4-BE49-F238E27FC236}">
                <a16:creationId xmlns:a16="http://schemas.microsoft.com/office/drawing/2014/main" id="{A979A515-4C11-B20E-6FD6-B4DEA591EA60}"/>
              </a:ext>
            </a:extLst>
          </p:cNvPr>
          <p:cNvSpPr txBox="1">
            <a:spLocks/>
          </p:cNvSpPr>
          <p:nvPr/>
        </p:nvSpPr>
        <p:spPr>
          <a:xfrm>
            <a:off x="0" y="9780"/>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dirty="0"/>
              <a:t>Hypothesis to be tested after data transformations</a:t>
            </a:r>
          </a:p>
        </p:txBody>
      </p:sp>
      <p:sp>
        <p:nvSpPr>
          <p:cNvPr id="3" name="TextBox 2">
            <a:extLst>
              <a:ext uri="{FF2B5EF4-FFF2-40B4-BE49-F238E27FC236}">
                <a16:creationId xmlns:a16="http://schemas.microsoft.com/office/drawing/2014/main" id="{6F828FBA-C14B-9758-61BB-D2CA702FEEB0}"/>
              </a:ext>
            </a:extLst>
          </p:cNvPr>
          <p:cNvSpPr txBox="1"/>
          <p:nvPr/>
        </p:nvSpPr>
        <p:spPr>
          <a:xfrm>
            <a:off x="9883943" y="149400"/>
            <a:ext cx="2171700" cy="892552"/>
          </a:xfrm>
          <a:prstGeom prst="rect">
            <a:avLst/>
          </a:prstGeom>
          <a:solidFill>
            <a:schemeClr val="accent4">
              <a:lumMod val="40000"/>
              <a:lumOff val="60000"/>
            </a:schemeClr>
          </a:solidFill>
          <a:ln>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p:spPr>
        <p:txBody>
          <a:bodyPr wrap="square" rtlCol="0">
            <a:spAutoFit/>
          </a:bodyPr>
          <a:lstStyle/>
          <a:p>
            <a:pPr algn="ctr"/>
            <a:r>
              <a:rPr lang="en-US" sz="2600" dirty="0">
                <a:solidFill>
                  <a:srgbClr val="FF0000"/>
                </a:solidFill>
                <a:latin typeface="American Typewriter" panose="02090604020004020304" pitchFamily="18" charset="77"/>
              </a:rPr>
              <a:t>Additional slide</a:t>
            </a:r>
          </a:p>
        </p:txBody>
      </p:sp>
    </p:spTree>
    <p:extLst>
      <p:ext uri="{BB962C8B-B14F-4D97-AF65-F5344CB8AC3E}">
        <p14:creationId xmlns:p14="http://schemas.microsoft.com/office/powerpoint/2010/main" val="367303698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285C570-5CC2-650C-8474-D67489B2E390}"/>
              </a:ext>
            </a:extLst>
          </p:cNvPr>
          <p:cNvSpPr txBox="1">
            <a:spLocks/>
          </p:cNvSpPr>
          <p:nvPr/>
        </p:nvSpPr>
        <p:spPr>
          <a:xfrm>
            <a:off x="14068" y="52204"/>
            <a:ext cx="12192000" cy="721895"/>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000" b="1" dirty="0"/>
              <a:t>Exercises</a:t>
            </a:r>
          </a:p>
        </p:txBody>
      </p:sp>
      <p:sp>
        <p:nvSpPr>
          <p:cNvPr id="4" name="TextBox 3">
            <a:extLst>
              <a:ext uri="{FF2B5EF4-FFF2-40B4-BE49-F238E27FC236}">
                <a16:creationId xmlns:a16="http://schemas.microsoft.com/office/drawing/2014/main" id="{D6AE619E-2723-23EC-FA59-BCFB1F019ECC}"/>
              </a:ext>
            </a:extLst>
          </p:cNvPr>
          <p:cNvSpPr txBox="1"/>
          <p:nvPr/>
        </p:nvSpPr>
        <p:spPr>
          <a:xfrm>
            <a:off x="96633" y="4217441"/>
            <a:ext cx="11982916" cy="492443"/>
          </a:xfrm>
          <a:prstGeom prst="rect">
            <a:avLst/>
          </a:prstGeom>
          <a:noFill/>
        </p:spPr>
        <p:txBody>
          <a:bodyPr wrap="square">
            <a:spAutoFit/>
          </a:bodyPr>
          <a:lstStyle/>
          <a:p>
            <a:r>
              <a:rPr lang="en-GB" sz="2600" dirty="0"/>
              <a:t>https://</a:t>
            </a:r>
            <a:r>
              <a:rPr lang="en-GB" sz="2600" dirty="0" err="1"/>
              <a:t>bioinformatics.cruk.cam.ac.uk</a:t>
            </a:r>
            <a:r>
              <a:rPr lang="en-GB" sz="2600" dirty="0"/>
              <a:t>/stats/</a:t>
            </a:r>
            <a:r>
              <a:rPr lang="en-GB" sz="2600" dirty="0" err="1"/>
              <a:t>shinystats</a:t>
            </a:r>
            <a:r>
              <a:rPr lang="en-GB" sz="2600" dirty="0"/>
              <a:t>/</a:t>
            </a:r>
          </a:p>
        </p:txBody>
      </p:sp>
      <p:sp>
        <p:nvSpPr>
          <p:cNvPr id="5" name="TextBox 4">
            <a:extLst>
              <a:ext uri="{FF2B5EF4-FFF2-40B4-BE49-F238E27FC236}">
                <a16:creationId xmlns:a16="http://schemas.microsoft.com/office/drawing/2014/main" id="{88C55AD8-27A7-FC8D-F611-3C48C34E4A9E}"/>
              </a:ext>
            </a:extLst>
          </p:cNvPr>
          <p:cNvSpPr txBox="1"/>
          <p:nvPr/>
        </p:nvSpPr>
        <p:spPr>
          <a:xfrm>
            <a:off x="144133" y="2585481"/>
            <a:ext cx="11887916" cy="492443"/>
          </a:xfrm>
          <a:prstGeom prst="rect">
            <a:avLst/>
          </a:prstGeom>
          <a:noFill/>
        </p:spPr>
        <p:txBody>
          <a:bodyPr wrap="square">
            <a:spAutoFit/>
          </a:bodyPr>
          <a:lstStyle/>
          <a:p>
            <a:r>
              <a:rPr lang="en-US" sz="2600" dirty="0"/>
              <a:t>http://bioinformatics-core-shared-</a:t>
            </a:r>
            <a:r>
              <a:rPr lang="en-US" sz="2600" dirty="0" err="1"/>
              <a:t>training.github.io</a:t>
            </a:r>
            <a:r>
              <a:rPr lang="en-US" sz="2600" dirty="0"/>
              <a:t>/</a:t>
            </a:r>
            <a:r>
              <a:rPr lang="en-US" sz="2600" dirty="0" err="1"/>
              <a:t>IntroductionToStats</a:t>
            </a:r>
            <a:r>
              <a:rPr lang="en-US" sz="2600" dirty="0"/>
              <a:t>/</a:t>
            </a:r>
            <a:r>
              <a:rPr lang="en-US" sz="2600" dirty="0" err="1"/>
              <a:t>practical.html</a:t>
            </a:r>
            <a:endParaRPr lang="en-US" sz="2600" dirty="0"/>
          </a:p>
        </p:txBody>
      </p:sp>
      <p:sp>
        <p:nvSpPr>
          <p:cNvPr id="2" name="TextBox 1">
            <a:extLst>
              <a:ext uri="{FF2B5EF4-FFF2-40B4-BE49-F238E27FC236}">
                <a16:creationId xmlns:a16="http://schemas.microsoft.com/office/drawing/2014/main" id="{D78E134F-07C3-4AFC-8FFD-2BA4659AFA89}"/>
              </a:ext>
            </a:extLst>
          </p:cNvPr>
          <p:cNvSpPr txBox="1"/>
          <p:nvPr/>
        </p:nvSpPr>
        <p:spPr>
          <a:xfrm>
            <a:off x="178131" y="3669471"/>
            <a:ext cx="3123210" cy="492443"/>
          </a:xfrm>
          <a:prstGeom prst="rect">
            <a:avLst/>
          </a:prstGeom>
          <a:solidFill>
            <a:schemeClr val="accent6">
              <a:lumMod val="20000"/>
              <a:lumOff val="80000"/>
            </a:schemeClr>
          </a:solidFill>
        </p:spPr>
        <p:txBody>
          <a:bodyPr wrap="square" rtlCol="0">
            <a:spAutoFit/>
          </a:bodyPr>
          <a:lstStyle/>
          <a:p>
            <a:r>
              <a:rPr lang="en-US" sz="2600" dirty="0"/>
              <a:t>Shiny web application</a:t>
            </a:r>
          </a:p>
        </p:txBody>
      </p:sp>
      <p:sp>
        <p:nvSpPr>
          <p:cNvPr id="3" name="TextBox 2">
            <a:extLst>
              <a:ext uri="{FF2B5EF4-FFF2-40B4-BE49-F238E27FC236}">
                <a16:creationId xmlns:a16="http://schemas.microsoft.com/office/drawing/2014/main" id="{EE642D72-4914-90E6-4FE3-05D8C631A2AF}"/>
              </a:ext>
            </a:extLst>
          </p:cNvPr>
          <p:cNvSpPr txBox="1"/>
          <p:nvPr/>
        </p:nvSpPr>
        <p:spPr>
          <a:xfrm>
            <a:off x="213756" y="2039456"/>
            <a:ext cx="1401288" cy="492443"/>
          </a:xfrm>
          <a:prstGeom prst="rect">
            <a:avLst/>
          </a:prstGeom>
          <a:solidFill>
            <a:schemeClr val="accent4">
              <a:lumMod val="20000"/>
              <a:lumOff val="80000"/>
            </a:schemeClr>
          </a:solidFill>
        </p:spPr>
        <p:txBody>
          <a:bodyPr wrap="square" rtlCol="0">
            <a:spAutoFit/>
          </a:bodyPr>
          <a:lstStyle/>
          <a:p>
            <a:r>
              <a:rPr lang="en-US" sz="2600" dirty="0"/>
              <a:t>Exercises</a:t>
            </a:r>
          </a:p>
        </p:txBody>
      </p:sp>
    </p:spTree>
    <p:extLst>
      <p:ext uri="{BB962C8B-B14F-4D97-AF65-F5344CB8AC3E}">
        <p14:creationId xmlns:p14="http://schemas.microsoft.com/office/powerpoint/2010/main" val="32069110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 Boardroom</Template>
  <TotalTime>4627</TotalTime>
  <Words>5535</Words>
  <Application>Microsoft Macintosh PowerPoint</Application>
  <PresentationFormat>Widescreen</PresentationFormat>
  <Paragraphs>1076</Paragraphs>
  <Slides>82</Slides>
  <Notes>58</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82</vt:i4>
      </vt:variant>
    </vt:vector>
  </HeadingPairs>
  <TitlesOfParts>
    <vt:vector size="93" baseType="lpstr">
      <vt:lpstr>AdvP4C2BEC</vt:lpstr>
      <vt:lpstr>American Typewriter</vt:lpstr>
      <vt:lpstr>Aptos</vt:lpstr>
      <vt:lpstr>Arial</vt:lpstr>
      <vt:lpstr>Calibri</vt:lpstr>
      <vt:lpstr>Calibri Light</vt:lpstr>
      <vt:lpstr>Courier New</vt:lpstr>
      <vt:lpstr>ElsevierGulliver</vt:lpstr>
      <vt:lpstr>Google Sans</vt:lpstr>
      <vt:lpstr>Wingdings</vt:lpstr>
      <vt:lpstr>Office Theme</vt:lpstr>
      <vt:lpstr>PowerPoint Presentation</vt:lpstr>
      <vt:lpstr>PowerPoint Presentation</vt:lpstr>
      <vt:lpstr>Basic concepts of Statistics</vt:lpstr>
      <vt:lpstr>Random experiment</vt:lpstr>
      <vt:lpstr>PowerPoint Presentation</vt:lpstr>
      <vt:lpstr>PowerPoint Presentation</vt:lpstr>
      <vt:lpstr>PowerPoint Presentation</vt:lpstr>
      <vt:lpstr>PowerPoint Presentation</vt:lpstr>
      <vt:lpstr>Descriptive Statistics</vt:lpstr>
      <vt:lpstr>Descriptive statistics</vt:lpstr>
      <vt:lpstr>Why is descriptive statistics important?</vt:lpstr>
      <vt:lpstr>Data types</vt:lpstr>
      <vt:lpstr>Data types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Inferential Statistics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Inferential Statistics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Inferential Statistics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Inferential Statistics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Inferential Statistics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Statistics?</dc:title>
  <dc:creator>Luca Porcu</dc:creator>
  <cp:lastModifiedBy>Luca Porcu</cp:lastModifiedBy>
  <cp:revision>1126</cp:revision>
  <dcterms:created xsi:type="dcterms:W3CDTF">2023-10-04T10:04:01Z</dcterms:created>
  <dcterms:modified xsi:type="dcterms:W3CDTF">2025-10-20T17:26:23Z</dcterms:modified>
</cp:coreProperties>
</file>